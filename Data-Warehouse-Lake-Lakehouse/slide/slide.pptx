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g/feVIVbFuoWwRTm8at7c5l2mr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8" Type="http://customschemas.google.com/relationships/presentationmetadata" Target="metadata"/><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Bài học thuộc Module Data Architecture, chương trình Self-Learning AIVN. Link Data&amp;Code trỏ tới repo GitHub.</a:t>
            </a:r>
          </a:p>
        </p:txBody>
      </p:sp>
      <p:sp>
        <p:nvSpPr>
          <p:cNvPr id="90" name="Google Shape;9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Mở đầu bằng dữ liệu thật. Ba con số ở bên phải lấy từ footer Parquet: file có 3 triệu dòng nhưng chứa giá cước âm và quãng đường vô lý, cho thấy dữ liệu thô cần được làm sạch.</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Nhấn mạnh mốc thời gian và người đề xuất. Lakehouse không thay thế hai kiến trúc kia; phần cuối bài sẽ cho thấy cả ba cùng tồn tại.</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Đây là ý trung tâm của bài. Mọi so sánh phía sau đều quay về câu hỏi lớp nào sở hữu bảng.</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Ví dụ cụ thể để phân biệt: cập nhật một chuyến xe là OLTP; tính doanh thu hai tháng là OLAP. Ba logo là các cloud data warehouse phổ biến.</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Chỉ đọc footer, chưa đọc dữ liệu, đã thấy giá cước âm và quãng đường 258 nghìn dặm. Data Warehouse chặn những dòng này ngay khi nạp nhờ schema-on-write.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 trường phái không loại trừ nhau. Phần Medallion ở cuối bài sẽ ánh xạ từng trường phái vào từng lớp.</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Grain là quyết định quan trọng nhất của star schema. Ví dụ SCD Type 2 lấy từ việc NYC TLC đổi tên vendor mã 2.</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Chốt lại: giới hạn của Data Warehouse chính là lý do Data Lake ra đời.</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Nhấn mạnh hai điểm: không có thao tác nguyên tử cho nhiều file (nguồn gốc lỗi partial write) và strong consistency của S3 (điều kiện cho Lakehouse).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Code lấy từ 01_bronze_data_lake.py. Các engine ở dưới đều đọc được Data Lake qua file API, nhưng không engine nào sở hữu bảng.</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Cả bốn lỗi đều chạy được trong 01_bronze_data_lake.py. Lỗi 1 là lỗi thật của dữ liệu NYC TLC, không phải dựng lên. Ảnh đầm lầy: U.S. Fish and Wildlife Service, public domain.</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Hình 5 lấy từ bài đọc. Bốn vấn đề theo đúng paper Lakehouse (CIDR 2021).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Bài lấy Iceberg làm ví dụ chính vì phần thực hành dùng PyIceberg. Khoảng cách tính năng giữa ba format đang thu hẹp.</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Sau lần append đầu tiên, thư mục metadata/ chỉ có 4 file: 2 metadata.json, 1 manifest list, 1 manifest. Có thể mở từng file cho học viên xem.</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Toàn bộ ACID của Iceberg dựa trên một thao tác: đổi con trỏ trong catalog bằng CAS. Bước 4 được tô màu khác để nhấn mạnh.</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Output lấy từ 02_silver_lakehouse.py. So sánh với Data Lake: cùng batch sai kiểu đã làm hỏng mọi truy vấn trên prefix.</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Bảng CoW/MoR là nội dung hay ra quiz. Ba dòng count lấy từ output thật của lab.</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Số liệu từ 04_table_maintenance.py. Compaction giảm thời gian lập kế hoạch hơn 100 lần nhưng không giảm dung lượng; phải expire snapshot và dọn orphan file mới thu hồi được.</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Đi theo từng dòng, mỗi dòng hỏi học viên trước rồi mới hiện đáp án nếu trình bày trực tiếp.</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Sai lầm phổ biến: nghĩ phải chọn một trong ba. Nền tảng thực tế dùng cả ba, mỗi kiến trúc một vùng trong vòng đời dữ liệu.</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Một ví dụ đáng kể trong 03: dimension thiếu mã thanh toán 0 (Flex Fare) khiến INNER JOIN âm thầm mất 135.947 chuyến; data test khóa ngoại mồ côi phát hiện được.</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Khuyến nghị trong bài đọc, mục VII.4. Chọn catalog là quyết định dài hạn vì chính sách phân quyền không chuyển được giữa các catalog.</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Quay lại câu hỏi mở đầu: dữ liệu taxi nên nằm ở đâu? Câu trả lời là cả ba nơi, mỗi nơi một vai trò.</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Slide cuối. Có thể dừng ở đây để hỏi đáp.</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
          <p:cNvSpPr txBox="1"/>
          <p:nvPr/>
        </p:nvSpPr>
        <p:spPr>
          <a:xfrm>
            <a:off x="0" y="1"/>
            <a:ext cx="457200" cy="738390"/>
          </a:xfrm>
          <a:prstGeom prst="rect">
            <a:avLst/>
          </a:prstGeom>
          <a:solidFill>
            <a:srgbClr val="00B050"/>
          </a:solidFill>
          <a:ln>
            <a:noFill/>
          </a:ln>
        </p:spPr>
        <p:txBody>
          <a:bodyPr anchorCtr="0" anchor="ctr" bIns="45700" lIns="0" spcFirstLastPara="1" rIns="0" wrap="none" tIns="45700">
            <a:noAutofit/>
          </a:bodyPr>
          <a:lstStyle/>
          <a:p>
            <a:pPr indent="0" lvl="0" marL="0" marR="0" rtl="0" algn="ctr">
              <a:spcBef>
                <a:spcPts val="0"/>
              </a:spcBef>
              <a:spcAft>
                <a:spcPts val="0"/>
              </a:spcAft>
              <a:buNone/>
            </a:pPr>
            <a:fld id="{00000000-1234-1234-1234-123412341234}" type="slidenum">
              <a:rPr lang="en-US" sz="1800">
                <a:solidFill>
                  <a:srgbClr val="0C0C0C"/>
                </a:solidFill>
                <a:latin typeface="Algerian"/>
                <a:ea typeface="Algerian"/>
                <a:cs typeface="Algerian"/>
                <a:sym typeface="Algerian"/>
              </a:rPr>
              <a:t>‹#›</a:t>
            </a:fld>
            <a:endParaRPr sz="1800">
              <a:solidFill>
                <a:srgbClr val="0C0C0C"/>
              </a:solidFill>
              <a:latin typeface="Algerian"/>
              <a:ea typeface="Algerian"/>
              <a:cs typeface="Algerian"/>
              <a:sym typeface="Algerian"/>
            </a:endParaRPr>
          </a:p>
        </p:txBody>
      </p:sp>
      <p:pic>
        <p:nvPicPr>
          <p:cNvPr descr="A black background with white text&#10;&#10;Description automatically generated" id="27" name="Google Shape;27;p6"/>
          <p:cNvPicPr preferRelativeResize="0"/>
          <p:nvPr/>
        </p:nvPicPr>
        <p:blipFill rotWithShape="1">
          <a:blip r:embed="rId2">
            <a:alphaModFix/>
          </a:blip>
          <a:srcRect b="0" l="0" r="0" t="0"/>
          <a:stretch/>
        </p:blipFill>
        <p:spPr>
          <a:xfrm>
            <a:off x="524538" y="44846"/>
            <a:ext cx="1968472" cy="648701"/>
          </a:xfrm>
          <a:prstGeom prst="rect">
            <a:avLst/>
          </a:prstGeom>
          <a:noFill/>
          <a:ln>
            <a:noFill/>
          </a:ln>
        </p:spPr>
      </p:pic>
      <p:sp>
        <p:nvSpPr>
          <p:cNvPr id="28" name="Google Shape;28;p6"/>
          <p:cNvSpPr/>
          <p:nvPr/>
        </p:nvSpPr>
        <p:spPr>
          <a:xfrm>
            <a:off x="-2512" y="738391"/>
            <a:ext cx="12192000" cy="136156"/>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9" name="Google Shape;29;p6"/>
          <p:cNvSpPr txBox="1"/>
          <p:nvPr/>
        </p:nvSpPr>
        <p:spPr>
          <a:xfrm>
            <a:off x="2349088" y="0"/>
            <a:ext cx="9004711" cy="99874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400"/>
              <a:buFont typeface="Times New Roman"/>
              <a:buNone/>
            </a:pPr>
            <a:r>
              <a:t/>
            </a:r>
            <a:endParaRPr b="1" sz="4400">
              <a:solidFill>
                <a:srgbClr val="00B05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p:nvPr>
            <p:ph idx="2" type="pic"/>
          </p:nvPr>
        </p:nvSpPr>
        <p:spPr>
          <a:xfrm>
            <a:off x="5183188" y="987425"/>
            <a:ext cx="6172200" cy="4873625"/>
          </a:xfrm>
          <a:prstGeom prst="rect">
            <a:avLst/>
          </a:prstGeom>
          <a:noFill/>
          <a:ln>
            <a:noFill/>
          </a:ln>
        </p:spPr>
      </p:sp>
      <p:sp>
        <p:nvSpPr>
          <p:cNvPr id="71" name="Google Shape;71;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2" name="Google Shape;1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YouttyLe-DSAI/AIO-Module-Data"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jp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9.png"/><Relationship Id="rId4" Type="http://schemas.openxmlformats.org/officeDocument/2006/relationships/image" Target="../media/image22.png"/><Relationship Id="rId5"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5.png"/><Relationship Id="rId9"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3.jpg"/><Relationship Id="rId4"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ctrTitle"/>
          </p:nvPr>
        </p:nvSpPr>
        <p:spPr>
          <a:xfrm>
            <a:off x="24959" y="1520842"/>
            <a:ext cx="12167041" cy="148575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FA6FF"/>
              </a:buClr>
              <a:buSzPts val="6000"/>
              <a:buFont typeface="Times New Roman"/>
              <a:buNone/>
            </a:pPr>
            <a:r>
              <a:rPr b="1" lang="en-US" sz="4400">
                <a:solidFill>
                  <a:srgbClr val="2FA6FF"/>
                </a:solidFill>
                <a:latin typeface="Times New Roman"/>
                <a:ea typeface="Times New Roman"/>
                <a:cs typeface="Times New Roman"/>
                <a:sym typeface="Times New Roman"/>
              </a:rPr>
              <a:t>Data Warehouse, Data Lake và Data Lakehouse</a:t>
            </a:r>
            <a:endParaRPr b="1">
              <a:solidFill>
                <a:srgbClr val="2FA6FF"/>
              </a:solidFill>
              <a:latin typeface="Times New Roman"/>
              <a:ea typeface="Times New Roman"/>
              <a:cs typeface="Times New Roman"/>
              <a:sym typeface="Times New Roman"/>
            </a:endParaRPr>
          </a:p>
        </p:txBody>
      </p:sp>
      <p:sp>
        <p:nvSpPr>
          <p:cNvPr id="93" name="Google Shape;93;p1"/>
          <p:cNvSpPr txBox="1"/>
          <p:nvPr>
            <p:ph idx="1" type="subTitle"/>
          </p:nvPr>
        </p:nvSpPr>
        <p:spPr>
          <a:xfrm>
            <a:off x="1633684" y="3107382"/>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0B050"/>
              </a:buClr>
              <a:buSzPts val="3600"/>
              <a:buNone/>
            </a:pPr>
            <a:r>
              <a:rPr b="1" lang="en-US" sz="3600">
                <a:solidFill>
                  <a:srgbClr val="00B050"/>
                </a:solidFill>
                <a:latin typeface="Times New Roman"/>
                <a:ea typeface="Times New Roman"/>
                <a:cs typeface="Times New Roman"/>
                <a:sym typeface="Times New Roman"/>
              </a:rPr>
              <a:t>Data Architecture</a:t>
            </a:r>
            <a:endParaRPr b="1" sz="3600">
              <a:solidFill>
                <a:srgbClr val="FF0000"/>
              </a:solidFill>
              <a:latin typeface="Times New Roman"/>
              <a:ea typeface="Times New Roman"/>
              <a:cs typeface="Times New Roman"/>
              <a:sym typeface="Times New Roman"/>
            </a:endParaRPr>
          </a:p>
        </p:txBody>
      </p:sp>
      <p:sp>
        <p:nvSpPr>
          <p:cNvPr id="94" name="Google Shape;94;p1"/>
          <p:cNvSpPr/>
          <p:nvPr/>
        </p:nvSpPr>
        <p:spPr>
          <a:xfrm>
            <a:off x="434159" y="6488668"/>
            <a:ext cx="1199525" cy="374571"/>
          </a:xfrm>
          <a:prstGeom prst="roundRect">
            <a:avLst>
              <a:gd fmla="val 16667" name="adj"/>
            </a:avLst>
          </a:prstGeom>
          <a:solidFill>
            <a:srgbClr val="C4E0B2"/>
          </a:solidFill>
          <a:ln cap="flat" cmpd="sng" w="9525">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sng" cap="none" strike="noStrike">
                <a:solidFill>
                  <a:srgbClr val="1348F1"/>
                </a:solidFill>
                <a:latin typeface="Times New Roman"/>
                <a:ea typeface="Times New Roman"/>
                <a:cs typeface="Times New Roman"/>
                <a:sym typeface="Times New Roman"/>
                <a:hlinkClick r:id="rId3">
                  <a:extLst>
                    <a:ext uri="{A12FA001-AC4F-418D-AE19-62706E023703}">
                      <ahyp:hlinkClr val="tx"/>
                    </a:ext>
                  </a:extLst>
                </a:hlinkClick>
              </a:rPr>
              <a:t>Data&amp;Code</a:t>
            </a:r>
            <a:endParaRPr sz="1600">
              <a:solidFill>
                <a:srgbClr val="1348F1"/>
              </a:solidFill>
              <a:latin typeface="Times New Roman"/>
              <a:ea typeface="Times New Roman"/>
              <a:cs typeface="Times New Roman"/>
              <a:sym typeface="Times New Roman"/>
            </a:endParaRPr>
          </a:p>
        </p:txBody>
      </p:sp>
      <p:sp>
        <p:nvSpPr>
          <p:cNvPr id="95" name="Google Shape;95;p1"/>
          <p:cNvSpPr txBox="1"/>
          <p:nvPr/>
        </p:nvSpPr>
        <p:spPr>
          <a:xfrm>
            <a:off x="6400800" y="5036429"/>
            <a:ext cx="539496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BF9000"/>
                </a:solidFill>
                <a:latin typeface="Times New Roman"/>
                <a:ea typeface="Times New Roman"/>
                <a:cs typeface="Times New Roman"/>
                <a:sym typeface="Times New Roman"/>
              </a:rPr>
              <a:t>Minh-Tuan Le, Thi-Vang Nguyen</a:t>
            </a:r>
            <a:endParaRPr b="1" sz="2400">
              <a:solidFill>
                <a:srgbClr val="BF9000"/>
              </a:solidFill>
              <a:latin typeface="Times New Roman"/>
              <a:ea typeface="Times New Roman"/>
              <a:cs typeface="Times New Roman"/>
              <a:sym typeface="Times New Roman"/>
            </a:endParaRPr>
          </a:p>
        </p:txBody>
      </p:sp>
      <p:pic>
        <p:nvPicPr>
          <p:cNvPr descr="A white circle with black background&#10;&#10;AI-generated content may be incorrect." id="96" name="Google Shape;96;p1"/>
          <p:cNvPicPr preferRelativeResize="0"/>
          <p:nvPr/>
        </p:nvPicPr>
        <p:blipFill rotWithShape="1">
          <a:blip r:embed="rId4">
            <a:alphaModFix/>
          </a:blip>
          <a:srcRect b="0" l="0" r="0" t="0"/>
          <a:stretch/>
        </p:blipFill>
        <p:spPr>
          <a:xfrm>
            <a:off x="96771" y="77700"/>
            <a:ext cx="2550639" cy="1009628"/>
          </a:xfrm>
          <a:prstGeom prst="rect">
            <a:avLst/>
          </a:prstGeom>
          <a:noFill/>
          <a:ln>
            <a:no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34258"/>
          </a:xfrm>
          <a:prstGeom prst="rect">
            <a:avLst/>
          </a:prstGeom>
          <a:solidFill>
            <a:srgbClr val="538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5400" b="1" i="0">
                <a:solidFill>
                  <a:srgbClr val="FFFFFF"/>
                </a:solidFill>
                <a:latin typeface="Times New Roman"/>
                <a:ea typeface="Times New Roman"/>
                <a:cs typeface="Times New Roman"/>
              </a:rPr>
              <a:t>Outline</a:t>
            </a:r>
          </a:p>
        </p:txBody>
      </p:sp>
      <p:sp>
        <p:nvSpPr>
          <p:cNvPr id="3" name="Rounded Rectangle 2"/>
          <p:cNvSpPr/>
          <p:nvPr/>
        </p:nvSpPr>
        <p:spPr>
          <a:xfrm>
            <a:off x="876348" y="1550000"/>
            <a:ext cx="5400000" cy="780000"/>
          </a:xfrm>
          <a:prstGeom prst="roundRect">
            <a:avLst>
              <a:gd name="adj" fmla="val 8000"/>
            </a:avLst>
          </a:prstGeom>
          <a:solidFill>
            <a:srgbClr val="F4B081"/>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55A11"/>
                </a:solidFill>
                <a:latin typeface="Times New Roman"/>
                <a:ea typeface="Times New Roman"/>
                <a:cs typeface="Times New Roman"/>
              </a:rPr>
              <a:t>Giới thiệu</a:t>
            </a:r>
          </a:p>
        </p:txBody>
      </p:sp>
      <p:sp>
        <p:nvSpPr>
          <p:cNvPr id="4" name="Rounded Rectangle 3"/>
          <p:cNvSpPr/>
          <p:nvPr/>
        </p:nvSpPr>
        <p:spPr>
          <a:xfrm>
            <a:off x="609199" y="14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1</a:t>
            </a:r>
          </a:p>
        </p:txBody>
      </p:sp>
      <p:sp>
        <p:nvSpPr>
          <p:cNvPr id="5" name="Rounded Rectangle 4"/>
          <p:cNvSpPr/>
          <p:nvPr/>
        </p:nvSpPr>
        <p:spPr>
          <a:xfrm>
            <a:off x="876348" y="26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Warehouse</a:t>
            </a:r>
          </a:p>
        </p:txBody>
      </p:sp>
      <p:sp>
        <p:nvSpPr>
          <p:cNvPr id="6" name="Rounded Rectangle 5"/>
          <p:cNvSpPr/>
          <p:nvPr/>
        </p:nvSpPr>
        <p:spPr>
          <a:xfrm>
            <a:off x="609199" y="24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2</a:t>
            </a:r>
          </a:p>
        </p:txBody>
      </p:sp>
      <p:sp>
        <p:nvSpPr>
          <p:cNvPr id="7" name="Rounded Rectangle 6"/>
          <p:cNvSpPr/>
          <p:nvPr/>
        </p:nvSpPr>
        <p:spPr>
          <a:xfrm>
            <a:off x="876348" y="36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a:t>
            </a:r>
          </a:p>
        </p:txBody>
      </p:sp>
      <p:sp>
        <p:nvSpPr>
          <p:cNvPr id="8" name="Rounded Rectangle 7"/>
          <p:cNvSpPr/>
          <p:nvPr/>
        </p:nvSpPr>
        <p:spPr>
          <a:xfrm>
            <a:off x="609199" y="35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3</a:t>
            </a:r>
          </a:p>
        </p:txBody>
      </p:sp>
      <p:sp>
        <p:nvSpPr>
          <p:cNvPr id="9" name="Rounded Rectangle 8"/>
          <p:cNvSpPr/>
          <p:nvPr/>
        </p:nvSpPr>
        <p:spPr>
          <a:xfrm>
            <a:off x="876348" y="47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Lakehouse</a:t>
            </a:r>
          </a:p>
        </p:txBody>
      </p:sp>
      <p:sp>
        <p:nvSpPr>
          <p:cNvPr id="10" name="Rounded Rectangle 9"/>
          <p:cNvSpPr/>
          <p:nvPr/>
        </p:nvSpPr>
        <p:spPr>
          <a:xfrm>
            <a:off x="609199" y="45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4</a:t>
            </a:r>
          </a:p>
        </p:txBody>
      </p:sp>
      <p:sp>
        <p:nvSpPr>
          <p:cNvPr id="11" name="Rounded Rectangle 10"/>
          <p:cNvSpPr/>
          <p:nvPr/>
        </p:nvSpPr>
        <p:spPr>
          <a:xfrm>
            <a:off x="876348" y="57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Kiến trúc lai và thực hành</a:t>
            </a:r>
          </a:p>
        </p:txBody>
      </p:sp>
      <p:sp>
        <p:nvSpPr>
          <p:cNvPr id="12" name="Rounded Rectangle 11"/>
          <p:cNvSpPr/>
          <p:nvPr/>
        </p:nvSpPr>
        <p:spPr>
          <a:xfrm>
            <a:off x="609199" y="56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5</a:t>
            </a:r>
          </a:p>
        </p:txBody>
      </p:sp>
      <p:pic>
        <p:nvPicPr>
          <p:cNvPr id="13" name="Picture 12" descr="taxi.jpg"/>
          <p:cNvPicPr>
            <a:picLocks noChangeAspect="1"/>
          </p:cNvPicPr>
          <p:nvPr/>
        </p:nvPicPr>
        <p:blipFill>
          <a:blip r:embed="rId2"/>
          <a:stretch>
            <a:fillRect/>
          </a:stretch>
        </p:blipFill>
        <p:spPr>
          <a:xfrm>
            <a:off x="6900000" y="1762500"/>
            <a:ext cx="4900000" cy="3675000"/>
          </a:xfrm>
          <a:prstGeom prst="rect">
            <a:avLst/>
          </a:prstGeom>
        </p:spPr>
      </p:pic>
      <p:sp>
        <p:nvSpPr>
          <p:cNvPr id="14" name="TextBox 13"/>
          <p:cNvSpPr txBox="1"/>
          <p:nvPr/>
        </p:nvSpPr>
        <p:spPr>
          <a:xfrm>
            <a:off x="6900000" y="5800000"/>
            <a:ext cx="4900000" cy="320040"/>
          </a:xfrm>
          <a:prstGeom prst="rect">
            <a:avLst/>
          </a:prstGeom>
          <a:noFill/>
        </p:spPr>
        <p:txBody>
          <a:bodyPr wrap="square" anchor="t" lIns="45720" rIns="45720" tIns="27432" bIns="27432">
            <a:spAutoFit/>
          </a:bodyPr>
          <a:lstStyle/>
          <a:p>
            <a:pPr algn="ctr"/>
            <a:r>
              <a:rPr sz="1100" b="0" i="1">
                <a:solidFill>
                  <a:srgbClr val="595959"/>
                </a:solidFill>
                <a:latin typeface="Times New Roman"/>
                <a:ea typeface="Times New Roman"/>
                <a:cs typeface="Times New Roman"/>
              </a:rPr>
              <a:t>Ảnh: Jason Lawrence, Wikimedia Commons, CC BY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Bài toán mở đầu: dữ liệu taxi New York</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6766560" cy="384048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800" b="0" i="0">
                <a:solidFill>
                  <a:srgbClr val="1F1F1F"/>
                </a:solidFill>
                <a:latin typeface="Times New Roman"/>
                <a:ea typeface="Times New Roman"/>
                <a:cs typeface="Times New Roman"/>
              </a:rPr>
              <a:t>Ba triệu chuyến taxi vàng mỗi tháng, mỗi chuyến có thời gian, quãng đường, giá cước, tip, cách thanh toán</a:t>
            </a:r>
          </a:p>
          <a:p>
            <a:pPr marL="285750" indent="-285750">
              <a:spcAft>
                <a:spcPts val="600"/>
              </a:spcAft>
              <a:buClr>
                <a:srgbClr val="0070C0"/>
              </a:buClr>
              <a:buSzPts val="1600"/>
              <a:buFont typeface="Noto Sans Symbols"/>
              <a:buChar char="❖"/>
            </a:pPr>
            <a:r>
              <a:rPr sz="1800" b="1" i="0">
                <a:solidFill>
                  <a:srgbClr val="0070C0"/>
                </a:solidFill>
                <a:latin typeface="Times New Roman"/>
                <a:ea typeface="Times New Roman"/>
                <a:cs typeface="Times New Roman"/>
              </a:rPr>
              <a:t>Ba nhóm người cùng cần dữ liệu này</a:t>
            </a:r>
          </a:p>
          <a:p>
            <a:pPr marL="571500" indent="-228600">
              <a:spcAft>
                <a:spcPts val="600"/>
              </a:spcAft>
              <a:buClr>
                <a:srgbClr val="595959"/>
              </a:buClr>
              <a:buFont typeface="Arial"/>
              <a:buChar char="•"/>
            </a:pPr>
            <a:r>
              <a:rPr sz="1600" b="1" i="0">
                <a:solidFill>
                  <a:srgbClr val="1F1F1F"/>
                </a:solidFill>
                <a:latin typeface="Times New Roman"/>
                <a:ea typeface="Times New Roman"/>
                <a:cs typeface="Times New Roman"/>
              </a:rPr>
              <a:t>Nhà phân tích BI</a:t>
            </a:r>
            <a:r>
              <a:rPr sz="1600" b="0" i="0">
                <a:solidFill>
                  <a:srgbClr val="1F1F1F"/>
                </a:solidFill>
                <a:latin typeface="Times New Roman"/>
                <a:ea typeface="Times New Roman"/>
                <a:cs typeface="Times New Roman"/>
              </a:rPr>
              <a:t>: dashboard doanh thu theo ngày, theo hãng</a:t>
            </a:r>
          </a:p>
          <a:p>
            <a:pPr marL="571500" indent="-228600">
              <a:spcAft>
                <a:spcPts val="600"/>
              </a:spcAft>
              <a:buClr>
                <a:srgbClr val="595959"/>
              </a:buClr>
              <a:buFont typeface="Arial"/>
              <a:buChar char="•"/>
            </a:pPr>
            <a:r>
              <a:rPr sz="1600" b="1" i="0">
                <a:solidFill>
                  <a:srgbClr val="1F1F1F"/>
                </a:solidFill>
                <a:latin typeface="Times New Roman"/>
                <a:ea typeface="Times New Roman"/>
                <a:cs typeface="Times New Roman"/>
              </a:rPr>
              <a:t>Data scientist</a:t>
            </a:r>
            <a:r>
              <a:rPr sz="1600" b="0" i="0">
                <a:solidFill>
                  <a:srgbClr val="1F1F1F"/>
                </a:solidFill>
                <a:latin typeface="Times New Roman"/>
                <a:ea typeface="Times New Roman"/>
                <a:cs typeface="Times New Roman"/>
              </a:rPr>
              <a:t>: toàn bộ lịch sử ở dạng thô để huấn luyện mô hình</a:t>
            </a:r>
          </a:p>
          <a:p>
            <a:pPr marL="571500" indent="-228600">
              <a:spcAft>
                <a:spcPts val="600"/>
              </a:spcAft>
              <a:buClr>
                <a:srgbClr val="595959"/>
              </a:buClr>
              <a:buFont typeface="Arial"/>
              <a:buChar char="•"/>
            </a:pPr>
            <a:r>
              <a:rPr sz="1600" b="1" i="0">
                <a:solidFill>
                  <a:srgbClr val="1F1F1F"/>
                </a:solidFill>
                <a:latin typeface="Times New Roman"/>
                <a:ea typeface="Times New Roman"/>
                <a:cs typeface="Times New Roman"/>
              </a:rPr>
              <a:t>Data engineer</a:t>
            </a:r>
            <a:r>
              <a:rPr sz="1600" b="0" i="0">
                <a:solidFill>
                  <a:srgbClr val="1F1F1F"/>
                </a:solidFill>
                <a:latin typeface="Times New Roman"/>
                <a:ea typeface="Times New Roman"/>
                <a:cs typeface="Times New Roman"/>
              </a:rPr>
              <a:t>: kho lưu trữ không hỏng khi pipeline lỗi, sửa được dòng sai, xem lại trạng thái cũ</a:t>
            </a:r>
          </a:p>
          <a:p>
            <a:pPr marL="285750" indent="-285750">
              <a:spcAft>
                <a:spcPts val="600"/>
              </a:spcAft>
              <a:buClr>
                <a:srgbClr val="0070C0"/>
              </a:buClr>
              <a:buSzPts val="1600"/>
              <a:buFont typeface="Noto Sans Symbols"/>
              <a:buChar char="❖"/>
            </a:pPr>
            <a:r>
              <a:rPr sz="1800" b="0" i="0">
                <a:solidFill>
                  <a:srgbClr val="1F1F1F"/>
                </a:solidFill>
                <a:latin typeface="Times New Roman"/>
                <a:ea typeface="Times New Roman"/>
                <a:cs typeface="Times New Roman"/>
              </a:rPr>
              <a:t>Câu hỏi của bài học: </a:t>
            </a:r>
            <a:r>
              <a:rPr sz="1800" b="1" i="0">
                <a:solidFill>
                  <a:srgbClr val="1F1F1F"/>
                </a:solidFill>
                <a:latin typeface="Times New Roman"/>
                <a:ea typeface="Times New Roman"/>
                <a:cs typeface="Times New Roman"/>
              </a:rPr>
              <a:t>dữ liệu phân tích nên nằm ở đâu?</a:t>
            </a:r>
          </a:p>
        </p:txBody>
      </p:sp>
      <p:sp>
        <p:nvSpPr>
          <p:cNvPr id="118" name="Rounded Rectangle 117"/>
          <p:cNvSpPr/>
          <p:nvPr/>
        </p:nvSpPr>
        <p:spPr>
          <a:xfrm>
            <a:off x="7498079" y="1051560"/>
            <a:ext cx="4206240" cy="105156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TextBox 118"/>
          <p:cNvSpPr txBox="1"/>
          <p:nvPr/>
        </p:nvSpPr>
        <p:spPr>
          <a:xfrm>
            <a:off x="7635239" y="1097280"/>
            <a:ext cx="3931920" cy="548640"/>
          </a:xfrm>
          <a:prstGeom prst="rect">
            <a:avLst/>
          </a:prstGeom>
          <a:noFill/>
        </p:spPr>
        <p:txBody>
          <a:bodyPr wrap="square" anchor="t" lIns="45720" rIns="45720" tIns="27432" bIns="27432">
            <a:spAutoFit/>
          </a:bodyPr>
          <a:lstStyle/>
          <a:p>
            <a:pPr algn="l"/>
            <a:r>
              <a:rPr sz="2800" b="1" i="0">
                <a:solidFill>
                  <a:srgbClr val="538135"/>
                </a:solidFill>
                <a:latin typeface="Times New Roman"/>
                <a:ea typeface="Times New Roman"/>
                <a:cs typeface="Times New Roman"/>
              </a:rPr>
              <a:t>3.066.766</a:t>
            </a:r>
          </a:p>
        </p:txBody>
      </p:sp>
      <p:sp>
        <p:nvSpPr>
          <p:cNvPr id="120" name="TextBox 119"/>
          <p:cNvSpPr txBox="1"/>
          <p:nvPr/>
        </p:nvSpPr>
        <p:spPr>
          <a:xfrm>
            <a:off x="7635239" y="1645920"/>
            <a:ext cx="3931920" cy="411480"/>
          </a:xfrm>
          <a:prstGeom prst="rect">
            <a:avLst/>
          </a:prstGeom>
          <a:noFill/>
        </p:spPr>
        <p:txBody>
          <a:bodyPr wrap="square" anchor="t" lIns="45720" rIns="45720" tIns="27432" bIns="27432">
            <a:spAutoFit/>
          </a:bodyPr>
          <a:lstStyle/>
          <a:p>
            <a:pPr algn="l"/>
            <a:r>
              <a:rPr sz="1300" b="0" i="0">
                <a:solidFill>
                  <a:srgbClr val="595959"/>
                </a:solidFill>
                <a:latin typeface="Times New Roman"/>
                <a:ea typeface="Times New Roman"/>
                <a:cs typeface="Times New Roman"/>
              </a:rPr>
              <a:t>dòng trong file tháng 1/2023 (48 MB)</a:t>
            </a:r>
          </a:p>
        </p:txBody>
      </p:sp>
      <p:sp>
        <p:nvSpPr>
          <p:cNvPr id="121" name="Rounded Rectangle 120"/>
          <p:cNvSpPr/>
          <p:nvPr/>
        </p:nvSpPr>
        <p:spPr>
          <a:xfrm>
            <a:off x="7498079" y="2286000"/>
            <a:ext cx="4206240" cy="105156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7635239" y="2331720"/>
            <a:ext cx="3931920" cy="548640"/>
          </a:xfrm>
          <a:prstGeom prst="rect">
            <a:avLst/>
          </a:prstGeom>
          <a:noFill/>
        </p:spPr>
        <p:txBody>
          <a:bodyPr wrap="square" anchor="t" lIns="45720" rIns="45720" tIns="27432" bIns="27432">
            <a:spAutoFit/>
          </a:bodyPr>
          <a:lstStyle/>
          <a:p>
            <a:pPr algn="l"/>
            <a:r>
              <a:rPr sz="2800" b="1" i="0">
                <a:solidFill>
                  <a:srgbClr val="538135"/>
                </a:solidFill>
                <a:latin typeface="Times New Roman"/>
                <a:ea typeface="Times New Roman"/>
                <a:cs typeface="Times New Roman"/>
              </a:rPr>
              <a:t>−900 USD</a:t>
            </a:r>
          </a:p>
        </p:txBody>
      </p:sp>
      <p:sp>
        <p:nvSpPr>
          <p:cNvPr id="123" name="TextBox 122"/>
          <p:cNvSpPr txBox="1"/>
          <p:nvPr/>
        </p:nvSpPr>
        <p:spPr>
          <a:xfrm>
            <a:off x="7635239" y="2880360"/>
            <a:ext cx="3931920" cy="411480"/>
          </a:xfrm>
          <a:prstGeom prst="rect">
            <a:avLst/>
          </a:prstGeom>
          <a:noFill/>
        </p:spPr>
        <p:txBody>
          <a:bodyPr wrap="square" anchor="t" lIns="45720" rIns="45720" tIns="27432" bIns="27432">
            <a:spAutoFit/>
          </a:bodyPr>
          <a:lstStyle/>
          <a:p>
            <a:pPr algn="l"/>
            <a:r>
              <a:rPr sz="1300" b="0" i="0">
                <a:solidFill>
                  <a:srgbClr val="595959"/>
                </a:solidFill>
                <a:latin typeface="Times New Roman"/>
                <a:ea typeface="Times New Roman"/>
                <a:cs typeface="Times New Roman"/>
              </a:rPr>
              <a:t>giá cước nhỏ nhất: dữ liệu thô có lỗi</a:t>
            </a:r>
          </a:p>
        </p:txBody>
      </p:sp>
      <p:sp>
        <p:nvSpPr>
          <p:cNvPr id="124" name="Rounded Rectangle 123"/>
          <p:cNvSpPr/>
          <p:nvPr/>
        </p:nvSpPr>
        <p:spPr>
          <a:xfrm>
            <a:off x="7498079" y="3520440"/>
            <a:ext cx="4206240" cy="105156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TextBox 124"/>
          <p:cNvSpPr txBox="1"/>
          <p:nvPr/>
        </p:nvSpPr>
        <p:spPr>
          <a:xfrm>
            <a:off x="7635239" y="3566160"/>
            <a:ext cx="3931920" cy="548640"/>
          </a:xfrm>
          <a:prstGeom prst="rect">
            <a:avLst/>
          </a:prstGeom>
          <a:noFill/>
        </p:spPr>
        <p:txBody>
          <a:bodyPr wrap="square" anchor="t" lIns="45720" rIns="45720" tIns="27432" bIns="27432">
            <a:spAutoFit/>
          </a:bodyPr>
          <a:lstStyle/>
          <a:p>
            <a:pPr algn="l"/>
            <a:r>
              <a:rPr sz="2800" b="1" i="0">
                <a:solidFill>
                  <a:srgbClr val="538135"/>
                </a:solidFill>
                <a:latin typeface="Times New Roman"/>
                <a:ea typeface="Times New Roman"/>
                <a:cs typeface="Times New Roman"/>
              </a:rPr>
              <a:t>258.928 dặm</a:t>
            </a:r>
          </a:p>
        </p:txBody>
      </p:sp>
      <p:sp>
        <p:nvSpPr>
          <p:cNvPr id="126" name="TextBox 125"/>
          <p:cNvSpPr txBox="1"/>
          <p:nvPr/>
        </p:nvSpPr>
        <p:spPr>
          <a:xfrm>
            <a:off x="7635239" y="4114800"/>
            <a:ext cx="3931920" cy="411480"/>
          </a:xfrm>
          <a:prstGeom prst="rect">
            <a:avLst/>
          </a:prstGeom>
          <a:noFill/>
        </p:spPr>
        <p:txBody>
          <a:bodyPr wrap="square" anchor="t" lIns="45720" rIns="45720" tIns="27432" bIns="27432">
            <a:spAutoFit/>
          </a:bodyPr>
          <a:lstStyle/>
          <a:p>
            <a:pPr algn="l"/>
            <a:r>
              <a:rPr sz="1300" b="0" i="0">
                <a:solidFill>
                  <a:srgbClr val="595959"/>
                </a:solidFill>
                <a:latin typeface="Times New Roman"/>
                <a:ea typeface="Times New Roman"/>
                <a:cs typeface="Times New Roman"/>
              </a:rPr>
              <a:t>quãng đường lớn nhất của một chuyến</a:t>
            </a:r>
          </a:p>
        </p:txBody>
      </p:sp>
      <p:sp>
        <p:nvSpPr>
          <p:cNvPr id="127" name="TextBox 126"/>
          <p:cNvSpPr txBox="1"/>
          <p:nvPr/>
        </p:nvSpPr>
        <p:spPr>
          <a:xfrm>
            <a:off x="7498079" y="4754880"/>
            <a:ext cx="4206240" cy="320040"/>
          </a:xfrm>
          <a:prstGeom prst="rect">
            <a:avLst/>
          </a:prstGeom>
          <a:noFill/>
        </p:spPr>
        <p:txBody>
          <a:bodyPr wrap="square" anchor="t" lIns="45720" rIns="45720" tIns="27432" bIns="27432">
            <a:spAutoFit/>
          </a:bodyPr>
          <a:lstStyle/>
          <a:p>
            <a:pPr algn="ctr"/>
            <a:r>
              <a:rPr sz="1100" b="0" i="1">
                <a:solidFill>
                  <a:srgbClr val="595959"/>
                </a:solidFill>
                <a:latin typeface="Times New Roman"/>
                <a:ea typeface="Times New Roman"/>
                <a:cs typeface="Times New Roman"/>
              </a:rPr>
              <a:t>Số liệu đọc từ footer file Parquet của NYC TLC (script 01_bronze_data_lake.py)</a:t>
            </a:r>
          </a:p>
        </p:txBody>
      </p:sp>
      <p:sp>
        <p:nvSpPr>
          <p:cNvPr id="128" name="TextBox 127"/>
          <p:cNvSpPr txBox="1"/>
          <p:nvPr/>
        </p:nvSpPr>
        <p:spPr>
          <a:xfrm>
            <a:off x="411480" y="5394960"/>
            <a:ext cx="11369040" cy="731520"/>
          </a:xfrm>
          <a:prstGeom prst="rect">
            <a:avLst/>
          </a:prstGeom>
          <a:noFill/>
        </p:spPr>
        <p:txBody>
          <a:bodyPr wrap="square" anchor="t" lIns="45720" rIns="45720" tIns="27432" bIns="27432">
            <a:spAutoFit/>
          </a:bodyPr>
          <a:lstStyle/>
          <a:p>
            <a:pPr algn="l"/>
            <a:r>
              <a:rPr sz="1600" b="1" i="1">
                <a:solidFill>
                  <a:srgbClr val="538135"/>
                </a:solidFill>
                <a:latin typeface="Times New Roman"/>
                <a:ea typeface="Times New Roman"/>
                <a:cs typeface="Times New Roman"/>
              </a:rPr>
              <a:t>Sau bài học, bạn phân biệt được ba kiến trúc bằng một câu hỏi duy nhất: lớp nào sở hữu khái niệm "bảng".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Ba thế hệ kiến trúc dữ liệu phân tích</a:t>
            </a:r>
            <a:endParaRPr b="1" i="0" sz="3400" u="none" cap="none" strike="noStrike">
              <a:solidFill>
                <a:srgbClr val="C55A11"/>
              </a:solidFill>
              <a:latin typeface="Times New Roman"/>
              <a:ea typeface="Times New Roman"/>
              <a:cs typeface="Times New Roman"/>
              <a:sym typeface="Times New Roman"/>
            </a:endParaRPr>
          </a:p>
        </p:txBody>
      </p:sp>
      <p:pic>
        <p:nvPicPr>
          <p:cNvPr id="117" name="Picture 116" descr="fig1.png"/>
          <p:cNvPicPr>
            <a:picLocks noChangeAspect="1"/>
          </p:cNvPicPr>
          <p:nvPr/>
        </p:nvPicPr>
        <p:blipFill>
          <a:blip r:embed="rId2"/>
          <a:stretch>
            <a:fillRect/>
          </a:stretch>
        </p:blipFill>
        <p:spPr>
          <a:xfrm>
            <a:off x="1118440" y="1051560"/>
            <a:ext cx="9955120" cy="2377440"/>
          </a:xfrm>
          <a:prstGeom prst="rect">
            <a:avLst/>
          </a:prstGeom>
        </p:spPr>
      </p:pic>
      <p:sp>
        <p:nvSpPr>
          <p:cNvPr id="118" name="TextBox 117"/>
          <p:cNvSpPr txBox="1"/>
          <p:nvPr/>
        </p:nvSpPr>
        <p:spPr>
          <a:xfrm>
            <a:off x="411480" y="3566160"/>
            <a:ext cx="11369040" cy="292608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700" b="1" i="0">
                <a:solidFill>
                  <a:srgbClr val="1F1F1F"/>
                </a:solidFill>
                <a:latin typeface="Times New Roman"/>
                <a:ea typeface="Times New Roman"/>
                <a:cs typeface="Times New Roman"/>
              </a:rPr>
              <a:t>Data Warehouse (1988)</a:t>
            </a:r>
            <a:r>
              <a:rPr sz="1700" b="0" i="0">
                <a:solidFill>
                  <a:srgbClr val="1F1F1F"/>
                </a:solidFill>
                <a:latin typeface="Times New Roman"/>
                <a:ea typeface="Times New Roman"/>
                <a:cs typeface="Times New Roman"/>
              </a:rPr>
              <a:t>: Devlin và Murphy (IBM), sau đó Inmon và Kimball. Schema-on-write, SQL, phục vụ BI</a:t>
            </a:r>
          </a:p>
          <a:p>
            <a:pPr marL="285750" indent="-285750">
              <a:spcAft>
                <a:spcPts val="600"/>
              </a:spcAft>
              <a:buClr>
                <a:srgbClr val="0070C0"/>
              </a:buClr>
              <a:buSzPts val="1600"/>
              <a:buFont typeface="Noto Sans Symbols"/>
              <a:buChar char="❖"/>
            </a:pPr>
            <a:r>
              <a:rPr sz="1700" b="1" i="0">
                <a:solidFill>
                  <a:srgbClr val="1F1F1F"/>
                </a:solidFill>
                <a:latin typeface="Times New Roman"/>
                <a:ea typeface="Times New Roman"/>
                <a:cs typeface="Times New Roman"/>
              </a:rPr>
              <a:t>Data Lake (2010)</a:t>
            </a:r>
            <a:r>
              <a:rPr sz="1700" b="0" i="0">
                <a:solidFill>
                  <a:srgbClr val="1F1F1F"/>
                </a:solidFill>
                <a:latin typeface="Times New Roman"/>
                <a:ea typeface="Times New Roman"/>
                <a:cs typeface="Times New Roman"/>
              </a:rPr>
              <a:t>: James Dixon đặt tên. Lưu file thô trên Hadoop rồi object storage, schema-on-read, phục vụ ML</a:t>
            </a:r>
          </a:p>
          <a:p>
            <a:pPr marL="285750" indent="-285750">
              <a:spcAft>
                <a:spcPts val="600"/>
              </a:spcAft>
              <a:buClr>
                <a:srgbClr val="0070C0"/>
              </a:buClr>
              <a:buSzPts val="1600"/>
              <a:buFont typeface="Noto Sans Symbols"/>
              <a:buChar char="❖"/>
            </a:pPr>
            <a:r>
              <a:rPr sz="1700" b="1" i="0">
                <a:solidFill>
                  <a:srgbClr val="1F1F1F"/>
                </a:solidFill>
                <a:latin typeface="Times New Roman"/>
                <a:ea typeface="Times New Roman"/>
                <a:cs typeface="Times New Roman"/>
              </a:rPr>
              <a:t>Data Lakehouse (2021)</a:t>
            </a:r>
            <a:r>
              <a:rPr sz="1700" b="0" i="0">
                <a:solidFill>
                  <a:srgbClr val="1F1F1F"/>
                </a:solidFill>
                <a:latin typeface="Times New Roman"/>
                <a:ea typeface="Times New Roman"/>
                <a:cs typeface="Times New Roman"/>
              </a:rPr>
              <a:t>: Armbrust và cộng sự tại CIDR. Table format mở cộng catalog đặt trên object storage</a:t>
            </a:r>
          </a:p>
          <a:p>
            <a:pPr marL="285750" indent="-285750">
              <a:spcAft>
                <a:spcPts val="600"/>
              </a:spcAft>
              <a:buClr>
                <a:srgbClr val="0070C0"/>
              </a:buClr>
              <a:buSzPts val="1600"/>
              <a:buFont typeface="Noto Sans Symbols"/>
              <a:buChar char="❖"/>
            </a:pPr>
            <a:r>
              <a:rPr sz="1700" b="0" i="0">
                <a:solidFill>
                  <a:srgbClr val="1F1F1F"/>
                </a:solidFill>
                <a:latin typeface="Times New Roman"/>
                <a:ea typeface="Times New Roman"/>
                <a:cs typeface="Times New Roman"/>
              </a:rPr>
              <a:t>Mỗi thế hệ ra đời để sửa điểm yếu của thế hệ trước, không thay thế hoàn toàn thế hệ trước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Ba lớp của nền tảng phân tích: ai sở hữu "bảng"?</a:t>
            </a:r>
            <a:endParaRPr b="1" i="0" sz="3400" u="none" cap="none" strike="noStrike">
              <a:solidFill>
                <a:srgbClr val="C55A11"/>
              </a:solidFill>
              <a:latin typeface="Times New Roman"/>
              <a:ea typeface="Times New Roman"/>
              <a:cs typeface="Times New Roman"/>
              <a:sym typeface="Times New Roman"/>
            </a:endParaRPr>
          </a:p>
        </p:txBody>
      </p:sp>
      <p:pic>
        <p:nvPicPr>
          <p:cNvPr id="117" name="Picture 116" descr="fig2.png"/>
          <p:cNvPicPr>
            <a:picLocks noChangeAspect="1"/>
          </p:cNvPicPr>
          <p:nvPr/>
        </p:nvPicPr>
        <p:blipFill>
          <a:blip r:embed="rId2"/>
          <a:stretch>
            <a:fillRect/>
          </a:stretch>
        </p:blipFill>
        <p:spPr>
          <a:xfrm>
            <a:off x="411480" y="1307833"/>
            <a:ext cx="7589520" cy="2596414"/>
          </a:xfrm>
          <a:prstGeom prst="rect">
            <a:avLst/>
          </a:prstGeom>
        </p:spPr>
      </p:pic>
      <p:sp>
        <p:nvSpPr>
          <p:cNvPr id="118" name="TextBox 117"/>
          <p:cNvSpPr txBox="1"/>
          <p:nvPr/>
        </p:nvSpPr>
        <p:spPr>
          <a:xfrm>
            <a:off x="8138160" y="1051560"/>
            <a:ext cx="3657600" cy="310896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600" b="1" i="0">
                <a:solidFill>
                  <a:srgbClr val="1F1F1F"/>
                </a:solidFill>
                <a:latin typeface="Times New Roman"/>
                <a:ea typeface="Times New Roman"/>
                <a:cs typeface="Times New Roman"/>
              </a:rPr>
              <a:t>Compute</a:t>
            </a:r>
            <a:r>
              <a:rPr sz="1600" b="0" i="0">
                <a:solidFill>
                  <a:srgbClr val="1F1F1F"/>
                </a:solidFill>
                <a:latin typeface="Times New Roman"/>
                <a:ea typeface="Times New Roman"/>
                <a:cs typeface="Times New Roman"/>
              </a:rPr>
              <a:t>: engine chạy SQL, biến đổi, ML</a:t>
            </a:r>
          </a:p>
          <a:p>
            <a:pPr marL="285750" indent="-285750">
              <a:spcAft>
                <a:spcPts val="600"/>
              </a:spcAft>
              <a:buClr>
                <a:srgbClr val="0070C0"/>
              </a:buClr>
              <a:buSzPts val="1600"/>
              <a:buFont typeface="Noto Sans Symbols"/>
              <a:buChar char="❖"/>
            </a:pPr>
            <a:r>
              <a:rPr sz="1600" b="1" i="0">
                <a:solidFill>
                  <a:srgbClr val="1F1F1F"/>
                </a:solidFill>
                <a:latin typeface="Times New Roman"/>
                <a:ea typeface="Times New Roman"/>
                <a:cs typeface="Times New Roman"/>
              </a:rPr>
              <a:t>Table format + Catalog</a:t>
            </a:r>
            <a:r>
              <a:rPr sz="1600" b="0" i="0">
                <a:solidFill>
                  <a:srgbClr val="1F1F1F"/>
                </a:solidFill>
                <a:latin typeface="Times New Roman"/>
                <a:ea typeface="Times New Roman"/>
                <a:cs typeface="Times New Roman"/>
              </a:rPr>
              <a:t>: bảng gồm file nào, schema gì, phiên bản nào</a:t>
            </a:r>
          </a:p>
          <a:p>
            <a:pPr marL="285750" indent="-285750">
              <a:spcAft>
                <a:spcPts val="600"/>
              </a:spcAft>
              <a:buClr>
                <a:srgbClr val="0070C0"/>
              </a:buClr>
              <a:buSzPts val="1600"/>
              <a:buFont typeface="Noto Sans Symbols"/>
              <a:buChar char="❖"/>
            </a:pPr>
            <a:r>
              <a:rPr sz="1600" b="1" i="0">
                <a:solidFill>
                  <a:srgbClr val="1F1F1F"/>
                </a:solidFill>
                <a:latin typeface="Times New Roman"/>
                <a:ea typeface="Times New Roman"/>
                <a:cs typeface="Times New Roman"/>
              </a:rPr>
              <a:t>Storage + File format</a:t>
            </a:r>
            <a:r>
              <a:rPr sz="1600" b="0" i="0">
                <a:solidFill>
                  <a:srgbClr val="1F1F1F"/>
                </a:solidFill>
                <a:latin typeface="Times New Roman"/>
                <a:ea typeface="Times New Roman"/>
                <a:cs typeface="Times New Roman"/>
              </a:rPr>
              <a:t>: byte nằm ở đâu, định dạng gì</a:t>
            </a:r>
          </a:p>
        </p:txBody>
      </p:sp>
      <p:sp>
        <p:nvSpPr>
          <p:cNvPr id="119" name="Rounded Rectangle 118"/>
          <p:cNvSpPr/>
          <p:nvPr/>
        </p:nvSpPr>
        <p:spPr>
          <a:xfrm>
            <a:off x="411480" y="4343400"/>
            <a:ext cx="11369040" cy="210312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TextBox 119"/>
          <p:cNvSpPr txBox="1"/>
          <p:nvPr/>
        </p:nvSpPr>
        <p:spPr>
          <a:xfrm>
            <a:off x="594360" y="4434840"/>
            <a:ext cx="11369040" cy="365760"/>
          </a:xfrm>
          <a:prstGeom prst="rect">
            <a:avLst/>
          </a:prstGeom>
          <a:noFill/>
        </p:spPr>
        <p:txBody>
          <a:bodyPr wrap="square" anchor="t" lIns="45720" rIns="45720" tIns="27432" bIns="27432">
            <a:spAutoFit/>
          </a:bodyPr>
          <a:lstStyle/>
          <a:p>
            <a:pPr algn="l"/>
            <a:r>
              <a:rPr sz="1800" b="1" i="0">
                <a:solidFill>
                  <a:srgbClr val="538135"/>
                </a:solidFill>
                <a:latin typeface="Times New Roman"/>
                <a:ea typeface="Times New Roman"/>
                <a:cs typeface="Times New Roman"/>
              </a:rPr>
              <a:t>Câu hỏi để phân loại một hệ thống</a:t>
            </a:r>
          </a:p>
        </p:txBody>
      </p:sp>
      <p:sp>
        <p:nvSpPr>
          <p:cNvPr id="121" name="TextBox 120"/>
          <p:cNvSpPr txBox="1"/>
          <p:nvPr/>
        </p:nvSpPr>
        <p:spPr>
          <a:xfrm>
            <a:off x="594360" y="4800600"/>
            <a:ext cx="11003280" cy="164592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500" b="0" i="0">
                <a:solidFill>
                  <a:srgbClr val="1F1F1F"/>
                </a:solidFill>
                <a:latin typeface="Times New Roman"/>
                <a:ea typeface="Times New Roman"/>
                <a:cs typeface="Times New Roman"/>
              </a:rPr>
              <a:t>Engine muốn đọc bảng orders thì hỏi ai để biết bảng gồm những file nào?</a:t>
            </a:r>
          </a:p>
          <a:p>
            <a:pPr marL="571500" indent="-228600">
              <a:spcAft>
                <a:spcPts val="300"/>
              </a:spcAft>
              <a:buClr>
                <a:srgbClr val="595959"/>
              </a:buClr>
              <a:buFont typeface="Arial"/>
              <a:buChar char="•"/>
            </a:pPr>
            <a:r>
              <a:rPr sz="1500" b="0" i="0">
                <a:solidFill>
                  <a:srgbClr val="1F1F1F"/>
                </a:solidFill>
                <a:latin typeface="Times New Roman"/>
                <a:ea typeface="Times New Roman"/>
                <a:cs typeface="Times New Roman"/>
              </a:rPr>
              <a:t>Hỏi engine của vendor → </a:t>
            </a:r>
            <a:r>
              <a:rPr sz="1500" b="1" i="0">
                <a:solidFill>
                  <a:srgbClr val="1F1F1F"/>
                </a:solidFill>
                <a:latin typeface="Times New Roman"/>
                <a:ea typeface="Times New Roman"/>
                <a:cs typeface="Times New Roman"/>
              </a:rPr>
              <a:t>Data Warehouse</a:t>
            </a:r>
          </a:p>
          <a:p>
            <a:pPr marL="571500" indent="-228600">
              <a:spcAft>
                <a:spcPts val="300"/>
              </a:spcAft>
              <a:buClr>
                <a:srgbClr val="595959"/>
              </a:buClr>
              <a:buFont typeface="Arial"/>
              <a:buChar char="•"/>
            </a:pPr>
            <a:r>
              <a:rPr sz="1500" b="0" i="0">
                <a:solidFill>
                  <a:srgbClr val="1F1F1F"/>
                </a:solidFill>
                <a:latin typeface="Times New Roman"/>
                <a:ea typeface="Times New Roman"/>
                <a:cs typeface="Times New Roman"/>
              </a:rPr>
              <a:t>Tự liệt kê thư mục → </a:t>
            </a:r>
            <a:r>
              <a:rPr sz="1500" b="1" i="0">
                <a:solidFill>
                  <a:srgbClr val="1F1F1F"/>
                </a:solidFill>
                <a:latin typeface="Times New Roman"/>
                <a:ea typeface="Times New Roman"/>
                <a:cs typeface="Times New Roman"/>
              </a:rPr>
              <a:t>Data Lake</a:t>
            </a:r>
          </a:p>
          <a:p>
            <a:pPr marL="571500" indent="-228600">
              <a:spcAft>
                <a:spcPts val="300"/>
              </a:spcAft>
              <a:buClr>
                <a:srgbClr val="595959"/>
              </a:buClr>
              <a:buFont typeface="Arial"/>
              <a:buChar char="•"/>
            </a:pPr>
            <a:r>
              <a:rPr sz="1500" b="0" i="0">
                <a:solidFill>
                  <a:srgbClr val="1F1F1F"/>
                </a:solidFill>
                <a:latin typeface="Times New Roman"/>
                <a:ea typeface="Times New Roman"/>
                <a:cs typeface="Times New Roman"/>
              </a:rPr>
              <a:t>Hỏi catalog của một table format mở → </a:t>
            </a:r>
            <a:r>
              <a:rPr sz="1500" b="1" i="0">
                <a:solidFill>
                  <a:srgbClr val="1F1F1F"/>
                </a:solidFill>
                <a:latin typeface="Times New Roman"/>
                <a:ea typeface="Times New Roman"/>
                <a:cs typeface="Times New Roman"/>
              </a:rPr>
              <a:t>Data Lakehouse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34258"/>
          </a:xfrm>
          <a:prstGeom prst="rect">
            <a:avLst/>
          </a:prstGeom>
          <a:solidFill>
            <a:srgbClr val="538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5400" b="1" i="0">
                <a:solidFill>
                  <a:srgbClr val="FFFFFF"/>
                </a:solidFill>
                <a:latin typeface="Times New Roman"/>
                <a:ea typeface="Times New Roman"/>
                <a:cs typeface="Times New Roman"/>
              </a:rPr>
              <a:t>Outline</a:t>
            </a:r>
          </a:p>
        </p:txBody>
      </p:sp>
      <p:sp>
        <p:nvSpPr>
          <p:cNvPr id="3" name="Rounded Rectangle 2"/>
          <p:cNvSpPr/>
          <p:nvPr/>
        </p:nvSpPr>
        <p:spPr>
          <a:xfrm>
            <a:off x="876348" y="15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Giới thiệu</a:t>
            </a:r>
          </a:p>
        </p:txBody>
      </p:sp>
      <p:sp>
        <p:nvSpPr>
          <p:cNvPr id="4" name="Rounded Rectangle 3"/>
          <p:cNvSpPr/>
          <p:nvPr/>
        </p:nvSpPr>
        <p:spPr>
          <a:xfrm>
            <a:off x="609199" y="14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1</a:t>
            </a:r>
          </a:p>
        </p:txBody>
      </p:sp>
      <p:sp>
        <p:nvSpPr>
          <p:cNvPr id="5" name="Rounded Rectangle 4"/>
          <p:cNvSpPr/>
          <p:nvPr/>
        </p:nvSpPr>
        <p:spPr>
          <a:xfrm>
            <a:off x="876348" y="2600000"/>
            <a:ext cx="5400000" cy="780000"/>
          </a:xfrm>
          <a:prstGeom prst="roundRect">
            <a:avLst>
              <a:gd name="adj" fmla="val 8000"/>
            </a:avLst>
          </a:prstGeom>
          <a:solidFill>
            <a:srgbClr val="F4B081"/>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55A11"/>
                </a:solidFill>
                <a:latin typeface="Times New Roman"/>
                <a:ea typeface="Times New Roman"/>
                <a:cs typeface="Times New Roman"/>
              </a:rPr>
              <a:t>Data Warehouse</a:t>
            </a:r>
          </a:p>
        </p:txBody>
      </p:sp>
      <p:sp>
        <p:nvSpPr>
          <p:cNvPr id="6" name="Rounded Rectangle 5"/>
          <p:cNvSpPr/>
          <p:nvPr/>
        </p:nvSpPr>
        <p:spPr>
          <a:xfrm>
            <a:off x="609199" y="24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2</a:t>
            </a:r>
          </a:p>
        </p:txBody>
      </p:sp>
      <p:sp>
        <p:nvSpPr>
          <p:cNvPr id="7" name="Rounded Rectangle 6"/>
          <p:cNvSpPr/>
          <p:nvPr/>
        </p:nvSpPr>
        <p:spPr>
          <a:xfrm>
            <a:off x="876348" y="36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a:t>
            </a:r>
          </a:p>
        </p:txBody>
      </p:sp>
      <p:sp>
        <p:nvSpPr>
          <p:cNvPr id="8" name="Rounded Rectangle 7"/>
          <p:cNvSpPr/>
          <p:nvPr/>
        </p:nvSpPr>
        <p:spPr>
          <a:xfrm>
            <a:off x="609199" y="35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3</a:t>
            </a:r>
          </a:p>
        </p:txBody>
      </p:sp>
      <p:sp>
        <p:nvSpPr>
          <p:cNvPr id="9" name="Rounded Rectangle 8"/>
          <p:cNvSpPr/>
          <p:nvPr/>
        </p:nvSpPr>
        <p:spPr>
          <a:xfrm>
            <a:off x="876348" y="47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Lakehouse</a:t>
            </a:r>
          </a:p>
        </p:txBody>
      </p:sp>
      <p:sp>
        <p:nvSpPr>
          <p:cNvPr id="10" name="Rounded Rectangle 9"/>
          <p:cNvSpPr/>
          <p:nvPr/>
        </p:nvSpPr>
        <p:spPr>
          <a:xfrm>
            <a:off x="609199" y="45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4</a:t>
            </a:r>
          </a:p>
        </p:txBody>
      </p:sp>
      <p:sp>
        <p:nvSpPr>
          <p:cNvPr id="11" name="Rounded Rectangle 10"/>
          <p:cNvSpPr/>
          <p:nvPr/>
        </p:nvSpPr>
        <p:spPr>
          <a:xfrm>
            <a:off x="876348" y="57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Kiến trúc lai và thực hành</a:t>
            </a:r>
          </a:p>
        </p:txBody>
      </p:sp>
      <p:sp>
        <p:nvSpPr>
          <p:cNvPr id="12" name="Rounded Rectangle 11"/>
          <p:cNvSpPr/>
          <p:nvPr/>
        </p:nvSpPr>
        <p:spPr>
          <a:xfrm>
            <a:off x="609199" y="56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5</a:t>
            </a:r>
          </a:p>
        </p:txBody>
      </p:sp>
      <p:pic>
        <p:nvPicPr>
          <p:cNvPr id="13" name="Picture 12" descr="warehouse.jpg"/>
          <p:cNvPicPr>
            <a:picLocks noChangeAspect="1"/>
          </p:cNvPicPr>
          <p:nvPr/>
        </p:nvPicPr>
        <p:blipFill>
          <a:blip r:embed="rId2"/>
          <a:stretch>
            <a:fillRect/>
          </a:stretch>
        </p:blipFill>
        <p:spPr>
          <a:xfrm>
            <a:off x="7916667" y="1450000"/>
            <a:ext cx="2866666" cy="4300000"/>
          </a:xfrm>
          <a:prstGeom prst="rect">
            <a:avLst/>
          </a:prstGeom>
        </p:spPr>
      </p:pic>
      <p:sp>
        <p:nvSpPr>
          <p:cNvPr id="14" name="TextBox 13"/>
          <p:cNvSpPr txBox="1"/>
          <p:nvPr/>
        </p:nvSpPr>
        <p:spPr>
          <a:xfrm>
            <a:off x="6900000" y="5800000"/>
            <a:ext cx="4900000" cy="320040"/>
          </a:xfrm>
          <a:prstGeom prst="rect">
            <a:avLst/>
          </a:prstGeom>
          <a:noFill/>
        </p:spPr>
        <p:txBody>
          <a:bodyPr wrap="square" anchor="t" lIns="45720" rIns="45720" tIns="27432" bIns="27432">
            <a:spAutoFit/>
          </a:bodyPr>
          <a:lstStyle/>
          <a:p>
            <a:pPr algn="ctr"/>
            <a:r>
              <a:rPr sz="1100" b="0" i="1">
                <a:solidFill>
                  <a:srgbClr val="595959"/>
                </a:solidFill>
                <a:latin typeface="Times New Roman"/>
                <a:ea typeface="Times New Roman"/>
                <a:cs typeface="Times New Roman"/>
              </a:rPr>
              <a:t>Ảnh: Shixart1985, Wikimedia Commons, CC BY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OLTP và OLAP: hai kiểu workload khác nhau</a:t>
            </a:r>
            <a:endParaRPr b="1" i="0" sz="3400" u="none" cap="none" strike="noStrike">
              <a:solidFill>
                <a:srgbClr val="C55A11"/>
              </a:solidFill>
              <a:latin typeface="Times New Roman"/>
              <a:ea typeface="Times New Roman"/>
              <a:cs typeface="Times New Roman"/>
              <a:sym typeface="Times New Roman"/>
            </a:endParaRPr>
          </a:p>
        </p:txBody>
      </p:sp>
      <p:graphicFrame>
        <p:nvGraphicFramePr>
          <p:cNvPr id="117" name="Table 116"/>
          <p:cNvGraphicFramePr>
            <a:graphicFrameLocks noGrp="1"/>
          </p:cNvGraphicFramePr>
          <p:nvPr/>
        </p:nvGraphicFramePr>
        <p:xfrm>
          <a:off x="411480" y="1051560"/>
          <a:ext cx="11369038" cy="3200400"/>
        </p:xfrm>
        <a:graphic>
          <a:graphicData uri="http://schemas.openxmlformats.org/drawingml/2006/table">
            <a:tbl>
              <a:tblPr firstRow="1" bandRow="1">
                <a:tableStyleId>{5C22544A-7EE6-4342-B048-85BDC9FD1C3A}</a:tableStyleId>
              </a:tblPr>
              <a:tblGrid>
                <a:gridCol w="2337559"/>
                <a:gridCol w="4250108"/>
                <a:gridCol w="4781371"/>
              </a:tblGrid>
              <a:tr h="457200">
                <a:tc>
                  <a:txBody>
                    <a:bodyPr wrap="square"/>
                    <a:lstStyle/>
                    <a:p>
                      <a:r>
                        <a:rPr sz="1400" b="1" i="0">
                          <a:solidFill>
                            <a:srgbClr val="FFFFFF"/>
                          </a:solidFill>
                          <a:latin typeface="Times New Roman"/>
                          <a:ea typeface="Times New Roman"/>
                          <a:cs typeface="Times New Roman"/>
                        </a:rPr>
                        <a:t>Tiêu chí</a:t>
                      </a:r>
                    </a:p>
                  </a:txBody>
                  <a:tcPr marL="73152" marR="73152" marT="27432" marB="27432" anchor="ctr">
                    <a:solidFill>
                      <a:srgbClr val="538135"/>
                    </a:solidFill>
                  </a:tcPr>
                </a:tc>
                <a:tc>
                  <a:txBody>
                    <a:bodyPr wrap="square"/>
                    <a:lstStyle/>
                    <a:p>
                      <a:r>
                        <a:rPr sz="1400" b="1" i="0">
                          <a:solidFill>
                            <a:srgbClr val="FFFFFF"/>
                          </a:solidFill>
                          <a:latin typeface="Times New Roman"/>
                          <a:ea typeface="Times New Roman"/>
                          <a:cs typeface="Times New Roman"/>
                        </a:rPr>
                        <a:t>OLTP (database vận hành)</a:t>
                      </a:r>
                    </a:p>
                  </a:txBody>
                  <a:tcPr marL="73152" marR="73152" marT="27432" marB="27432" anchor="ctr">
                    <a:solidFill>
                      <a:srgbClr val="538135"/>
                    </a:solidFill>
                  </a:tcPr>
                </a:tc>
                <a:tc>
                  <a:txBody>
                    <a:bodyPr wrap="square"/>
                    <a:lstStyle/>
                    <a:p>
                      <a:r>
                        <a:rPr sz="1400" b="1" i="0">
                          <a:solidFill>
                            <a:srgbClr val="FFFFFF"/>
                          </a:solidFill>
                          <a:latin typeface="Times New Roman"/>
                          <a:ea typeface="Times New Roman"/>
                          <a:cs typeface="Times New Roman"/>
                        </a:rPr>
                        <a:t>OLAP (phân tích)</a:t>
                      </a:r>
                    </a:p>
                  </a:txBody>
                  <a:tcPr marL="73152" marR="73152" marT="27432" marB="27432" anchor="ctr">
                    <a:solidFill>
                      <a:srgbClr val="538135"/>
                    </a:solidFill>
                  </a:tcPr>
                </a:tc>
              </a:tr>
              <a:tr h="457200">
                <a:tc>
                  <a:txBody>
                    <a:bodyPr wrap="square"/>
                    <a:lstStyle/>
                    <a:p>
                      <a:r>
                        <a:rPr sz="1400" b="1" i="0">
                          <a:solidFill>
                            <a:srgbClr val="1F1F1F"/>
                          </a:solidFill>
                          <a:latin typeface="Times New Roman"/>
                          <a:ea typeface="Times New Roman"/>
                          <a:cs typeface="Times New Roman"/>
                        </a:rPr>
                        <a:t>Truy vấn ví dụ</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Cập nhật trạng thái chuyến xe #123</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Doanh thu theo ngày của từng hãng trong 2 tháng</a:t>
                      </a:r>
                    </a:p>
                  </a:txBody>
                  <a:tcPr marL="73152" marR="73152" marT="27432" marB="27432" anchor="ctr">
                    <a:solidFill>
                      <a:srgbClr val="FFFFFF"/>
                    </a:solidFill>
                  </a:tcPr>
                </a:tc>
              </a:tr>
              <a:tr h="457200">
                <a:tc>
                  <a:txBody>
                    <a:bodyPr wrap="square"/>
                    <a:lstStyle/>
                    <a:p>
                      <a:r>
                        <a:rPr sz="1400" b="1" i="0">
                          <a:solidFill>
                            <a:srgbClr val="1F1F1F"/>
                          </a:solidFill>
                          <a:latin typeface="Times New Roman"/>
                          <a:ea typeface="Times New Roman"/>
                          <a:cs typeface="Times New Roman"/>
                        </a:rPr>
                        <a:t>Số dòng mỗi truy vấn</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Vài dòng</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Hàng triệu dòng</a:t>
                      </a:r>
                    </a:p>
                  </a:txBody>
                  <a:tcPr marL="73152" marR="73152" marT="27432" marB="27432" anchor="ctr">
                    <a:solidFill>
                      <a:srgbClr val="F7F2EC"/>
                    </a:solidFill>
                  </a:tcPr>
                </a:tc>
              </a:tr>
              <a:tr h="457200">
                <a:tc>
                  <a:txBody>
                    <a:bodyPr wrap="square"/>
                    <a:lstStyle/>
                    <a:p>
                      <a:r>
                        <a:rPr sz="1400" b="1" i="0">
                          <a:solidFill>
                            <a:srgbClr val="1F1F1F"/>
                          </a:solidFill>
                          <a:latin typeface="Times New Roman"/>
                          <a:ea typeface="Times New Roman"/>
                          <a:cs typeface="Times New Roman"/>
                        </a:rPr>
                        <a:t>Số cột cần đọc</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Gần như mọi cột của một dòng</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Vài cột trên rất nhiều dòng</a:t>
                      </a:r>
                    </a:p>
                  </a:txBody>
                  <a:tcPr marL="73152" marR="73152" marT="27432" marB="27432" anchor="ctr">
                    <a:solidFill>
                      <a:srgbClr val="FFFFFF"/>
                    </a:solidFill>
                  </a:tcPr>
                </a:tc>
              </a:tr>
              <a:tr h="457200">
                <a:tc>
                  <a:txBody>
                    <a:bodyPr wrap="square"/>
                    <a:lstStyle/>
                    <a:p>
                      <a:r>
                        <a:rPr sz="1400" b="1" i="0">
                          <a:solidFill>
                            <a:srgbClr val="1F1F1F"/>
                          </a:solidFill>
                          <a:latin typeface="Times New Roman"/>
                          <a:ea typeface="Times New Roman"/>
                          <a:cs typeface="Times New Roman"/>
                        </a:rPr>
                        <a:t>Thao tác chính</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INSERT, UPDATE, DELETE</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SELECT với JOIN, GROUP BY</a:t>
                      </a:r>
                    </a:p>
                  </a:txBody>
                  <a:tcPr marL="73152" marR="73152" marT="27432" marB="27432" anchor="ctr">
                    <a:solidFill>
                      <a:srgbClr val="F7F2EC"/>
                    </a:solidFill>
                  </a:tcPr>
                </a:tc>
              </a:tr>
              <a:tr h="457200">
                <a:tc>
                  <a:txBody>
                    <a:bodyPr wrap="square"/>
                    <a:lstStyle/>
                    <a:p>
                      <a:r>
                        <a:rPr sz="1400" b="1" i="0">
                          <a:solidFill>
                            <a:srgbClr val="1F1F1F"/>
                          </a:solidFill>
                          <a:latin typeface="Times New Roman"/>
                          <a:ea typeface="Times New Roman"/>
                          <a:cs typeface="Times New Roman"/>
                        </a:rPr>
                        <a:t>Mô hình dữ liệu</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Chuẩn hóa (3NF), tránh trùng lặp</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Star schema, chấp nhận phi chuẩn hóa</a:t>
                      </a:r>
                    </a:p>
                  </a:txBody>
                  <a:tcPr marL="73152" marR="73152" marT="27432" marB="27432" anchor="ctr">
                    <a:solidFill>
                      <a:srgbClr val="FFFFFF"/>
                    </a:solidFill>
                  </a:tcPr>
                </a:tc>
              </a:tr>
              <a:tr h="457200">
                <a:tc>
                  <a:txBody>
                    <a:bodyPr wrap="square"/>
                    <a:lstStyle/>
                    <a:p>
                      <a:r>
                        <a:rPr sz="1400" b="1" i="0">
                          <a:solidFill>
                            <a:srgbClr val="1F1F1F"/>
                          </a:solidFill>
                          <a:latin typeface="Times New Roman"/>
                          <a:ea typeface="Times New Roman"/>
                          <a:cs typeface="Times New Roman"/>
                        </a:rPr>
                        <a:t>Cách lưu phù hợp</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Theo dòng (row-oriented)</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Theo cột (columnar)</a:t>
                      </a:r>
                    </a:p>
                  </a:txBody>
                  <a:tcPr marL="73152" marR="73152" marT="27432" marB="27432" anchor="ctr">
                    <a:solidFill>
                      <a:srgbClr val="F7F2EC"/>
                    </a:solidFill>
                  </a:tcPr>
                </a:tc>
              </a:tr>
            </a:tbl>
          </a:graphicData>
        </a:graphic>
      </p:graphicFrame>
      <p:sp>
        <p:nvSpPr>
          <p:cNvPr id="118" name="TextBox 117"/>
          <p:cNvSpPr txBox="1"/>
          <p:nvPr/>
        </p:nvSpPr>
        <p:spPr>
          <a:xfrm>
            <a:off x="411480" y="4572000"/>
            <a:ext cx="11369040" cy="1097280"/>
          </a:xfrm>
          <a:prstGeom prst="rect">
            <a:avLst/>
          </a:prstGeom>
          <a:noFill/>
        </p:spPr>
        <p:txBody>
          <a:bodyPr wrap="square" anchor="t" lIns="45720" rIns="45720" tIns="27432" bIns="27432">
            <a:spAutoFit/>
          </a:bodyPr>
          <a:lstStyle/>
          <a:p>
            <a:pPr algn="l"/>
            <a:r>
              <a:rPr sz="1500" b="0" i="0">
                <a:solidFill>
                  <a:srgbClr val="1F1F1F"/>
                </a:solidFill>
                <a:latin typeface="Times New Roman"/>
                <a:ea typeface="Times New Roman"/>
                <a:cs typeface="Times New Roman"/>
              </a:rPr>
              <a:t>Chạy truy vấn phân tích thẳng trên database vận hành: tranh tài nguyên với giao dịch của khách, phải JOIN nhiều bảng, chỉ có trạng thái hiện tại, dữ liệu rải rác nhiều hệ thống. Data Warehouse là hệ thống riêng cho OLAP.</a:t>
            </a:r>
          </a:p>
        </p:txBody>
      </p:sp>
      <p:pic>
        <p:nvPicPr>
          <p:cNvPr id="119" name="Picture 118" descr="snowflake.png"/>
          <p:cNvPicPr>
            <a:picLocks noChangeAspect="1"/>
          </p:cNvPicPr>
          <p:nvPr/>
        </p:nvPicPr>
        <p:blipFill>
          <a:blip r:embed="rId2"/>
          <a:stretch>
            <a:fillRect/>
          </a:stretch>
        </p:blipFill>
        <p:spPr>
          <a:xfrm>
            <a:off x="3291840" y="5644039"/>
            <a:ext cx="1737360" cy="416242"/>
          </a:xfrm>
          <a:prstGeom prst="rect">
            <a:avLst/>
          </a:prstGeom>
        </p:spPr>
      </p:pic>
      <p:sp>
        <p:nvSpPr>
          <p:cNvPr id="120" name="TextBox 119"/>
          <p:cNvSpPr txBox="1"/>
          <p:nvPr/>
        </p:nvSpPr>
        <p:spPr>
          <a:xfrm>
            <a:off x="3200400" y="6126480"/>
            <a:ext cx="192024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Snowflake</a:t>
            </a:r>
          </a:p>
        </p:txBody>
      </p:sp>
      <p:pic>
        <p:nvPicPr>
          <p:cNvPr id="121" name="Picture 120" descr="redshift.png"/>
          <p:cNvPicPr>
            <a:picLocks noChangeAspect="1"/>
          </p:cNvPicPr>
          <p:nvPr/>
        </p:nvPicPr>
        <p:blipFill>
          <a:blip r:embed="rId3"/>
          <a:stretch>
            <a:fillRect/>
          </a:stretch>
        </p:blipFill>
        <p:spPr>
          <a:xfrm>
            <a:off x="5872942" y="5623560"/>
            <a:ext cx="415636" cy="457200"/>
          </a:xfrm>
          <a:prstGeom prst="rect">
            <a:avLst/>
          </a:prstGeom>
        </p:spPr>
      </p:pic>
      <p:sp>
        <p:nvSpPr>
          <p:cNvPr id="122" name="TextBox 121"/>
          <p:cNvSpPr txBox="1"/>
          <p:nvPr/>
        </p:nvSpPr>
        <p:spPr>
          <a:xfrm>
            <a:off x="5120640" y="6126480"/>
            <a:ext cx="192024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Amazon Redshift</a:t>
            </a:r>
          </a:p>
        </p:txBody>
      </p:sp>
      <p:pic>
        <p:nvPicPr>
          <p:cNvPr id="123" name="Picture 122" descr="databricks.png"/>
          <p:cNvPicPr>
            <a:picLocks noChangeAspect="1"/>
          </p:cNvPicPr>
          <p:nvPr/>
        </p:nvPicPr>
        <p:blipFill>
          <a:blip r:embed="rId4"/>
          <a:stretch>
            <a:fillRect/>
          </a:stretch>
        </p:blipFill>
        <p:spPr>
          <a:xfrm>
            <a:off x="7453728" y="5623560"/>
            <a:ext cx="1094543" cy="457200"/>
          </a:xfrm>
          <a:prstGeom prst="rect">
            <a:avLst/>
          </a:prstGeom>
        </p:spPr>
      </p:pic>
      <p:sp>
        <p:nvSpPr>
          <p:cNvPr id="124" name="TextBox 123"/>
          <p:cNvSpPr txBox="1"/>
          <p:nvPr/>
        </p:nvSpPr>
        <p:spPr>
          <a:xfrm>
            <a:off x="7040880" y="6126480"/>
            <a:ext cx="192024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Databricks SQL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Lưu theo dòng, lưu theo cột và file Parquet</a:t>
            </a:r>
            <a:endParaRPr b="1" i="0" sz="3400" u="none" cap="none" strike="noStrike">
              <a:solidFill>
                <a:srgbClr val="C55A11"/>
              </a:solidFill>
              <a:latin typeface="Times New Roman"/>
              <a:ea typeface="Times New Roman"/>
              <a:cs typeface="Times New Roman"/>
              <a:sym typeface="Times New Roman"/>
            </a:endParaRPr>
          </a:p>
        </p:txBody>
      </p:sp>
      <p:pic>
        <p:nvPicPr>
          <p:cNvPr id="117" name="Picture 116" descr="fig3.png"/>
          <p:cNvPicPr>
            <a:picLocks noChangeAspect="1"/>
          </p:cNvPicPr>
          <p:nvPr/>
        </p:nvPicPr>
        <p:blipFill>
          <a:blip r:embed="rId2"/>
          <a:stretch>
            <a:fillRect/>
          </a:stretch>
        </p:blipFill>
        <p:spPr>
          <a:xfrm>
            <a:off x="411480" y="1274697"/>
            <a:ext cx="7315200" cy="3577086"/>
          </a:xfrm>
          <a:prstGeom prst="rect">
            <a:avLst/>
          </a:prstGeom>
        </p:spPr>
      </p:pic>
      <p:pic>
        <p:nvPicPr>
          <p:cNvPr id="118" name="Picture 117" descr="parquet.png"/>
          <p:cNvPicPr>
            <a:picLocks noChangeAspect="1"/>
          </p:cNvPicPr>
          <p:nvPr/>
        </p:nvPicPr>
        <p:blipFill>
          <a:blip r:embed="rId3"/>
          <a:stretch>
            <a:fillRect/>
          </a:stretch>
        </p:blipFill>
        <p:spPr>
          <a:xfrm>
            <a:off x="8710127" y="1051560"/>
            <a:ext cx="2239346" cy="457200"/>
          </a:xfrm>
          <a:prstGeom prst="rect">
            <a:avLst/>
          </a:prstGeom>
        </p:spPr>
      </p:pic>
      <p:sp>
        <p:nvSpPr>
          <p:cNvPr id="119" name="TextBox 118"/>
          <p:cNvSpPr txBox="1"/>
          <p:nvPr/>
        </p:nvSpPr>
        <p:spPr>
          <a:xfrm>
            <a:off x="7863840" y="1737360"/>
            <a:ext cx="3931920" cy="4023360"/>
          </a:xfrm>
          <a:prstGeom prst="rect">
            <a:avLst/>
          </a:prstGeom>
          <a:noFill/>
        </p:spPr>
        <p:txBody>
          <a:bodyPr wrap="square" anchor="t" lIns="45720" rIns="45720" tIns="27432" bIns="27432">
            <a:spAutoFit/>
          </a:bodyPr>
          <a:lstStyle/>
          <a:p>
            <a:pPr marL="285750" indent="-285750">
              <a:spcAft>
                <a:spcPts val="400"/>
              </a:spcAft>
              <a:buClr>
                <a:srgbClr val="0070C0"/>
              </a:buClr>
              <a:buSzPts val="1600"/>
              <a:buFont typeface="Noto Sans Symbols"/>
              <a:buChar char="❖"/>
            </a:pPr>
            <a:r>
              <a:rPr sz="1500" b="0" i="0">
                <a:solidFill>
                  <a:srgbClr val="1F1F1F"/>
                </a:solidFill>
                <a:latin typeface="Times New Roman"/>
                <a:ea typeface="Times New Roman"/>
                <a:cs typeface="Times New Roman"/>
              </a:rPr>
              <a:t>Cùng một bảng, lưu theo cột đặt các giá trị cùng cột cạnh nhau: đọc ít hơn, nén tốt hơn</a:t>
            </a:r>
          </a:p>
          <a:p>
            <a:pPr marL="285750" indent="-285750">
              <a:spcAft>
                <a:spcPts val="400"/>
              </a:spcAft>
              <a:buClr>
                <a:srgbClr val="0070C0"/>
              </a:buClr>
              <a:buSzPts val="1600"/>
              <a:buFont typeface="Noto Sans Symbols"/>
              <a:buChar char="❖"/>
            </a:pPr>
            <a:r>
              <a:rPr sz="1500" b="0" i="0">
                <a:solidFill>
                  <a:srgbClr val="1F1F1F"/>
                </a:solidFill>
                <a:latin typeface="Times New Roman"/>
                <a:ea typeface="Times New Roman"/>
                <a:cs typeface="Times New Roman"/>
              </a:rPr>
              <a:t>File Parquet = nhiều row group, mỗi row group có một column chunk cho từng cột</a:t>
            </a:r>
          </a:p>
          <a:p>
            <a:pPr marL="285750" indent="-285750">
              <a:spcAft>
                <a:spcPts val="400"/>
              </a:spcAft>
              <a:buClr>
                <a:srgbClr val="0070C0"/>
              </a:buClr>
              <a:buSzPts val="1600"/>
              <a:buFont typeface="Noto Sans Symbols"/>
              <a:buChar char="❖"/>
            </a:pPr>
            <a:r>
              <a:rPr sz="1500" b="0" i="0">
                <a:solidFill>
                  <a:srgbClr val="1F1F1F"/>
                </a:solidFill>
                <a:latin typeface="Times New Roman"/>
                <a:ea typeface="Times New Roman"/>
                <a:cs typeface="Times New Roman"/>
              </a:rPr>
              <a:t>Footer giữ schema và min/max, null count của từng chunk</a:t>
            </a:r>
          </a:p>
          <a:p>
            <a:pPr marL="285750" indent="-285750">
              <a:spcAft>
                <a:spcPts val="400"/>
              </a:spcAft>
              <a:buClr>
                <a:srgbClr val="0070C0"/>
              </a:buClr>
              <a:buSzPts val="1600"/>
              <a:buFont typeface="Noto Sans Symbols"/>
              <a:buChar char="❖"/>
            </a:pPr>
            <a:r>
              <a:rPr sz="1500" b="1" i="0">
                <a:solidFill>
                  <a:srgbClr val="1F1F1F"/>
                </a:solidFill>
                <a:latin typeface="Times New Roman"/>
                <a:ea typeface="Times New Roman"/>
                <a:cs typeface="Times New Roman"/>
              </a:rPr>
              <a:t>Projection pushdown</a:t>
            </a:r>
            <a:r>
              <a:rPr sz="1500" b="0" i="0">
                <a:solidFill>
                  <a:srgbClr val="1F1F1F"/>
                </a:solidFill>
                <a:latin typeface="Times New Roman"/>
                <a:ea typeface="Times New Roman"/>
                <a:cs typeface="Times New Roman"/>
              </a:rPr>
              <a:t>: chỉ đọc cột cần</a:t>
            </a:r>
          </a:p>
          <a:p>
            <a:pPr marL="285750" indent="-285750">
              <a:spcAft>
                <a:spcPts val="400"/>
              </a:spcAft>
              <a:buClr>
                <a:srgbClr val="0070C0"/>
              </a:buClr>
              <a:buSzPts val="1600"/>
              <a:buFont typeface="Noto Sans Symbols"/>
              <a:buChar char="❖"/>
            </a:pPr>
            <a:r>
              <a:rPr sz="1500" b="1" i="0">
                <a:solidFill>
                  <a:srgbClr val="1F1F1F"/>
                </a:solidFill>
                <a:latin typeface="Times New Roman"/>
                <a:ea typeface="Times New Roman"/>
                <a:cs typeface="Times New Roman"/>
              </a:rPr>
              <a:t>Predicate pushdown</a:t>
            </a:r>
            <a:r>
              <a:rPr sz="1500" b="0" i="0">
                <a:solidFill>
                  <a:srgbClr val="1F1F1F"/>
                </a:solidFill>
                <a:latin typeface="Times New Roman"/>
                <a:ea typeface="Times New Roman"/>
                <a:cs typeface="Times New Roman"/>
              </a:rPr>
              <a:t>: bỏ row group có min/max không thỏa WHERE</a:t>
            </a:r>
          </a:p>
        </p:txBody>
      </p:sp>
      <p:sp>
        <p:nvSpPr>
          <p:cNvPr id="120" name="Rectangle 119"/>
          <p:cNvSpPr/>
          <p:nvPr/>
        </p:nvSpPr>
        <p:spPr>
          <a:xfrm>
            <a:off x="411480" y="5212080"/>
            <a:ext cx="11369040" cy="1234440"/>
          </a:xfrm>
          <a:prstGeom prst="rect">
            <a:avLst/>
          </a:prstGeom>
          <a:solidFill>
            <a:srgbClr val="F4F4F4"/>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r>
              <a:rPr sz="1200" b="0" i="0">
                <a:solidFill>
                  <a:srgbClr val="1F1F1F"/>
                </a:solidFill>
                <a:latin typeface="Courier New"/>
                <a:ea typeface="Courier New"/>
                <a:cs typeface="Courier New"/>
              </a:rPr>
              <a:t>pf = pq.ParquetFile("yellow_tripdata_2023-01.parquet")</a:t>
            </a:r>
          </a:p>
          <a:p>
            <a:pPr algn="l"/>
            <a:r>
              <a:rPr sz="1200" b="0" i="0">
                <a:solidFill>
                  <a:srgbClr val="538135"/>
                </a:solidFill>
                <a:latin typeface="Courier New"/>
                <a:ea typeface="Courier New"/>
                <a:cs typeface="Courier New"/>
              </a:rPr>
              <a:t># Số dòng: 3,066,766 | Số cột: 19 | Số row group: 1</a:t>
            </a:r>
          </a:p>
          <a:p>
            <a:pPr algn="l"/>
            <a:r>
              <a:rPr sz="1200" b="0" i="0">
                <a:solidFill>
                  <a:srgbClr val="538135"/>
                </a:solidFill>
                <a:latin typeface="Courier New"/>
                <a:ea typeface="Courier New"/>
                <a:cs typeface="Courier New"/>
              </a:rPr>
              <a:t># fare_amount     3.1 MB  min=-900.0  max=1160.1</a:t>
            </a:r>
          </a:p>
          <a:p>
            <a:pPr algn="l"/>
            <a:r>
              <a:rPr sz="1200" b="0" i="0">
                <a:solidFill>
                  <a:srgbClr val="538135"/>
                </a:solidFill>
                <a:latin typeface="Courier New"/>
                <a:ea typeface="Courier New"/>
                <a:cs typeface="Courier New"/>
              </a:rPr>
              <a:t># trip_distance   4.3 MB  min=-0.0    max=258928.15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Schema-on-write và ba trường phái mô hình hóa</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11369040" cy="128016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700" b="1" i="0">
                <a:solidFill>
                  <a:srgbClr val="1F1F1F"/>
                </a:solidFill>
                <a:latin typeface="Times New Roman"/>
                <a:ea typeface="Times New Roman"/>
                <a:cs typeface="Times New Roman"/>
              </a:rPr>
              <a:t>Schema-on-write</a:t>
            </a:r>
            <a:r>
              <a:rPr sz="1700" b="0" i="0">
                <a:solidFill>
                  <a:srgbClr val="1F1F1F"/>
                </a:solidFill>
                <a:latin typeface="Times New Roman"/>
                <a:ea typeface="Times New Roman"/>
                <a:cs typeface="Times New Roman"/>
              </a:rPr>
              <a:t>: khai báo bảng trước bằng CREATE TABLE, dòng sai kiểu bị từ chối khi nạp</a:t>
            </a:r>
          </a:p>
          <a:p>
            <a:pPr marL="571500" indent="-228600">
              <a:spcAft>
                <a:spcPts val="600"/>
              </a:spcAft>
              <a:buClr>
                <a:srgbClr val="595959"/>
              </a:buClr>
              <a:buFont typeface="Arial"/>
              <a:buChar char="•"/>
            </a:pPr>
            <a:r>
              <a:rPr sz="1500" b="0" i="0">
                <a:solidFill>
                  <a:srgbClr val="1F1F1F"/>
                </a:solidFill>
                <a:latin typeface="Times New Roman"/>
                <a:ea typeface="Times New Roman"/>
                <a:cs typeface="Times New Roman"/>
              </a:rPr>
              <a:t>Phải thiết kế schema trước khi có dữ liệu; đổi lại dữ liệu trong kho luôn đúng kiểu</a:t>
            </a:r>
          </a:p>
        </p:txBody>
      </p:sp>
      <p:sp>
        <p:nvSpPr>
          <p:cNvPr id="118" name="Rounded Rectangle 117"/>
          <p:cNvSpPr/>
          <p:nvPr/>
        </p:nvSpPr>
        <p:spPr>
          <a:xfrm>
            <a:off x="411480" y="2514600"/>
            <a:ext cx="3606800" cy="219456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TextBox 118"/>
          <p:cNvSpPr txBox="1"/>
          <p:nvPr/>
        </p:nvSpPr>
        <p:spPr>
          <a:xfrm>
            <a:off x="502920" y="2587752"/>
            <a:ext cx="3423920" cy="365760"/>
          </a:xfrm>
          <a:prstGeom prst="rect">
            <a:avLst/>
          </a:prstGeom>
          <a:noFill/>
        </p:spPr>
        <p:txBody>
          <a:bodyPr wrap="square" anchor="t" lIns="45720" rIns="45720" tIns="27432" bIns="27432">
            <a:spAutoFit/>
          </a:bodyPr>
          <a:lstStyle/>
          <a:p>
            <a:pPr algn="l"/>
            <a:r>
              <a:rPr sz="1600" b="1" i="0">
                <a:solidFill>
                  <a:srgbClr val="C55A11"/>
                </a:solidFill>
                <a:latin typeface="Times New Roman"/>
                <a:ea typeface="Times New Roman"/>
                <a:cs typeface="Times New Roman"/>
              </a:rPr>
              <a:t>Inmon (3NF)</a:t>
            </a:r>
          </a:p>
        </p:txBody>
      </p:sp>
      <p:sp>
        <p:nvSpPr>
          <p:cNvPr id="120" name="TextBox 119"/>
          <p:cNvSpPr txBox="1"/>
          <p:nvPr/>
        </p:nvSpPr>
        <p:spPr>
          <a:xfrm>
            <a:off x="502920" y="2971800"/>
            <a:ext cx="3423920" cy="1691640"/>
          </a:xfrm>
          <a:prstGeom prst="rect">
            <a:avLst/>
          </a:prstGeom>
          <a:noFill/>
        </p:spPr>
        <p:txBody>
          <a:bodyPr wrap="square" anchor="t" lIns="45720" rIns="45720" tIns="27432" bIns="27432">
            <a:spAutoFit/>
          </a:bodyPr>
          <a:lstStyle/>
          <a:p>
            <a:pPr>
              <a:spcAft>
                <a:spcPts val="300"/>
              </a:spcAft>
            </a:pPr>
            <a:r>
              <a:rPr sz="1400" b="0" i="0">
                <a:solidFill>
                  <a:srgbClr val="1F1F1F"/>
                </a:solidFill>
                <a:latin typeface="Times New Roman"/>
                <a:ea typeface="Times New Roman"/>
                <a:cs typeface="Times New Roman"/>
              </a:rPr>
              <a:t>Một enterprise data warehouse chuẩn hóa làm nguồn sự thật chung</a:t>
            </a:r>
          </a:p>
          <a:p>
            <a:pPr>
              <a:spcAft>
                <a:spcPts val="300"/>
              </a:spcAft>
            </a:pPr>
            <a:r>
              <a:rPr sz="1400" b="0" i="0">
                <a:solidFill>
                  <a:srgbClr val="1F1F1F"/>
                </a:solidFill>
                <a:latin typeface="Times New Roman"/>
                <a:ea typeface="Times New Roman"/>
                <a:cs typeface="Times New Roman"/>
              </a:rPr>
              <a:t>Tách data mart cho từng phòng ban</a:t>
            </a:r>
          </a:p>
          <a:p>
            <a:pPr>
              <a:spcAft>
                <a:spcPts val="300"/>
              </a:spcAft>
            </a:pPr>
            <a:r>
              <a:rPr sz="1400" b="0" i="0">
                <a:solidFill>
                  <a:srgbClr val="1F1F1F"/>
                </a:solidFill>
                <a:latin typeface="Times New Roman"/>
                <a:ea typeface="Times New Roman"/>
                <a:cs typeface="Times New Roman"/>
              </a:rPr>
              <a:t>Nhất quán, nhưng xây lâu</a:t>
            </a:r>
          </a:p>
        </p:txBody>
      </p:sp>
      <p:sp>
        <p:nvSpPr>
          <p:cNvPr id="121" name="Rounded Rectangle 120"/>
          <p:cNvSpPr/>
          <p:nvPr/>
        </p:nvSpPr>
        <p:spPr>
          <a:xfrm>
            <a:off x="4292600" y="2514600"/>
            <a:ext cx="3606800" cy="219456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4384040" y="2587752"/>
            <a:ext cx="3423920" cy="365760"/>
          </a:xfrm>
          <a:prstGeom prst="rect">
            <a:avLst/>
          </a:prstGeom>
          <a:noFill/>
        </p:spPr>
        <p:txBody>
          <a:bodyPr wrap="square" anchor="t" lIns="45720" rIns="45720" tIns="27432" bIns="27432">
            <a:spAutoFit/>
          </a:bodyPr>
          <a:lstStyle/>
          <a:p>
            <a:pPr algn="l"/>
            <a:r>
              <a:rPr sz="1600" b="1" i="0">
                <a:solidFill>
                  <a:srgbClr val="C55A11"/>
                </a:solidFill>
                <a:latin typeface="Times New Roman"/>
                <a:ea typeface="Times New Roman"/>
                <a:cs typeface="Times New Roman"/>
              </a:rPr>
              <a:t>Kimball (Star schema)</a:t>
            </a:r>
          </a:p>
        </p:txBody>
      </p:sp>
      <p:sp>
        <p:nvSpPr>
          <p:cNvPr id="123" name="TextBox 122"/>
          <p:cNvSpPr txBox="1"/>
          <p:nvPr/>
        </p:nvSpPr>
        <p:spPr>
          <a:xfrm>
            <a:off x="4384040" y="2971800"/>
            <a:ext cx="3423920" cy="1691640"/>
          </a:xfrm>
          <a:prstGeom prst="rect">
            <a:avLst/>
          </a:prstGeom>
          <a:noFill/>
        </p:spPr>
        <p:txBody>
          <a:bodyPr wrap="square" anchor="t" lIns="45720" rIns="45720" tIns="27432" bIns="27432">
            <a:spAutoFit/>
          </a:bodyPr>
          <a:lstStyle/>
          <a:p>
            <a:pPr>
              <a:spcAft>
                <a:spcPts val="300"/>
              </a:spcAft>
            </a:pPr>
            <a:r>
              <a:rPr sz="1400" b="0" i="0">
                <a:solidFill>
                  <a:srgbClr val="1F1F1F"/>
                </a:solidFill>
                <a:latin typeface="Times New Roman"/>
                <a:ea typeface="Times New Roman"/>
                <a:cs typeface="Times New Roman"/>
              </a:rPr>
              <a:t>Xây theo từng quy trình nghiệp vụ</a:t>
            </a:r>
          </a:p>
          <a:p>
            <a:pPr>
              <a:spcAft>
                <a:spcPts val="300"/>
              </a:spcAft>
            </a:pPr>
            <a:r>
              <a:rPr sz="1400" b="0" i="0">
                <a:solidFill>
                  <a:srgbClr val="1F1F1F"/>
                </a:solidFill>
                <a:latin typeface="Times New Roman"/>
                <a:ea typeface="Times New Roman"/>
                <a:cs typeface="Times New Roman"/>
              </a:rPr>
              <a:t>Fact table + dimension table</a:t>
            </a:r>
          </a:p>
          <a:p>
            <a:pPr>
              <a:spcAft>
                <a:spcPts val="300"/>
              </a:spcAft>
            </a:pPr>
            <a:r>
              <a:rPr sz="1400" b="0" i="0">
                <a:solidFill>
                  <a:srgbClr val="1F1F1F"/>
                </a:solidFill>
                <a:latin typeface="Times New Roman"/>
                <a:ea typeface="Times New Roman"/>
                <a:cs typeface="Times New Roman"/>
              </a:rPr>
              <a:t>Dimension dùng chung (conformed) giữa các mart</a:t>
            </a:r>
          </a:p>
        </p:txBody>
      </p:sp>
      <p:sp>
        <p:nvSpPr>
          <p:cNvPr id="124" name="Rounded Rectangle 123"/>
          <p:cNvSpPr/>
          <p:nvPr/>
        </p:nvSpPr>
        <p:spPr>
          <a:xfrm>
            <a:off x="8173720" y="2514600"/>
            <a:ext cx="3606800" cy="219456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TextBox 124"/>
          <p:cNvSpPr txBox="1"/>
          <p:nvPr/>
        </p:nvSpPr>
        <p:spPr>
          <a:xfrm>
            <a:off x="8265160" y="2587752"/>
            <a:ext cx="3423920" cy="365760"/>
          </a:xfrm>
          <a:prstGeom prst="rect">
            <a:avLst/>
          </a:prstGeom>
          <a:noFill/>
        </p:spPr>
        <p:txBody>
          <a:bodyPr wrap="square" anchor="t" lIns="45720" rIns="45720" tIns="27432" bIns="27432">
            <a:spAutoFit/>
          </a:bodyPr>
          <a:lstStyle/>
          <a:p>
            <a:pPr algn="l"/>
            <a:r>
              <a:rPr sz="1600" b="1" i="0">
                <a:solidFill>
                  <a:srgbClr val="C55A11"/>
                </a:solidFill>
                <a:latin typeface="Times New Roman"/>
                <a:ea typeface="Times New Roman"/>
                <a:cs typeface="Times New Roman"/>
              </a:rPr>
              <a:t>Data Vault 2.0</a:t>
            </a:r>
          </a:p>
        </p:txBody>
      </p:sp>
      <p:sp>
        <p:nvSpPr>
          <p:cNvPr id="126" name="TextBox 125"/>
          <p:cNvSpPr txBox="1"/>
          <p:nvPr/>
        </p:nvSpPr>
        <p:spPr>
          <a:xfrm>
            <a:off x="8265160" y="2971800"/>
            <a:ext cx="3423920" cy="1691640"/>
          </a:xfrm>
          <a:prstGeom prst="rect">
            <a:avLst/>
          </a:prstGeom>
          <a:noFill/>
        </p:spPr>
        <p:txBody>
          <a:bodyPr wrap="square" anchor="t" lIns="45720" rIns="45720" tIns="27432" bIns="27432">
            <a:spAutoFit/>
          </a:bodyPr>
          <a:lstStyle/>
          <a:p>
            <a:pPr>
              <a:spcAft>
                <a:spcPts val="300"/>
              </a:spcAft>
            </a:pPr>
            <a:r>
              <a:rPr sz="1400" b="0" i="0">
                <a:solidFill>
                  <a:srgbClr val="1F1F1F"/>
                </a:solidFill>
                <a:latin typeface="Times New Roman"/>
                <a:ea typeface="Times New Roman"/>
                <a:cs typeface="Times New Roman"/>
              </a:rPr>
              <a:t>Hub (khóa nghiệp vụ), Link (quan hệ), Satellite (thuộc tính kèm lịch sử)</a:t>
            </a:r>
          </a:p>
          <a:p>
            <a:pPr>
              <a:spcAft>
                <a:spcPts val="300"/>
              </a:spcAft>
            </a:pPr>
            <a:r>
              <a:rPr sz="1400" b="0" i="0">
                <a:solidFill>
                  <a:srgbClr val="1F1F1F"/>
                </a:solidFill>
                <a:latin typeface="Times New Roman"/>
                <a:ea typeface="Times New Roman"/>
                <a:cs typeface="Times New Roman"/>
              </a:rPr>
              <a:t>Hợp khi tích hợp nhiều nguồn và cần lưu vết đầy đủ</a:t>
            </a:r>
          </a:p>
        </p:txBody>
      </p:sp>
      <p:sp>
        <p:nvSpPr>
          <p:cNvPr id="127" name="TextBox 126"/>
          <p:cNvSpPr txBox="1"/>
          <p:nvPr/>
        </p:nvSpPr>
        <p:spPr>
          <a:xfrm>
            <a:off x="411480" y="4937760"/>
            <a:ext cx="11369040" cy="548640"/>
          </a:xfrm>
          <a:prstGeom prst="rect">
            <a:avLst/>
          </a:prstGeom>
          <a:noFill/>
        </p:spPr>
        <p:txBody>
          <a:bodyPr wrap="square" anchor="t" lIns="45720" rIns="45720" tIns="27432" bIns="27432">
            <a:spAutoFit/>
          </a:bodyPr>
          <a:lstStyle/>
          <a:p>
            <a:pPr algn="l"/>
            <a:r>
              <a:rPr sz="1500" b="1" i="1">
                <a:solidFill>
                  <a:srgbClr val="538135"/>
                </a:solidFill>
                <a:latin typeface="Times New Roman"/>
                <a:ea typeface="Times New Roman"/>
                <a:cs typeface="Times New Roman"/>
              </a:rPr>
              <a:t>Trong bài: Silver theo hướng Inmon (thực thể đã chuẩn hóa), Gold theo Kimball (star schema cho BI).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Star schema theo Kimball cho dữ liệu taxi</a:t>
            </a:r>
            <a:endParaRPr b="1" i="0" sz="3400" u="none" cap="none" strike="noStrike">
              <a:solidFill>
                <a:srgbClr val="C55A11"/>
              </a:solidFill>
              <a:latin typeface="Times New Roman"/>
              <a:ea typeface="Times New Roman"/>
              <a:cs typeface="Times New Roman"/>
              <a:sym typeface="Times New Roman"/>
            </a:endParaRPr>
          </a:p>
        </p:txBody>
      </p:sp>
      <p:pic>
        <p:nvPicPr>
          <p:cNvPr id="117" name="Picture 116" descr="fig4.png"/>
          <p:cNvPicPr>
            <a:picLocks noChangeAspect="1"/>
          </p:cNvPicPr>
          <p:nvPr/>
        </p:nvPicPr>
        <p:blipFill>
          <a:blip r:embed="rId2"/>
          <a:stretch>
            <a:fillRect/>
          </a:stretch>
        </p:blipFill>
        <p:spPr>
          <a:xfrm>
            <a:off x="411480" y="1404070"/>
            <a:ext cx="6949440" cy="1855300"/>
          </a:xfrm>
          <a:prstGeom prst="rect">
            <a:avLst/>
          </a:prstGeom>
        </p:spPr>
      </p:pic>
      <p:sp>
        <p:nvSpPr>
          <p:cNvPr id="118" name="TextBox 117"/>
          <p:cNvSpPr txBox="1"/>
          <p:nvPr/>
        </p:nvSpPr>
        <p:spPr>
          <a:xfrm>
            <a:off x="7589520" y="1051560"/>
            <a:ext cx="4206240" cy="2651760"/>
          </a:xfrm>
          <a:prstGeom prst="rect">
            <a:avLst/>
          </a:prstGeom>
          <a:noFill/>
        </p:spPr>
        <p:txBody>
          <a:bodyPr wrap="square" anchor="t" lIns="45720" rIns="45720" tIns="27432" bIns="27432">
            <a:spAutoFit/>
          </a:bodyPr>
          <a:lstStyle/>
          <a:p>
            <a:pPr marL="285750" indent="-285750">
              <a:spcAft>
                <a:spcPts val="300"/>
              </a:spcAft>
              <a:buClr>
                <a:srgbClr val="0070C0"/>
              </a:buClr>
              <a:buSzPts val="1600"/>
              <a:buFont typeface="Noto Sans Symbols"/>
              <a:buChar char="❖"/>
            </a:pPr>
            <a:r>
              <a:rPr sz="1600" b="1" i="0">
                <a:solidFill>
                  <a:srgbClr val="0070C0"/>
                </a:solidFill>
                <a:latin typeface="Times New Roman"/>
                <a:ea typeface="Times New Roman"/>
                <a:cs typeface="Times New Roman"/>
              </a:rPr>
              <a:t>Bốn bước thiết kế của Kimball</a:t>
            </a:r>
          </a:p>
          <a:p>
            <a:pPr marL="571500" indent="-228600">
              <a:spcAft>
                <a:spcPts val="300"/>
              </a:spcAft>
              <a:buClr>
                <a:srgbClr val="595959"/>
              </a:buClr>
              <a:buFont typeface="Arial"/>
              <a:buChar char="•"/>
            </a:pPr>
            <a:r>
              <a:rPr sz="1400" b="1" i="0">
                <a:solidFill>
                  <a:srgbClr val="1F1F1F"/>
                </a:solidFill>
                <a:latin typeface="Times New Roman"/>
                <a:ea typeface="Times New Roman"/>
                <a:cs typeface="Times New Roman"/>
              </a:rPr>
              <a:t>Quy trình nghiệp vụ</a:t>
            </a:r>
            <a:r>
              <a:rPr sz="1400" b="0" i="0">
                <a:solidFill>
                  <a:srgbClr val="1F1F1F"/>
                </a:solidFill>
                <a:latin typeface="Times New Roman"/>
                <a:ea typeface="Times New Roman"/>
                <a:cs typeface="Times New Roman"/>
              </a:rPr>
              <a:t>: chuyến xe hoàn thành</a:t>
            </a:r>
          </a:p>
          <a:p>
            <a:pPr marL="571500" indent="-228600">
              <a:spcAft>
                <a:spcPts val="300"/>
              </a:spcAft>
              <a:buClr>
                <a:srgbClr val="595959"/>
              </a:buClr>
              <a:buFont typeface="Arial"/>
              <a:buChar char="•"/>
            </a:pPr>
            <a:r>
              <a:rPr sz="1400" b="1" i="0">
                <a:solidFill>
                  <a:srgbClr val="1F1F1F"/>
                </a:solidFill>
                <a:latin typeface="Times New Roman"/>
                <a:ea typeface="Times New Roman"/>
                <a:cs typeface="Times New Roman"/>
              </a:rPr>
              <a:t>Grain</a:t>
            </a:r>
            <a:r>
              <a:rPr sz="1400" b="0" i="0">
                <a:solidFill>
                  <a:srgbClr val="1F1F1F"/>
                </a:solidFill>
                <a:latin typeface="Times New Roman"/>
                <a:ea typeface="Times New Roman"/>
                <a:cs typeface="Times New Roman"/>
              </a:rPr>
              <a:t>: một dòng fact = một chuyến xe</a:t>
            </a:r>
          </a:p>
          <a:p>
            <a:pPr marL="571500" indent="-228600">
              <a:spcAft>
                <a:spcPts val="300"/>
              </a:spcAft>
              <a:buClr>
                <a:srgbClr val="595959"/>
              </a:buClr>
              <a:buFont typeface="Arial"/>
              <a:buChar char="•"/>
            </a:pPr>
            <a:r>
              <a:rPr sz="1400" b="1" i="0">
                <a:solidFill>
                  <a:srgbClr val="1F1F1F"/>
                </a:solidFill>
                <a:latin typeface="Times New Roman"/>
                <a:ea typeface="Times New Roman"/>
                <a:cs typeface="Times New Roman"/>
              </a:rPr>
              <a:t>Dimension</a:t>
            </a:r>
            <a:r>
              <a:rPr sz="1400" b="0" i="0">
                <a:solidFill>
                  <a:srgbClr val="1F1F1F"/>
                </a:solidFill>
                <a:latin typeface="Times New Roman"/>
                <a:ea typeface="Times New Roman"/>
                <a:cs typeface="Times New Roman"/>
              </a:rPr>
              <a:t>: hãng, cách thanh toán, ngày đón</a:t>
            </a:r>
          </a:p>
          <a:p>
            <a:pPr marL="571500" indent="-228600">
              <a:spcAft>
                <a:spcPts val="300"/>
              </a:spcAft>
              <a:buClr>
                <a:srgbClr val="595959"/>
              </a:buClr>
              <a:buFont typeface="Arial"/>
              <a:buChar char="•"/>
            </a:pPr>
            <a:r>
              <a:rPr sz="1400" b="1" i="0">
                <a:solidFill>
                  <a:srgbClr val="1F1F1F"/>
                </a:solidFill>
                <a:latin typeface="Times New Roman"/>
                <a:ea typeface="Times New Roman"/>
                <a:cs typeface="Times New Roman"/>
              </a:rPr>
              <a:t>Fact</a:t>
            </a:r>
            <a:r>
              <a:rPr sz="1400" b="0" i="0">
                <a:solidFill>
                  <a:srgbClr val="1F1F1F"/>
                </a:solidFill>
                <a:latin typeface="Times New Roman"/>
                <a:ea typeface="Times New Roman"/>
                <a:cs typeface="Times New Roman"/>
              </a:rPr>
              <a:t>: quãng đường, thời lượng, cước, tip, tổng tiền</a:t>
            </a:r>
          </a:p>
        </p:txBody>
      </p:sp>
      <p:sp>
        <p:nvSpPr>
          <p:cNvPr id="119" name="TextBox 118"/>
          <p:cNvSpPr txBox="1"/>
          <p:nvPr/>
        </p:nvSpPr>
        <p:spPr>
          <a:xfrm>
            <a:off x="411480" y="3794760"/>
            <a:ext cx="11369040" cy="365760"/>
          </a:xfrm>
          <a:prstGeom prst="rect">
            <a:avLst/>
          </a:prstGeom>
          <a:noFill/>
        </p:spPr>
        <p:txBody>
          <a:bodyPr wrap="square" anchor="t" lIns="45720" rIns="45720" tIns="27432" bIns="27432">
            <a:spAutoFit/>
          </a:bodyPr>
          <a:lstStyle/>
          <a:p>
            <a:pPr algn="l"/>
            <a:r>
              <a:rPr sz="1700" b="1" i="0">
                <a:solidFill>
                  <a:srgbClr val="0070C0"/>
                </a:solidFill>
                <a:latin typeface="Times New Roman"/>
                <a:ea typeface="Times New Roman"/>
                <a:cs typeface="Times New Roman"/>
              </a:rPr>
              <a:t>Vì sao cần surrogate key và SCD Type 2?</a:t>
            </a:r>
          </a:p>
        </p:txBody>
      </p:sp>
      <p:graphicFrame>
        <p:nvGraphicFramePr>
          <p:cNvPr id="120" name="Table 119"/>
          <p:cNvGraphicFramePr>
            <a:graphicFrameLocks noGrp="1"/>
          </p:cNvGraphicFramePr>
          <p:nvPr/>
        </p:nvGraphicFramePr>
        <p:xfrm>
          <a:off x="411480" y="4206240"/>
          <a:ext cx="7223757" cy="1042416"/>
        </p:xfrm>
        <a:graphic>
          <a:graphicData uri="http://schemas.openxmlformats.org/drawingml/2006/table">
            <a:tbl>
              <a:tblPr firstRow="1" bandRow="1">
                <a:tableStyleId>{5C22544A-7EE6-4342-B048-85BDC9FD1C3A}</a:tableStyleId>
              </a:tblPr>
              <a:tblGrid>
                <a:gridCol w="999030"/>
                <a:gridCol w="922182"/>
                <a:gridCol w="1998061"/>
                <a:gridCol w="1152727"/>
                <a:gridCol w="1152727"/>
                <a:gridCol w="999030"/>
              </a:tblGrid>
              <a:tr h="347472">
                <a:tc>
                  <a:txBody>
                    <a:bodyPr wrap="square"/>
                    <a:lstStyle/>
                    <a:p>
                      <a:r>
                        <a:rPr sz="1200" b="1" i="0">
                          <a:solidFill>
                            <a:srgbClr val="FFFFFF"/>
                          </a:solidFill>
                          <a:latin typeface="Times New Roman"/>
                          <a:ea typeface="Times New Roman"/>
                          <a:cs typeface="Times New Roman"/>
                        </a:rPr>
                        <a:t>vendor_key</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vendor_id</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vendor_name</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valid_from</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valid_to</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is_current</a:t>
                      </a:r>
                    </a:p>
                  </a:txBody>
                  <a:tcPr marL="73152" marR="73152" marT="27432" marB="27432" anchor="ctr">
                    <a:solidFill>
                      <a:srgbClr val="538135"/>
                    </a:solidFill>
                  </a:tcPr>
                </a:tc>
              </a:tr>
              <a:tr h="347472">
                <a:tc>
                  <a:txBody>
                    <a:bodyPr wrap="square"/>
                    <a:lstStyle/>
                    <a:p>
                      <a:r>
                        <a:rPr sz="1200" b="1" i="0">
                          <a:solidFill>
                            <a:srgbClr val="1F1F1F"/>
                          </a:solidFill>
                          <a:latin typeface="Times New Roman"/>
                          <a:ea typeface="Times New Roman"/>
                          <a:cs typeface="Times New Roman"/>
                        </a:rPr>
                        <a:t>11</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2</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VeriFone Inc.</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2009-01-01</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2023-06-30</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FALSE</a:t>
                      </a:r>
                    </a:p>
                  </a:txBody>
                  <a:tcPr marL="73152" marR="73152" marT="27432" marB="27432" anchor="ctr">
                    <a:solidFill>
                      <a:srgbClr val="FFFFFF"/>
                    </a:solidFill>
                  </a:tcPr>
                </a:tc>
              </a:tr>
              <a:tr h="347472">
                <a:tc>
                  <a:txBody>
                    <a:bodyPr wrap="square"/>
                    <a:lstStyle/>
                    <a:p>
                      <a:r>
                        <a:rPr sz="1200" b="1" i="0">
                          <a:solidFill>
                            <a:srgbClr val="1F1F1F"/>
                          </a:solidFill>
                          <a:latin typeface="Times New Roman"/>
                          <a:ea typeface="Times New Roman"/>
                          <a:cs typeface="Times New Roman"/>
                        </a:rPr>
                        <a:t>27</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2</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Curb Mobility, LLC</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2023-07-01</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9999-12-31</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TRUE</a:t>
                      </a:r>
                    </a:p>
                  </a:txBody>
                  <a:tcPr marL="73152" marR="73152" marT="27432" marB="27432" anchor="ctr">
                    <a:solidFill>
                      <a:srgbClr val="F7F2EC"/>
                    </a:solidFill>
                  </a:tcPr>
                </a:tc>
              </a:tr>
            </a:tbl>
          </a:graphicData>
        </a:graphic>
      </p:graphicFrame>
      <p:sp>
        <p:nvSpPr>
          <p:cNvPr id="121" name="TextBox 120"/>
          <p:cNvSpPr txBox="1"/>
          <p:nvPr/>
        </p:nvSpPr>
        <p:spPr>
          <a:xfrm>
            <a:off x="7863840" y="4160520"/>
            <a:ext cx="3931920" cy="1828800"/>
          </a:xfrm>
          <a:prstGeom prst="rect">
            <a:avLst/>
          </a:prstGeom>
          <a:noFill/>
        </p:spPr>
        <p:txBody>
          <a:bodyPr wrap="square" anchor="t" lIns="45720" rIns="45720" tIns="27432" bIns="27432">
            <a:spAutoFit/>
          </a:bodyPr>
          <a:lstStyle/>
          <a:p>
            <a:pPr algn="l"/>
            <a:r>
              <a:rPr sz="1300" b="0" i="0">
                <a:solidFill>
                  <a:srgbClr val="595959"/>
                </a:solidFill>
                <a:latin typeface="Times New Roman"/>
                <a:ea typeface="Times New Roman"/>
                <a:cs typeface="Times New Roman"/>
              </a:rPr>
              <a:t>Data dictionary 2018 của NYC TLC ghi mã 2 là VeriFone, bản 2025 ghi Curb Mobility. Cùng một mã nguồn ứng với hai dòng; chỉ surrogate key phân biệt được. Ngày hiệu lực ở đây chỉ minh họa.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Data Warehouse: ưu điểm và giới hạn</a:t>
            </a:r>
            <a:endParaRPr b="1" i="0" sz="3400" u="none" cap="none" strike="noStrike">
              <a:solidFill>
                <a:srgbClr val="C55A11"/>
              </a:solidFill>
              <a:latin typeface="Times New Roman"/>
              <a:ea typeface="Times New Roman"/>
              <a:cs typeface="Times New Roman"/>
              <a:sym typeface="Times New Roman"/>
            </a:endParaRPr>
          </a:p>
        </p:txBody>
      </p:sp>
      <p:sp>
        <p:nvSpPr>
          <p:cNvPr id="117" name="Rounded Rectangle 116"/>
          <p:cNvSpPr/>
          <p:nvPr/>
        </p:nvSpPr>
        <p:spPr>
          <a:xfrm>
            <a:off x="411480" y="1051560"/>
            <a:ext cx="5501640" cy="3291840"/>
          </a:xfrm>
          <a:prstGeom prst="roundRect">
            <a:avLst>
              <a:gd name="adj" fmla="val 8000"/>
            </a:avLst>
          </a:prstGeom>
          <a:solidFill>
            <a:srgbClr val="EEF4E8"/>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502920" y="1124712"/>
            <a:ext cx="5318760" cy="365760"/>
          </a:xfrm>
          <a:prstGeom prst="rect">
            <a:avLst/>
          </a:prstGeom>
          <a:noFill/>
        </p:spPr>
        <p:txBody>
          <a:bodyPr wrap="square" anchor="t" lIns="45720" rIns="45720" tIns="27432" bIns="27432">
            <a:spAutoFit/>
          </a:bodyPr>
          <a:lstStyle/>
          <a:p>
            <a:pPr algn="l"/>
            <a:r>
              <a:rPr sz="1600" b="1" i="0">
                <a:solidFill>
                  <a:srgbClr val="538135"/>
                </a:solidFill>
                <a:latin typeface="Times New Roman"/>
                <a:ea typeface="Times New Roman"/>
                <a:cs typeface="Times New Roman"/>
              </a:rPr>
              <a:t>Ưu điểm</a:t>
            </a:r>
          </a:p>
        </p:txBody>
      </p:sp>
      <p:sp>
        <p:nvSpPr>
          <p:cNvPr id="119" name="TextBox 118"/>
          <p:cNvSpPr txBox="1"/>
          <p:nvPr/>
        </p:nvSpPr>
        <p:spPr>
          <a:xfrm>
            <a:off x="502920" y="1508760"/>
            <a:ext cx="5318760" cy="2788920"/>
          </a:xfrm>
          <a:prstGeom prst="rect">
            <a:avLst/>
          </a:prstGeom>
          <a:noFill/>
        </p:spPr>
        <p:txBody>
          <a:bodyPr wrap="square" anchor="t" lIns="45720" rIns="45720" tIns="27432" bIns="27432">
            <a:spAutoFit/>
          </a:bodyPr>
          <a:lstStyle/>
          <a:p>
            <a:pPr>
              <a:spcAft>
                <a:spcPts val="300"/>
              </a:spcAft>
            </a:pPr>
            <a:r>
              <a:rPr sz="1500" b="0" i="0">
                <a:solidFill>
                  <a:srgbClr val="1F1F1F"/>
                </a:solidFill>
                <a:latin typeface="Times New Roman"/>
                <a:ea typeface="Times New Roman"/>
                <a:cs typeface="Times New Roman"/>
              </a:rPr>
              <a:t>Truy vấn SQL hiệu năng cao, nhiều người dùng đồng thời</a:t>
            </a:r>
          </a:p>
          <a:p>
            <a:pPr>
              <a:spcAft>
                <a:spcPts val="300"/>
              </a:spcAft>
            </a:pPr>
            <a:r>
              <a:rPr sz="1500" b="0" i="0">
                <a:solidFill>
                  <a:srgbClr val="1F1F1F"/>
                </a:solidFill>
                <a:latin typeface="Times New Roman"/>
                <a:ea typeface="Times New Roman"/>
                <a:cs typeface="Times New Roman"/>
              </a:rPr>
              <a:t>ACID có sẵn, dữ liệu luôn đúng kiểu</a:t>
            </a:r>
          </a:p>
          <a:p>
            <a:pPr>
              <a:spcAft>
                <a:spcPts val="300"/>
              </a:spcAft>
            </a:pPr>
            <a:r>
              <a:rPr sz="1500" b="0" i="0">
                <a:solidFill>
                  <a:srgbClr val="1F1F1F"/>
                </a:solidFill>
                <a:latin typeface="Times New Roman"/>
                <a:ea typeface="Times New Roman"/>
                <a:cs typeface="Times New Roman"/>
              </a:rPr>
              <a:t>Phân quyền chi tiết (bảng, cột, dòng)</a:t>
            </a:r>
          </a:p>
          <a:p>
            <a:pPr>
              <a:spcAft>
                <a:spcPts val="300"/>
              </a:spcAft>
            </a:pPr>
            <a:r>
              <a:rPr sz="1500" b="0" i="0">
                <a:solidFill>
                  <a:srgbClr val="1F1F1F"/>
                </a:solidFill>
                <a:latin typeface="Times New Roman"/>
                <a:ea typeface="Times New Roman"/>
                <a:cs typeface="Times New Roman"/>
              </a:rPr>
              <a:t>Vendor vận hành, bảo trì tự động</a:t>
            </a:r>
          </a:p>
        </p:txBody>
      </p:sp>
      <p:sp>
        <p:nvSpPr>
          <p:cNvPr id="120" name="Rounded Rectangle 119"/>
          <p:cNvSpPr/>
          <p:nvPr/>
        </p:nvSpPr>
        <p:spPr>
          <a:xfrm>
            <a:off x="6278880" y="1051560"/>
            <a:ext cx="5501640" cy="3291840"/>
          </a:xfrm>
          <a:prstGeom prst="roundRect">
            <a:avLst>
              <a:gd name="adj" fmla="val 8000"/>
            </a:avLst>
          </a:prstGeom>
          <a:solidFill>
            <a:srgbClr val="FBEAEA"/>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TextBox 120"/>
          <p:cNvSpPr txBox="1"/>
          <p:nvPr/>
        </p:nvSpPr>
        <p:spPr>
          <a:xfrm>
            <a:off x="6370320" y="1124712"/>
            <a:ext cx="5318760" cy="365760"/>
          </a:xfrm>
          <a:prstGeom prst="rect">
            <a:avLst/>
          </a:prstGeom>
          <a:noFill/>
        </p:spPr>
        <p:txBody>
          <a:bodyPr wrap="square" anchor="t" lIns="45720" rIns="45720" tIns="27432" bIns="27432">
            <a:spAutoFit/>
          </a:bodyPr>
          <a:lstStyle/>
          <a:p>
            <a:pPr algn="l"/>
            <a:r>
              <a:rPr sz="1600" b="1" i="0">
                <a:solidFill>
                  <a:srgbClr val="C00000"/>
                </a:solidFill>
                <a:latin typeface="Times New Roman"/>
                <a:ea typeface="Times New Roman"/>
                <a:cs typeface="Times New Roman"/>
              </a:rPr>
              <a:t>Giới hạn</a:t>
            </a:r>
          </a:p>
        </p:txBody>
      </p:sp>
      <p:sp>
        <p:nvSpPr>
          <p:cNvPr id="122" name="TextBox 121"/>
          <p:cNvSpPr txBox="1"/>
          <p:nvPr/>
        </p:nvSpPr>
        <p:spPr>
          <a:xfrm>
            <a:off x="6370320" y="1508760"/>
            <a:ext cx="5318760" cy="2788920"/>
          </a:xfrm>
          <a:prstGeom prst="rect">
            <a:avLst/>
          </a:prstGeom>
          <a:noFill/>
        </p:spPr>
        <p:txBody>
          <a:bodyPr wrap="square" anchor="t" lIns="45720" rIns="45720" tIns="27432" bIns="27432">
            <a:spAutoFit/>
          </a:bodyPr>
          <a:lstStyle/>
          <a:p>
            <a:pPr>
              <a:spcAft>
                <a:spcPts val="300"/>
              </a:spcAft>
            </a:pPr>
            <a:r>
              <a:rPr sz="1500" b="0" i="0">
                <a:solidFill>
                  <a:srgbClr val="1F1F1F"/>
                </a:solidFill>
                <a:latin typeface="Times New Roman"/>
                <a:ea typeface="Times New Roman"/>
                <a:cs typeface="Times New Roman"/>
              </a:rPr>
              <a:t>Chi phí lưu trữ và compute tăng nhanh ở hàng trăm TB</a:t>
            </a:r>
          </a:p>
          <a:p>
            <a:pPr>
              <a:spcAft>
                <a:spcPts val="300"/>
              </a:spcAft>
            </a:pPr>
            <a:r>
              <a:rPr sz="1500" b="0" i="0">
                <a:solidFill>
                  <a:srgbClr val="1F1F1F"/>
                </a:solidFill>
                <a:latin typeface="Times New Roman"/>
                <a:ea typeface="Times New Roman"/>
                <a:cs typeface="Times New Roman"/>
              </a:rPr>
              <a:t>Chủ yếu dữ liệu có cấu trúc; log, ảnh, âm thanh khó đưa vào</a:t>
            </a:r>
          </a:p>
          <a:p>
            <a:pPr>
              <a:spcAft>
                <a:spcPts val="300"/>
              </a:spcAft>
            </a:pPr>
            <a:r>
              <a:rPr sz="1500" b="0" i="0">
                <a:solidFill>
                  <a:srgbClr val="1F1F1F"/>
                </a:solidFill>
                <a:latin typeface="Times New Roman"/>
                <a:ea typeface="Times New Roman"/>
                <a:cs typeface="Times New Roman"/>
              </a:rPr>
              <a:t>Dữ liệu bị khóa trong định dạng riêng của vendor</a:t>
            </a:r>
          </a:p>
          <a:p>
            <a:pPr>
              <a:spcAft>
                <a:spcPts val="300"/>
              </a:spcAft>
            </a:pPr>
            <a:r>
              <a:rPr sz="1500" b="0" i="0">
                <a:solidFill>
                  <a:srgbClr val="1F1F1F"/>
                </a:solidFill>
                <a:latin typeface="Times New Roman"/>
                <a:ea typeface="Times New Roman"/>
                <a:cs typeface="Times New Roman"/>
              </a:rPr>
              <a:t>pandas, PyTorch phải kéo dữ liệu qua JDBC/ODBC, rất chậm khi dữ liệu lớn</a:t>
            </a:r>
          </a:p>
        </p:txBody>
      </p:sp>
      <p:sp>
        <p:nvSpPr>
          <p:cNvPr id="123" name="TextBox 122"/>
          <p:cNvSpPr txBox="1"/>
          <p:nvPr/>
        </p:nvSpPr>
        <p:spPr>
          <a:xfrm>
            <a:off x="411480" y="4663440"/>
            <a:ext cx="11369040" cy="548640"/>
          </a:xfrm>
          <a:prstGeom prst="rect">
            <a:avLst/>
          </a:prstGeom>
          <a:noFill/>
        </p:spPr>
        <p:txBody>
          <a:bodyPr wrap="square" anchor="t" lIns="45720" rIns="45720" tIns="27432" bIns="27432">
            <a:spAutoFit/>
          </a:bodyPr>
          <a:lstStyle/>
          <a:p>
            <a:pPr algn="ctr"/>
            <a:r>
              <a:rPr sz="1700" b="1" i="1">
                <a:solidFill>
                  <a:srgbClr val="538135"/>
                </a:solidFill>
                <a:latin typeface="Times New Roman"/>
                <a:ea typeface="Times New Roman"/>
                <a:cs typeface="Times New Roman"/>
              </a:rPr>
              <a:t>Mọi giới hạn đều bắt nguồn từ việc vendor sở hữu cả ba lớp: compute, catalog và storage.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34258"/>
          </a:xfrm>
          <a:prstGeom prst="rect">
            <a:avLst/>
          </a:prstGeom>
          <a:solidFill>
            <a:srgbClr val="538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5400" b="1" i="0">
                <a:solidFill>
                  <a:srgbClr val="FFFFFF"/>
                </a:solidFill>
                <a:latin typeface="Times New Roman"/>
                <a:ea typeface="Times New Roman"/>
                <a:cs typeface="Times New Roman"/>
              </a:rPr>
              <a:t>Outline</a:t>
            </a:r>
          </a:p>
        </p:txBody>
      </p:sp>
      <p:sp>
        <p:nvSpPr>
          <p:cNvPr id="3" name="Rounded Rectangle 2"/>
          <p:cNvSpPr/>
          <p:nvPr/>
        </p:nvSpPr>
        <p:spPr>
          <a:xfrm>
            <a:off x="876348" y="15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Giới thiệu</a:t>
            </a:r>
          </a:p>
        </p:txBody>
      </p:sp>
      <p:sp>
        <p:nvSpPr>
          <p:cNvPr id="4" name="Rounded Rectangle 3"/>
          <p:cNvSpPr/>
          <p:nvPr/>
        </p:nvSpPr>
        <p:spPr>
          <a:xfrm>
            <a:off x="609199" y="14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1</a:t>
            </a:r>
          </a:p>
        </p:txBody>
      </p:sp>
      <p:sp>
        <p:nvSpPr>
          <p:cNvPr id="5" name="Rounded Rectangle 4"/>
          <p:cNvSpPr/>
          <p:nvPr/>
        </p:nvSpPr>
        <p:spPr>
          <a:xfrm>
            <a:off x="876348" y="26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Warehouse</a:t>
            </a:r>
          </a:p>
        </p:txBody>
      </p:sp>
      <p:sp>
        <p:nvSpPr>
          <p:cNvPr id="6" name="Rounded Rectangle 5"/>
          <p:cNvSpPr/>
          <p:nvPr/>
        </p:nvSpPr>
        <p:spPr>
          <a:xfrm>
            <a:off x="609199" y="24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2</a:t>
            </a:r>
          </a:p>
        </p:txBody>
      </p:sp>
      <p:sp>
        <p:nvSpPr>
          <p:cNvPr id="7" name="Rounded Rectangle 6"/>
          <p:cNvSpPr/>
          <p:nvPr/>
        </p:nvSpPr>
        <p:spPr>
          <a:xfrm>
            <a:off x="876348" y="3650000"/>
            <a:ext cx="5400000" cy="780000"/>
          </a:xfrm>
          <a:prstGeom prst="roundRect">
            <a:avLst>
              <a:gd name="adj" fmla="val 8000"/>
            </a:avLst>
          </a:prstGeom>
          <a:solidFill>
            <a:srgbClr val="F4B081"/>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55A11"/>
                </a:solidFill>
                <a:latin typeface="Times New Roman"/>
                <a:ea typeface="Times New Roman"/>
                <a:cs typeface="Times New Roman"/>
              </a:rPr>
              <a:t>Data Lake</a:t>
            </a:r>
          </a:p>
        </p:txBody>
      </p:sp>
      <p:sp>
        <p:nvSpPr>
          <p:cNvPr id="8" name="Rounded Rectangle 7"/>
          <p:cNvSpPr/>
          <p:nvPr/>
        </p:nvSpPr>
        <p:spPr>
          <a:xfrm>
            <a:off x="609199" y="35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3</a:t>
            </a:r>
          </a:p>
        </p:txBody>
      </p:sp>
      <p:sp>
        <p:nvSpPr>
          <p:cNvPr id="9" name="Rounded Rectangle 8"/>
          <p:cNvSpPr/>
          <p:nvPr/>
        </p:nvSpPr>
        <p:spPr>
          <a:xfrm>
            <a:off x="876348" y="47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Lakehouse</a:t>
            </a:r>
          </a:p>
        </p:txBody>
      </p:sp>
      <p:sp>
        <p:nvSpPr>
          <p:cNvPr id="10" name="Rounded Rectangle 9"/>
          <p:cNvSpPr/>
          <p:nvPr/>
        </p:nvSpPr>
        <p:spPr>
          <a:xfrm>
            <a:off x="609199" y="45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4</a:t>
            </a:r>
          </a:p>
        </p:txBody>
      </p:sp>
      <p:sp>
        <p:nvSpPr>
          <p:cNvPr id="11" name="Rounded Rectangle 10"/>
          <p:cNvSpPr/>
          <p:nvPr/>
        </p:nvSpPr>
        <p:spPr>
          <a:xfrm>
            <a:off x="876348" y="57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Kiến trúc lai và thực hành</a:t>
            </a:r>
          </a:p>
        </p:txBody>
      </p:sp>
      <p:sp>
        <p:nvSpPr>
          <p:cNvPr id="12" name="Rounded Rectangle 11"/>
          <p:cNvSpPr/>
          <p:nvPr/>
        </p:nvSpPr>
        <p:spPr>
          <a:xfrm>
            <a:off x="609199" y="56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5</a:t>
            </a:r>
          </a:p>
        </p:txBody>
      </p:sp>
      <p:pic>
        <p:nvPicPr>
          <p:cNvPr id="13" name="Picture 12" descr="lake.jpg"/>
          <p:cNvPicPr>
            <a:picLocks noChangeAspect="1"/>
          </p:cNvPicPr>
          <p:nvPr/>
        </p:nvPicPr>
        <p:blipFill>
          <a:blip r:embed="rId2"/>
          <a:stretch>
            <a:fillRect/>
          </a:stretch>
        </p:blipFill>
        <p:spPr>
          <a:xfrm>
            <a:off x="6900000" y="2223151"/>
            <a:ext cx="4900000" cy="2753697"/>
          </a:xfrm>
          <a:prstGeom prst="rect">
            <a:avLst/>
          </a:prstGeom>
        </p:spPr>
      </p:pic>
      <p:sp>
        <p:nvSpPr>
          <p:cNvPr id="14" name="TextBox 13"/>
          <p:cNvSpPr txBox="1"/>
          <p:nvPr/>
        </p:nvSpPr>
        <p:spPr>
          <a:xfrm>
            <a:off x="6900000" y="5800000"/>
            <a:ext cx="4900000" cy="320040"/>
          </a:xfrm>
          <a:prstGeom prst="rect">
            <a:avLst/>
          </a:prstGeom>
          <a:noFill/>
        </p:spPr>
        <p:txBody>
          <a:bodyPr wrap="square" anchor="t" lIns="45720" rIns="45720" tIns="27432" bIns="27432">
            <a:spAutoFit/>
          </a:bodyPr>
          <a:lstStyle/>
          <a:p>
            <a:pPr algn="ctr"/>
            <a:r>
              <a:rPr sz="1100" b="0" i="1">
                <a:solidFill>
                  <a:srgbClr val="595959"/>
                </a:solidFill>
                <a:latin typeface="Times New Roman"/>
                <a:ea typeface="Times New Roman"/>
                <a:cs typeface="Times New Roman"/>
              </a:rPr>
              <a:t>Ảnh: Don Ramey Logan, Wikimedia Commons, CC BY-SA 4.0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Object storage: nền của Data Lake</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7680960" cy="420624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600" b="0" i="0">
                <a:solidFill>
                  <a:srgbClr val="1F1F1F"/>
                </a:solidFill>
                <a:latin typeface="Times New Roman"/>
                <a:ea typeface="Times New Roman"/>
                <a:cs typeface="Times New Roman"/>
              </a:rPr>
              <a:t>Kho </a:t>
            </a:r>
            <a:r>
              <a:rPr sz="1600" b="1" i="0">
                <a:solidFill>
                  <a:srgbClr val="1F1F1F"/>
                </a:solidFill>
                <a:latin typeface="Times New Roman"/>
                <a:ea typeface="Times New Roman"/>
                <a:cs typeface="Times New Roman"/>
              </a:rPr>
              <a:t>key–value</a:t>
            </a:r>
            <a:r>
              <a:rPr sz="1600" b="0" i="0">
                <a:solidFill>
                  <a:srgbClr val="1F1F1F"/>
                </a:solidFill>
                <a:latin typeface="Times New Roman"/>
                <a:ea typeface="Times New Roman"/>
                <a:cs typeface="Times New Roman"/>
              </a:rPr>
              <a:t>: key là bronze/yellow_tripdata/year=2023/month=01/part-0.parquet, value là nội dung file. Không có thư mục thật</a:t>
            </a:r>
          </a:p>
          <a:p>
            <a:pPr marL="285750" indent="-285750">
              <a:spcAft>
                <a:spcPts val="600"/>
              </a:spcAft>
              <a:buClr>
                <a:srgbClr val="0070C0"/>
              </a:buClr>
              <a:buSzPts val="1600"/>
              <a:buFont typeface="Noto Sans Symbols"/>
              <a:buChar char="❖"/>
            </a:pPr>
            <a:r>
              <a:rPr sz="1600" b="1" i="0">
                <a:solidFill>
                  <a:srgbClr val="1F1F1F"/>
                </a:solidFill>
                <a:latin typeface="Times New Roman"/>
                <a:ea typeface="Times New Roman"/>
                <a:cs typeface="Times New Roman"/>
              </a:rPr>
              <a:t>LIST theo prefix</a:t>
            </a:r>
            <a:r>
              <a:rPr sz="1600" b="0" i="0">
                <a:solidFill>
                  <a:srgbClr val="1F1F1F"/>
                </a:solidFill>
                <a:latin typeface="Times New Roman"/>
                <a:ea typeface="Times New Roman"/>
                <a:cs typeface="Times New Roman"/>
              </a:rPr>
              <a:t> là một lời gọi mạng, chậm dần khi có hàng trăm nghìn file</a:t>
            </a:r>
          </a:p>
          <a:p>
            <a:pPr marL="285750" indent="-285750">
              <a:spcAft>
                <a:spcPts val="600"/>
              </a:spcAft>
              <a:buClr>
                <a:srgbClr val="0070C0"/>
              </a:buClr>
              <a:buSzPts val="1600"/>
              <a:buFont typeface="Noto Sans Symbols"/>
              <a:buChar char="❖"/>
            </a:pPr>
            <a:r>
              <a:rPr sz="1600" b="0" i="0">
                <a:solidFill>
                  <a:srgbClr val="1F1F1F"/>
                </a:solidFill>
                <a:latin typeface="Times New Roman"/>
                <a:ea typeface="Times New Roman"/>
                <a:cs typeface="Times New Roman"/>
              </a:rPr>
              <a:t>Mỗi object ghi trọn vẹn hoặc không ghi, nhưng </a:t>
            </a:r>
            <a:r>
              <a:rPr sz="1600" b="1" i="0">
                <a:solidFill>
                  <a:srgbClr val="1F1F1F"/>
                </a:solidFill>
                <a:latin typeface="Times New Roman"/>
                <a:ea typeface="Times New Roman"/>
                <a:cs typeface="Times New Roman"/>
              </a:rPr>
              <a:t>không có thao tác nguyên tử cho nhiều file</a:t>
            </a:r>
          </a:p>
          <a:p>
            <a:pPr marL="285750" indent="-285750">
              <a:spcAft>
                <a:spcPts val="600"/>
              </a:spcAft>
              <a:buClr>
                <a:srgbClr val="0070C0"/>
              </a:buClr>
              <a:buSzPts val="1600"/>
              <a:buFont typeface="Noto Sans Symbols"/>
              <a:buChar char="❖"/>
            </a:pPr>
            <a:r>
              <a:rPr sz="1600" b="0" i="0">
                <a:solidFill>
                  <a:srgbClr val="1F1F1F"/>
                </a:solidFill>
                <a:latin typeface="Times New Roman"/>
                <a:ea typeface="Times New Roman"/>
                <a:cs typeface="Times New Roman"/>
              </a:rPr>
              <a:t>Rẻ, tách rời compute: nhiều engine dùng chung một bản dữ liệu</a:t>
            </a:r>
          </a:p>
          <a:p>
            <a:pPr marL="285750" indent="-285750">
              <a:spcAft>
                <a:spcPts val="600"/>
              </a:spcAft>
              <a:buClr>
                <a:srgbClr val="0070C0"/>
              </a:buClr>
              <a:buSzPts val="1600"/>
              <a:buFont typeface="Noto Sans Symbols"/>
              <a:buChar char="❖"/>
            </a:pPr>
            <a:r>
              <a:rPr sz="1600" b="0" i="0">
                <a:solidFill>
                  <a:srgbClr val="1F1F1F"/>
                </a:solidFill>
                <a:latin typeface="Times New Roman"/>
                <a:ea typeface="Times New Roman"/>
                <a:cs typeface="Times New Roman"/>
              </a:rPr>
              <a:t>Từ 12/2020 Amazon S3 có </a:t>
            </a:r>
            <a:r>
              <a:rPr sz="1600" b="1" i="0">
                <a:solidFill>
                  <a:srgbClr val="1F1F1F"/>
                </a:solidFill>
                <a:latin typeface="Times New Roman"/>
                <a:ea typeface="Times New Roman"/>
                <a:cs typeface="Times New Roman"/>
              </a:rPr>
              <a:t>strong read-after-write consistency</a:t>
            </a:r>
            <a:r>
              <a:rPr sz="1600" b="0" i="0">
                <a:solidFill>
                  <a:srgbClr val="1F1F1F"/>
                </a:solidFill>
                <a:latin typeface="Times New Roman"/>
                <a:ea typeface="Times New Roman"/>
                <a:cs typeface="Times New Roman"/>
              </a:rPr>
              <a:t>, điều kiện kỹ thuật để Lakehouse hoạt động đúng</a:t>
            </a:r>
          </a:p>
        </p:txBody>
      </p:sp>
      <p:pic>
        <p:nvPicPr>
          <p:cNvPr id="118" name="Picture 117" descr="s3.png"/>
          <p:cNvPicPr>
            <a:picLocks noChangeAspect="1"/>
          </p:cNvPicPr>
          <p:nvPr/>
        </p:nvPicPr>
        <p:blipFill>
          <a:blip r:embed="rId2"/>
          <a:stretch>
            <a:fillRect/>
          </a:stretch>
        </p:blipFill>
        <p:spPr>
          <a:xfrm>
            <a:off x="9561807" y="1051560"/>
            <a:ext cx="993186" cy="1188720"/>
          </a:xfrm>
          <a:prstGeom prst="rect">
            <a:avLst/>
          </a:prstGeom>
        </p:spPr>
      </p:pic>
      <p:sp>
        <p:nvSpPr>
          <p:cNvPr id="119" name="TextBox 118"/>
          <p:cNvSpPr txBox="1"/>
          <p:nvPr/>
        </p:nvSpPr>
        <p:spPr>
          <a:xfrm>
            <a:off x="8321040" y="2286000"/>
            <a:ext cx="347472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Amazon S3</a:t>
            </a:r>
          </a:p>
        </p:txBody>
      </p:sp>
      <p:sp>
        <p:nvSpPr>
          <p:cNvPr id="120" name="TextBox 119"/>
          <p:cNvSpPr txBox="1"/>
          <p:nvPr/>
        </p:nvSpPr>
        <p:spPr>
          <a:xfrm>
            <a:off x="8321040" y="2743200"/>
            <a:ext cx="3474720" cy="914400"/>
          </a:xfrm>
          <a:prstGeom prst="rect">
            <a:avLst/>
          </a:prstGeom>
          <a:noFill/>
        </p:spPr>
        <p:txBody>
          <a:bodyPr wrap="square" anchor="t" lIns="45720" rIns="45720" tIns="27432" bIns="27432">
            <a:spAutoFit/>
          </a:bodyPr>
          <a:lstStyle/>
          <a:p>
            <a:pPr algn="ctr"/>
            <a:r>
              <a:rPr sz="1300" b="0" i="0">
                <a:solidFill>
                  <a:srgbClr val="595959"/>
                </a:solidFill>
                <a:latin typeface="Times New Roman"/>
                <a:ea typeface="Times New Roman"/>
                <a:cs typeface="Times New Roman"/>
              </a:rPr>
              <a:t>Cùng họ: Google Cloud Storage, Azure Data Lake Storage, MinIO (tự vận hành)</a:t>
            </a:r>
          </a:p>
        </p:txBody>
      </p:sp>
      <p:graphicFrame>
        <p:nvGraphicFramePr>
          <p:cNvPr id="121" name="Table 120"/>
          <p:cNvGraphicFramePr>
            <a:graphicFrameLocks noGrp="1"/>
          </p:cNvGraphicFramePr>
          <p:nvPr/>
        </p:nvGraphicFramePr>
        <p:xfrm>
          <a:off x="8321040" y="3657600"/>
          <a:ext cx="3474719" cy="1316736"/>
        </p:xfrm>
        <a:graphic>
          <a:graphicData uri="http://schemas.openxmlformats.org/drawingml/2006/table">
            <a:tbl>
              <a:tblPr firstRow="1" bandRow="1">
                <a:tableStyleId>{5C22544A-7EE6-4342-B048-85BDC9FD1C3A}</a:tableStyleId>
              </a:tblPr>
              <a:tblGrid>
                <a:gridCol w="1057523"/>
                <a:gridCol w="1057523"/>
                <a:gridCol w="1359673"/>
              </a:tblGrid>
              <a:tr h="329184">
                <a:tc>
                  <a:txBody>
                    <a:bodyPr wrap="square"/>
                    <a:lstStyle/>
                    <a:p>
                      <a:r>
                        <a:rPr sz="1100" b="1" i="0">
                          <a:solidFill>
                            <a:srgbClr val="FFFFFF"/>
                          </a:solidFill>
                          <a:latin typeface="Times New Roman"/>
                          <a:ea typeface="Times New Roman"/>
                          <a:cs typeface="Times New Roman"/>
                        </a:rPr>
                        <a:t>Định dạng</a:t>
                      </a:r>
                    </a:p>
                  </a:txBody>
                  <a:tcPr marL="73152" marR="73152" marT="27432" marB="27432" anchor="ctr">
                    <a:solidFill>
                      <a:srgbClr val="538135"/>
                    </a:solidFill>
                  </a:tcPr>
                </a:tc>
                <a:tc>
                  <a:txBody>
                    <a:bodyPr wrap="square"/>
                    <a:lstStyle/>
                    <a:p>
                      <a:r>
                        <a:rPr sz="1100" b="1" i="0">
                          <a:solidFill>
                            <a:srgbClr val="FFFFFF"/>
                          </a:solidFill>
                          <a:latin typeface="Times New Roman"/>
                          <a:ea typeface="Times New Roman"/>
                          <a:cs typeface="Times New Roman"/>
                        </a:rPr>
                        <a:t>Cách lưu</a:t>
                      </a:r>
                    </a:p>
                  </a:txBody>
                  <a:tcPr marL="73152" marR="73152" marT="27432" marB="27432" anchor="ctr">
                    <a:solidFill>
                      <a:srgbClr val="538135"/>
                    </a:solidFill>
                  </a:tcPr>
                </a:tc>
                <a:tc>
                  <a:txBody>
                    <a:bodyPr wrap="square"/>
                    <a:lstStyle/>
                    <a:p>
                      <a:r>
                        <a:rPr sz="1100" b="1" i="0">
                          <a:solidFill>
                            <a:srgbClr val="FFFFFF"/>
                          </a:solidFill>
                          <a:latin typeface="Times New Roman"/>
                          <a:ea typeface="Times New Roman"/>
                          <a:cs typeface="Times New Roman"/>
                        </a:rPr>
                        <a:t>Thường dùng cho</a:t>
                      </a:r>
                    </a:p>
                  </a:txBody>
                  <a:tcPr marL="73152" marR="73152" marT="27432" marB="27432" anchor="ctr">
                    <a:solidFill>
                      <a:srgbClr val="538135"/>
                    </a:solidFill>
                  </a:tcPr>
                </a:tc>
              </a:tr>
              <a:tr h="329184">
                <a:tc>
                  <a:txBody>
                    <a:bodyPr wrap="square"/>
                    <a:lstStyle/>
                    <a:p>
                      <a:r>
                        <a:rPr sz="1100" b="1" i="0">
                          <a:solidFill>
                            <a:srgbClr val="1F1F1F"/>
                          </a:solidFill>
                          <a:latin typeface="Times New Roman"/>
                          <a:ea typeface="Times New Roman"/>
                          <a:cs typeface="Times New Roman"/>
                        </a:rPr>
                        <a:t>CSV, JSON</a:t>
                      </a:r>
                    </a:p>
                  </a:txBody>
                  <a:tcPr marL="73152" marR="73152" marT="27432" marB="27432" anchor="ctr">
                    <a:solidFill>
                      <a:srgbClr val="FFFFFF"/>
                    </a:solidFill>
                  </a:tcPr>
                </a:tc>
                <a:tc>
                  <a:txBody>
                    <a:bodyPr wrap="square"/>
                    <a:lstStyle/>
                    <a:p>
                      <a:r>
                        <a:rPr sz="1100" b="0" i="0">
                          <a:solidFill>
                            <a:srgbClr val="1F1F1F"/>
                          </a:solidFill>
                          <a:latin typeface="Times New Roman"/>
                          <a:ea typeface="Times New Roman"/>
                          <a:cs typeface="Times New Roman"/>
                        </a:rPr>
                        <a:t>Dòng, văn bản</a:t>
                      </a:r>
                    </a:p>
                  </a:txBody>
                  <a:tcPr marL="73152" marR="73152" marT="27432" marB="27432" anchor="ctr">
                    <a:solidFill>
                      <a:srgbClr val="FFFFFF"/>
                    </a:solidFill>
                  </a:tcPr>
                </a:tc>
                <a:tc>
                  <a:txBody>
                    <a:bodyPr wrap="square"/>
                    <a:lstStyle/>
                    <a:p>
                      <a:r>
                        <a:rPr sz="1100" b="0" i="0">
                          <a:solidFill>
                            <a:srgbClr val="1F1F1F"/>
                          </a:solidFill>
                          <a:latin typeface="Times New Roman"/>
                          <a:ea typeface="Times New Roman"/>
                          <a:cs typeface="Times New Roman"/>
                        </a:rPr>
                        <a:t>Trao đổi, log, API</a:t>
                      </a:r>
                    </a:p>
                  </a:txBody>
                  <a:tcPr marL="73152" marR="73152" marT="27432" marB="27432" anchor="ctr">
                    <a:solidFill>
                      <a:srgbClr val="FFFFFF"/>
                    </a:solidFill>
                  </a:tcPr>
                </a:tc>
              </a:tr>
              <a:tr h="329184">
                <a:tc>
                  <a:txBody>
                    <a:bodyPr wrap="square"/>
                    <a:lstStyle/>
                    <a:p>
                      <a:r>
                        <a:rPr sz="1100" b="1" i="0">
                          <a:solidFill>
                            <a:srgbClr val="1F1F1F"/>
                          </a:solidFill>
                          <a:latin typeface="Times New Roman"/>
                          <a:ea typeface="Times New Roman"/>
                          <a:cs typeface="Times New Roman"/>
                        </a:rPr>
                        <a:t>Avro</a:t>
                      </a:r>
                    </a:p>
                  </a:txBody>
                  <a:tcPr marL="73152" marR="73152" marT="27432" marB="27432" anchor="ctr">
                    <a:solidFill>
                      <a:srgbClr val="F7F2EC"/>
                    </a:solidFill>
                  </a:tcPr>
                </a:tc>
                <a:tc>
                  <a:txBody>
                    <a:bodyPr wrap="square"/>
                    <a:lstStyle/>
                    <a:p>
                      <a:r>
                        <a:rPr sz="1100" b="0" i="0">
                          <a:solidFill>
                            <a:srgbClr val="1F1F1F"/>
                          </a:solidFill>
                          <a:latin typeface="Times New Roman"/>
                          <a:ea typeface="Times New Roman"/>
                          <a:cs typeface="Times New Roman"/>
                        </a:rPr>
                        <a:t>Dòng, nhị phân</a:t>
                      </a:r>
                    </a:p>
                  </a:txBody>
                  <a:tcPr marL="73152" marR="73152" marT="27432" marB="27432" anchor="ctr">
                    <a:solidFill>
                      <a:srgbClr val="F7F2EC"/>
                    </a:solidFill>
                  </a:tcPr>
                </a:tc>
                <a:tc>
                  <a:txBody>
                    <a:bodyPr wrap="square"/>
                    <a:lstStyle/>
                    <a:p>
                      <a:r>
                        <a:rPr sz="1100" b="0" i="0">
                          <a:solidFill>
                            <a:srgbClr val="1F1F1F"/>
                          </a:solidFill>
                          <a:latin typeface="Times New Roman"/>
                          <a:ea typeface="Times New Roman"/>
                          <a:cs typeface="Times New Roman"/>
                        </a:rPr>
                        <a:t>Streaming, metadata Iceberg</a:t>
                      </a:r>
                    </a:p>
                  </a:txBody>
                  <a:tcPr marL="73152" marR="73152" marT="27432" marB="27432" anchor="ctr">
                    <a:solidFill>
                      <a:srgbClr val="F7F2EC"/>
                    </a:solidFill>
                  </a:tcPr>
                </a:tc>
              </a:tr>
              <a:tr h="329184">
                <a:tc>
                  <a:txBody>
                    <a:bodyPr wrap="square"/>
                    <a:lstStyle/>
                    <a:p>
                      <a:r>
                        <a:rPr sz="1100" b="1" i="0">
                          <a:solidFill>
                            <a:srgbClr val="1F1F1F"/>
                          </a:solidFill>
                          <a:latin typeface="Times New Roman"/>
                          <a:ea typeface="Times New Roman"/>
                          <a:cs typeface="Times New Roman"/>
                        </a:rPr>
                        <a:t>Parquet, ORC</a:t>
                      </a:r>
                    </a:p>
                  </a:txBody>
                  <a:tcPr marL="73152" marR="73152" marT="27432" marB="27432" anchor="ctr">
                    <a:solidFill>
                      <a:srgbClr val="FFFFFF"/>
                    </a:solidFill>
                  </a:tcPr>
                </a:tc>
                <a:tc>
                  <a:txBody>
                    <a:bodyPr wrap="square"/>
                    <a:lstStyle/>
                    <a:p>
                      <a:r>
                        <a:rPr sz="1100" b="0" i="0">
                          <a:solidFill>
                            <a:srgbClr val="1F1F1F"/>
                          </a:solidFill>
                          <a:latin typeface="Times New Roman"/>
                          <a:ea typeface="Times New Roman"/>
                          <a:cs typeface="Times New Roman"/>
                        </a:rPr>
                        <a:t>Cột, nhị phân</a:t>
                      </a:r>
                    </a:p>
                  </a:txBody>
                  <a:tcPr marL="73152" marR="73152" marT="27432" marB="27432" anchor="ctr">
                    <a:solidFill>
                      <a:srgbClr val="FFFFFF"/>
                    </a:solidFill>
                  </a:tcPr>
                </a:tc>
                <a:tc>
                  <a:txBody>
                    <a:bodyPr wrap="square"/>
                    <a:lstStyle/>
                    <a:p>
                      <a:r>
                        <a:rPr sz="1100" b="0" i="0">
                          <a:solidFill>
                            <a:srgbClr val="1F1F1F"/>
                          </a:solidFill>
                          <a:latin typeface="Times New Roman"/>
                          <a:ea typeface="Times New Roman"/>
                          <a:cs typeface="Times New Roman"/>
                        </a:rPr>
                        <a:t>Phân tích, Lakehouse</a:t>
                      </a:r>
                    </a:p>
                  </a:txBody>
                  <a:tcPr marL="73152" marR="73152" marT="27432" marB="27432" anchor="ctr">
                    <a:solidFill>
                      <a:srgbClr val="FFFFFF"/>
                    </a:solidFill>
                  </a:tcPr>
                </a:tc>
              </a:tr>
            </a:tbl>
          </a:graphicData>
        </a:graphic>
      </p:graphicFrame>
      <p:sp>
        <p:nvSpPr>
          <p:cNvPr id="122" name="TextBox 121"/>
          <p:cNvSpPr txBox="1"/>
          <p:nvPr/>
        </p:nvSpPr>
        <p:spPr>
          <a:xfrm>
            <a:off x="411480" y="5394960"/>
            <a:ext cx="7680960" cy="548640"/>
          </a:xfrm>
          <a:prstGeom prst="rect">
            <a:avLst/>
          </a:prstGeom>
          <a:noFill/>
        </p:spPr>
        <p:txBody>
          <a:bodyPr wrap="square" anchor="t" lIns="45720" rIns="45720" tIns="27432" bIns="27432">
            <a:spAutoFit/>
          </a:bodyPr>
          <a:lstStyle/>
          <a:p>
            <a:pPr algn="l"/>
            <a:r>
              <a:rPr sz="1500" b="1" i="1">
                <a:solidFill>
                  <a:srgbClr val="538135"/>
                </a:solidFill>
                <a:latin typeface="Times New Roman"/>
                <a:ea typeface="Times New Roman"/>
                <a:cs typeface="Times New Roman"/>
              </a:rPr>
              <a:t>Data Lake chấp nhận mọi định dạng, nhưng phân tích thì Parquet là lựa chọn mặc định.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Schema-on-read và partition kiểu Hive</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11369040" cy="118872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700" b="0" i="0">
                <a:solidFill>
                  <a:srgbClr val="1F1F1F"/>
                </a:solidFill>
                <a:latin typeface="Times New Roman"/>
                <a:ea typeface="Times New Roman"/>
                <a:cs typeface="Times New Roman"/>
              </a:rPr>
              <a:t>Ghi trước, hiểu sau: không ai kiểm tra schema lúc ghi, engine tự suy ra lúc đọc</a:t>
            </a:r>
          </a:p>
          <a:p>
            <a:pPr marL="285750" indent="-285750">
              <a:spcAft>
                <a:spcPts val="600"/>
              </a:spcAft>
              <a:buClr>
                <a:srgbClr val="0070C0"/>
              </a:buClr>
              <a:buSzPts val="1600"/>
              <a:buFont typeface="Noto Sans Symbols"/>
              <a:buChar char="❖"/>
            </a:pPr>
            <a:r>
              <a:rPr sz="1700" b="0" i="0">
                <a:solidFill>
                  <a:srgbClr val="1F1F1F"/>
                </a:solidFill>
                <a:latin typeface="Times New Roman"/>
                <a:ea typeface="Times New Roman"/>
                <a:cs typeface="Times New Roman"/>
              </a:rPr>
              <a:t>Thư mục tên cột=giá_trị (year=2023/month=01) để lọc bớt file khi truy vấn</a:t>
            </a:r>
          </a:p>
        </p:txBody>
      </p:sp>
      <p:sp>
        <p:nvSpPr>
          <p:cNvPr id="118" name="Rectangle 117"/>
          <p:cNvSpPr/>
          <p:nvPr/>
        </p:nvSpPr>
        <p:spPr>
          <a:xfrm>
            <a:off x="411480" y="2286000"/>
            <a:ext cx="6949440" cy="2194560"/>
          </a:xfrm>
          <a:prstGeom prst="rect">
            <a:avLst/>
          </a:prstGeom>
          <a:solidFill>
            <a:srgbClr val="F4F4F4"/>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r>
              <a:rPr sz="1200" b="0" i="0">
                <a:solidFill>
                  <a:srgbClr val="1F1F1F"/>
                </a:solidFill>
                <a:latin typeface="Courier New"/>
                <a:ea typeface="Courier New"/>
                <a:cs typeface="Courier New"/>
              </a:rPr>
              <a:t>con.sql(f"""</a:t>
            </a:r>
          </a:p>
          <a:p>
            <a:pPr algn="l"/>
            <a:r>
              <a:rPr sz="1200" b="0" i="0">
                <a:solidFill>
                  <a:srgbClr val="1F1F1F"/>
                </a:solidFill>
                <a:latin typeface="Courier New"/>
                <a:ea typeface="Courier New"/>
                <a:cs typeface="Courier New"/>
              </a:rPr>
              <a:t>    SELECT year, month, count(*) AS trips, round(avg(fare_amount), 2) AS avg_fare</a:t>
            </a:r>
          </a:p>
          <a:p>
            <a:pPr algn="l"/>
            <a:r>
              <a:rPr sz="1200" b="0" i="0">
                <a:solidFill>
                  <a:srgbClr val="1F1F1F"/>
                </a:solidFill>
                <a:latin typeface="Courier New"/>
                <a:ea typeface="Courier New"/>
                <a:cs typeface="Courier New"/>
              </a:rPr>
              <a:t>    FROM read_parquet('{BRONZE_DIR}/**/*.parquet', hive_partitioning = true)</a:t>
            </a:r>
          </a:p>
          <a:p>
            <a:pPr algn="l"/>
            <a:r>
              <a:rPr sz="1200" b="0" i="0">
                <a:solidFill>
                  <a:srgbClr val="1F1F1F"/>
                </a:solidFill>
                <a:latin typeface="Courier New"/>
                <a:ea typeface="Courier New"/>
                <a:cs typeface="Courier New"/>
              </a:rPr>
              <a:t>    GROUP BY ALL ORDER BY ALL</a:t>
            </a:r>
          </a:p>
          <a:p>
            <a:pPr algn="l"/>
            <a:r>
              <a:rPr sz="1200" b="0" i="0">
                <a:solidFill>
                  <a:srgbClr val="1F1F1F"/>
                </a:solidFill>
                <a:latin typeface="Courier New"/>
                <a:ea typeface="Courier New"/>
                <a:cs typeface="Courier New"/>
              </a:rPr>
              <a:t>""").show()</a:t>
            </a:r>
          </a:p>
          <a:p>
            <a:pPr algn="l"/>
            <a:r>
              <a:rPr sz="1200" b="0" i="0">
                <a:solidFill>
                  <a:srgbClr val="538135"/>
                </a:solidFill>
                <a:latin typeface="Courier New"/>
                <a:ea typeface="Courier New"/>
                <a:cs typeface="Courier New"/>
              </a:rPr>
              <a:t># year  month  trips    avg_fare</a:t>
            </a:r>
          </a:p>
          <a:p>
            <a:pPr algn="l"/>
            <a:r>
              <a:rPr sz="1200" b="0" i="0">
                <a:solidFill>
                  <a:srgbClr val="538135"/>
                </a:solidFill>
                <a:latin typeface="Courier New"/>
                <a:ea typeface="Courier New"/>
                <a:cs typeface="Courier New"/>
              </a:rPr>
              <a:t># 2023  01     3066766  18.37</a:t>
            </a:r>
          </a:p>
          <a:p>
            <a:pPr algn="l"/>
            <a:r>
              <a:rPr sz="1200" b="0" i="0">
                <a:solidFill>
                  <a:srgbClr val="538135"/>
                </a:solidFill>
                <a:latin typeface="Courier New"/>
                <a:ea typeface="Courier New"/>
                <a:cs typeface="Courier New"/>
              </a:rPr>
              <a:t># 2023  02     2913955  18.22</a:t>
            </a:r>
          </a:p>
        </p:txBody>
      </p:sp>
      <p:sp>
        <p:nvSpPr>
          <p:cNvPr id="119" name="Rounded Rectangle 118"/>
          <p:cNvSpPr/>
          <p:nvPr/>
        </p:nvSpPr>
        <p:spPr>
          <a:xfrm>
            <a:off x="7635240" y="2286000"/>
            <a:ext cx="4160520" cy="219456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TextBox 119"/>
          <p:cNvSpPr txBox="1"/>
          <p:nvPr/>
        </p:nvSpPr>
        <p:spPr>
          <a:xfrm>
            <a:off x="7726680" y="2359152"/>
            <a:ext cx="3977640" cy="365760"/>
          </a:xfrm>
          <a:prstGeom prst="rect">
            <a:avLst/>
          </a:prstGeom>
          <a:noFill/>
        </p:spPr>
        <p:txBody>
          <a:bodyPr wrap="square" anchor="t" lIns="45720" rIns="45720" tIns="27432" bIns="27432">
            <a:spAutoFit/>
          </a:bodyPr>
          <a:lstStyle/>
          <a:p>
            <a:pPr algn="l"/>
            <a:r>
              <a:rPr sz="1600" b="1" i="0">
                <a:solidFill>
                  <a:srgbClr val="C55A11"/>
                </a:solidFill>
                <a:latin typeface="Times New Roman"/>
                <a:ea typeface="Times New Roman"/>
                <a:cs typeface="Times New Roman"/>
              </a:rPr>
              <a:t>Ba hạn chế của partition kiểu Hive</a:t>
            </a:r>
          </a:p>
        </p:txBody>
      </p:sp>
      <p:sp>
        <p:nvSpPr>
          <p:cNvPr id="121" name="TextBox 120"/>
          <p:cNvSpPr txBox="1"/>
          <p:nvPr/>
        </p:nvSpPr>
        <p:spPr>
          <a:xfrm>
            <a:off x="7726680" y="2743200"/>
            <a:ext cx="3977640" cy="169164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Phải lọc đúng trên cột partition; điều kiện trên tpep_pickup_datetime không loại được thư mục month=</a:t>
            </a:r>
          </a:p>
          <a:p>
            <a:pPr>
              <a:spcAft>
                <a:spcPts val="300"/>
              </a:spcAft>
            </a:pPr>
            <a:r>
              <a:rPr sz="1300" b="0" i="0">
                <a:solidFill>
                  <a:srgbClr val="1F1F1F"/>
                </a:solidFill>
                <a:latin typeface="Times New Roman"/>
                <a:ea typeface="Times New Roman"/>
                <a:cs typeface="Times New Roman"/>
              </a:rPr>
              <a:t>Đổi cách chia partition = ghi lại toàn bộ dữ liệu</a:t>
            </a:r>
          </a:p>
          <a:p>
            <a:pPr>
              <a:spcAft>
                <a:spcPts val="300"/>
              </a:spcAft>
            </a:pPr>
            <a:r>
              <a:rPr sz="1300" b="0" i="0">
                <a:solidFill>
                  <a:srgbClr val="1F1F1F"/>
                </a:solidFill>
                <a:latin typeface="Times New Roman"/>
                <a:ea typeface="Times New Roman"/>
                <a:cs typeface="Times New Roman"/>
              </a:rPr>
              <a:t>Chia quá mịn sinh ra rất nhiều file nhỏ (small files problem)</a:t>
            </a:r>
          </a:p>
        </p:txBody>
      </p:sp>
      <p:sp>
        <p:nvSpPr>
          <p:cNvPr id="122" name="TextBox 121"/>
          <p:cNvSpPr txBox="1"/>
          <p:nvPr/>
        </p:nvSpPr>
        <p:spPr>
          <a:xfrm>
            <a:off x="411480" y="4754880"/>
            <a:ext cx="11369040" cy="640080"/>
          </a:xfrm>
          <a:prstGeom prst="rect">
            <a:avLst/>
          </a:prstGeom>
          <a:noFill/>
        </p:spPr>
        <p:txBody>
          <a:bodyPr wrap="square" anchor="t" lIns="45720" rIns="45720" tIns="27432" bIns="27432">
            <a:spAutoFit/>
          </a:bodyPr>
          <a:lstStyle/>
          <a:p>
            <a:pPr algn="l"/>
            <a:r>
              <a:rPr sz="1600" b="1" i="1">
                <a:solidFill>
                  <a:srgbClr val="538135"/>
                </a:solidFill>
                <a:latin typeface="Times New Roman"/>
                <a:ea typeface="Times New Roman"/>
                <a:cs typeface="Times New Roman"/>
              </a:rPr>
              <a:t>"Bảng" ở đây chỉ là một glob thư mục. DuckDB, Spark hay pandas đều phải tự liệt kê file và tự đoán schema.</a:t>
            </a:r>
          </a:p>
        </p:txBody>
      </p:sp>
      <p:pic>
        <p:nvPicPr>
          <p:cNvPr id="123" name="Picture 122" descr="duckdb.png"/>
          <p:cNvPicPr>
            <a:picLocks noChangeAspect="1"/>
          </p:cNvPicPr>
          <p:nvPr/>
        </p:nvPicPr>
        <p:blipFill>
          <a:blip r:embed="rId2"/>
          <a:stretch>
            <a:fillRect/>
          </a:stretch>
        </p:blipFill>
        <p:spPr>
          <a:xfrm>
            <a:off x="2594827" y="5486400"/>
            <a:ext cx="593926" cy="457200"/>
          </a:xfrm>
          <a:prstGeom prst="rect">
            <a:avLst/>
          </a:prstGeom>
        </p:spPr>
      </p:pic>
      <p:sp>
        <p:nvSpPr>
          <p:cNvPr id="124" name="TextBox 123"/>
          <p:cNvSpPr txBox="1"/>
          <p:nvPr/>
        </p:nvSpPr>
        <p:spPr>
          <a:xfrm>
            <a:off x="1828800" y="5989320"/>
            <a:ext cx="212598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DuckDB</a:t>
            </a:r>
          </a:p>
        </p:txBody>
      </p:sp>
      <p:pic>
        <p:nvPicPr>
          <p:cNvPr id="125" name="Picture 124" descr="spark.png"/>
          <p:cNvPicPr>
            <a:picLocks noChangeAspect="1"/>
          </p:cNvPicPr>
          <p:nvPr/>
        </p:nvPicPr>
        <p:blipFill>
          <a:blip r:embed="rId3"/>
          <a:stretch>
            <a:fillRect/>
          </a:stretch>
        </p:blipFill>
        <p:spPr>
          <a:xfrm>
            <a:off x="4577978" y="5486400"/>
            <a:ext cx="879583" cy="457200"/>
          </a:xfrm>
          <a:prstGeom prst="rect">
            <a:avLst/>
          </a:prstGeom>
        </p:spPr>
      </p:pic>
      <p:sp>
        <p:nvSpPr>
          <p:cNvPr id="126" name="TextBox 125"/>
          <p:cNvSpPr txBox="1"/>
          <p:nvPr/>
        </p:nvSpPr>
        <p:spPr>
          <a:xfrm>
            <a:off x="3954780" y="5989320"/>
            <a:ext cx="212598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Apache Spark</a:t>
            </a:r>
          </a:p>
        </p:txBody>
      </p:sp>
      <p:pic>
        <p:nvPicPr>
          <p:cNvPr id="127" name="Picture 126" descr="trino.png"/>
          <p:cNvPicPr>
            <a:picLocks noChangeAspect="1"/>
          </p:cNvPicPr>
          <p:nvPr/>
        </p:nvPicPr>
        <p:blipFill>
          <a:blip r:embed="rId4"/>
          <a:stretch>
            <a:fillRect/>
          </a:stretch>
        </p:blipFill>
        <p:spPr>
          <a:xfrm>
            <a:off x="6658228" y="5486400"/>
            <a:ext cx="971044" cy="457200"/>
          </a:xfrm>
          <a:prstGeom prst="rect">
            <a:avLst/>
          </a:prstGeom>
        </p:spPr>
      </p:pic>
      <p:sp>
        <p:nvSpPr>
          <p:cNvPr id="128" name="TextBox 127"/>
          <p:cNvSpPr txBox="1"/>
          <p:nvPr/>
        </p:nvSpPr>
        <p:spPr>
          <a:xfrm>
            <a:off x="6080760" y="5989320"/>
            <a:ext cx="212598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Trino</a:t>
            </a:r>
          </a:p>
        </p:txBody>
      </p:sp>
      <p:pic>
        <p:nvPicPr>
          <p:cNvPr id="129" name="Picture 128" descr="flink.png"/>
          <p:cNvPicPr>
            <a:picLocks noChangeAspect="1"/>
          </p:cNvPicPr>
          <p:nvPr/>
        </p:nvPicPr>
        <p:blipFill>
          <a:blip r:embed="rId5"/>
          <a:stretch>
            <a:fillRect/>
          </a:stretch>
        </p:blipFill>
        <p:spPr>
          <a:xfrm>
            <a:off x="8803794" y="5486400"/>
            <a:ext cx="931872" cy="457200"/>
          </a:xfrm>
          <a:prstGeom prst="rect">
            <a:avLst/>
          </a:prstGeom>
        </p:spPr>
      </p:pic>
      <p:sp>
        <p:nvSpPr>
          <p:cNvPr id="130" name="TextBox 129"/>
          <p:cNvSpPr txBox="1"/>
          <p:nvPr/>
        </p:nvSpPr>
        <p:spPr>
          <a:xfrm>
            <a:off x="8206740" y="5989320"/>
            <a:ext cx="212598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Apache Flink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Khi không ai sở hữu bảng: bốn lỗi tái hiện trong lab</a:t>
            </a:r>
            <a:endParaRPr b="1" i="0" sz="3400" u="none" cap="none" strike="noStrike">
              <a:solidFill>
                <a:srgbClr val="C55A11"/>
              </a:solidFill>
              <a:latin typeface="Times New Roman"/>
              <a:ea typeface="Times New Roman"/>
              <a:cs typeface="Times New Roman"/>
              <a:sym typeface="Times New Roman"/>
            </a:endParaRPr>
          </a:p>
        </p:txBody>
      </p:sp>
      <p:sp>
        <p:nvSpPr>
          <p:cNvPr id="117" name="Rounded Rectangle 116"/>
          <p:cNvSpPr/>
          <p:nvPr/>
        </p:nvSpPr>
        <p:spPr>
          <a:xfrm>
            <a:off x="411480" y="1051560"/>
            <a:ext cx="5547360" cy="2148840"/>
          </a:xfrm>
          <a:prstGeom prst="roundRect">
            <a:avLst>
              <a:gd name="adj" fmla="val 8000"/>
            </a:avLst>
          </a:prstGeom>
          <a:solidFill>
            <a:srgbClr val="FBEAEA"/>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502920" y="1124712"/>
            <a:ext cx="5364480" cy="365760"/>
          </a:xfrm>
          <a:prstGeom prst="rect">
            <a:avLst/>
          </a:prstGeom>
          <a:noFill/>
        </p:spPr>
        <p:txBody>
          <a:bodyPr wrap="square" anchor="t" lIns="45720" rIns="45720" tIns="27432" bIns="27432">
            <a:spAutoFit/>
          </a:bodyPr>
          <a:lstStyle/>
          <a:p>
            <a:pPr algn="l"/>
            <a:r>
              <a:rPr sz="1600" b="1" i="0">
                <a:solidFill>
                  <a:srgbClr val="C00000"/>
                </a:solidFill>
                <a:latin typeface="Times New Roman"/>
                <a:ea typeface="Times New Roman"/>
                <a:cs typeface="Times New Roman"/>
              </a:rPr>
              <a:t>Lỗi 1: schema drift có thật</a:t>
            </a:r>
          </a:p>
        </p:txBody>
      </p:sp>
      <p:sp>
        <p:nvSpPr>
          <p:cNvPr id="119" name="TextBox 118"/>
          <p:cNvSpPr txBox="1"/>
          <p:nvPr/>
        </p:nvSpPr>
        <p:spPr>
          <a:xfrm>
            <a:off x="502920" y="1508760"/>
            <a:ext cx="5364480" cy="164592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NYC TLC đổi schema giữa tháng 1 và tháng 2/2023</a:t>
            </a:r>
          </a:p>
          <a:p>
            <a:pPr>
              <a:spcAft>
                <a:spcPts val="300"/>
              </a:spcAft>
            </a:pPr>
            <a:r>
              <a:rPr sz="1300" b="0" i="0">
                <a:solidFill>
                  <a:srgbClr val="1F1F1F"/>
                </a:solidFill>
                <a:latin typeface="Times New Roman"/>
                <a:ea typeface="Times New Roman"/>
                <a:cs typeface="Times New Roman"/>
              </a:rPr>
              <a:t>6 cột đổi kiểu (int64 → int32, double → int64...)</a:t>
            </a:r>
          </a:p>
          <a:p>
            <a:pPr>
              <a:spcAft>
                <a:spcPts val="300"/>
              </a:spcAft>
            </a:pPr>
            <a:r>
              <a:rPr sz="1300" b="0" i="0">
                <a:solidFill>
                  <a:srgbClr val="1F1F1F"/>
                </a:solidFill>
                <a:latin typeface="Times New Roman"/>
                <a:ea typeface="Times New Roman"/>
                <a:cs typeface="Times New Roman"/>
              </a:rPr>
              <a:t>airport_fee → Airport_fee</a:t>
            </a:r>
          </a:p>
          <a:p>
            <a:pPr>
              <a:spcAft>
                <a:spcPts val="300"/>
              </a:spcAft>
            </a:pPr>
            <a:r>
              <a:rPr sz="1300" b="0" i="0">
                <a:solidFill>
                  <a:srgbClr val="1F1F1F"/>
                </a:solidFill>
                <a:latin typeface="Times New Roman"/>
                <a:ea typeface="Times New Roman"/>
                <a:cs typeface="Times New Roman"/>
              </a:rPr>
              <a:t>Mỗi engine tự đoán cách hợp nhất một kiểu</a:t>
            </a:r>
          </a:p>
        </p:txBody>
      </p:sp>
      <p:sp>
        <p:nvSpPr>
          <p:cNvPr id="120" name="Rounded Rectangle 119"/>
          <p:cNvSpPr/>
          <p:nvPr/>
        </p:nvSpPr>
        <p:spPr>
          <a:xfrm>
            <a:off x="6233160" y="1051560"/>
            <a:ext cx="5547360" cy="2148840"/>
          </a:xfrm>
          <a:prstGeom prst="roundRect">
            <a:avLst>
              <a:gd name="adj" fmla="val 8000"/>
            </a:avLst>
          </a:prstGeom>
          <a:solidFill>
            <a:srgbClr val="FBEAEA"/>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TextBox 120"/>
          <p:cNvSpPr txBox="1"/>
          <p:nvPr/>
        </p:nvSpPr>
        <p:spPr>
          <a:xfrm>
            <a:off x="6324600" y="1124712"/>
            <a:ext cx="5364480" cy="365760"/>
          </a:xfrm>
          <a:prstGeom prst="rect">
            <a:avLst/>
          </a:prstGeom>
          <a:noFill/>
        </p:spPr>
        <p:txBody>
          <a:bodyPr wrap="square" anchor="t" lIns="45720" rIns="45720" tIns="27432" bIns="27432">
            <a:spAutoFit/>
          </a:bodyPr>
          <a:lstStyle/>
          <a:p>
            <a:pPr algn="l"/>
            <a:r>
              <a:rPr sz="1600" b="1" i="0">
                <a:solidFill>
                  <a:srgbClr val="C00000"/>
                </a:solidFill>
                <a:latin typeface="Times New Roman"/>
                <a:ea typeface="Times New Roman"/>
                <a:cs typeface="Times New Roman"/>
              </a:rPr>
              <a:t>Lỗi 2: file sai kiểu trong cùng prefix</a:t>
            </a:r>
          </a:p>
        </p:txBody>
      </p:sp>
      <p:sp>
        <p:nvSpPr>
          <p:cNvPr id="122" name="TextBox 121"/>
          <p:cNvSpPr txBox="1"/>
          <p:nvPr/>
        </p:nvSpPr>
        <p:spPr>
          <a:xfrm>
            <a:off x="6324600" y="1508760"/>
            <a:ext cx="5364480" cy="164592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Một job ghi VendorID dạng chuỗi vào thư mục</a:t>
            </a:r>
          </a:p>
          <a:p>
            <a:pPr>
              <a:spcAft>
                <a:spcPts val="300"/>
              </a:spcAft>
            </a:pPr>
            <a:r>
              <a:rPr sz="1300" b="0" i="0">
                <a:solidFill>
                  <a:srgbClr val="1F1F1F"/>
                </a:solidFill>
                <a:latin typeface="Times New Roman"/>
                <a:ea typeface="Times New Roman"/>
                <a:cs typeface="Times New Roman"/>
              </a:rPr>
              <a:t>Mọi truy vấn trên prefix hỏng: ConversionException ... Could not convert string 'INVALID_ID' to INT64</a:t>
            </a:r>
          </a:p>
          <a:p>
            <a:pPr>
              <a:spcAft>
                <a:spcPts val="300"/>
              </a:spcAft>
            </a:pPr>
            <a:r>
              <a:rPr sz="1300" b="0" i="0">
                <a:solidFill>
                  <a:srgbClr val="1F1F1F"/>
                </a:solidFill>
                <a:latin typeface="Times New Roman"/>
                <a:ea typeface="Times New Roman"/>
                <a:cs typeface="Times New Roman"/>
              </a:rPr>
              <a:t>Lỗi chỉ lộ ra khi người khác đọc</a:t>
            </a:r>
          </a:p>
        </p:txBody>
      </p:sp>
      <p:sp>
        <p:nvSpPr>
          <p:cNvPr id="123" name="Rounded Rectangle 122"/>
          <p:cNvSpPr/>
          <p:nvPr/>
        </p:nvSpPr>
        <p:spPr>
          <a:xfrm>
            <a:off x="411480" y="3383280"/>
            <a:ext cx="5547360" cy="2148840"/>
          </a:xfrm>
          <a:prstGeom prst="roundRect">
            <a:avLst>
              <a:gd name="adj" fmla="val 8000"/>
            </a:avLst>
          </a:prstGeom>
          <a:solidFill>
            <a:srgbClr val="FBEAEA"/>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TextBox 123"/>
          <p:cNvSpPr txBox="1"/>
          <p:nvPr/>
        </p:nvSpPr>
        <p:spPr>
          <a:xfrm>
            <a:off x="502920" y="3456432"/>
            <a:ext cx="5364480" cy="365760"/>
          </a:xfrm>
          <a:prstGeom prst="rect">
            <a:avLst/>
          </a:prstGeom>
          <a:noFill/>
        </p:spPr>
        <p:txBody>
          <a:bodyPr wrap="square" anchor="t" lIns="45720" rIns="45720" tIns="27432" bIns="27432">
            <a:spAutoFit/>
          </a:bodyPr>
          <a:lstStyle/>
          <a:p>
            <a:pPr algn="l"/>
            <a:r>
              <a:rPr sz="1600" b="1" i="0">
                <a:solidFill>
                  <a:srgbClr val="C00000"/>
                </a:solidFill>
                <a:latin typeface="Times New Roman"/>
                <a:ea typeface="Times New Roman"/>
                <a:cs typeface="Times New Roman"/>
              </a:rPr>
              <a:t>Lỗi 3: partial write</a:t>
            </a:r>
          </a:p>
        </p:txBody>
      </p:sp>
      <p:sp>
        <p:nvSpPr>
          <p:cNvPr id="125" name="TextBox 124"/>
          <p:cNvSpPr txBox="1"/>
          <p:nvPr/>
        </p:nvSpPr>
        <p:spPr>
          <a:xfrm>
            <a:off x="502920" y="3840480"/>
            <a:ext cx="5364480" cy="164592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Job ghi 4 file, bị dừng sau file thứ 2</a:t>
            </a:r>
          </a:p>
          <a:p>
            <a:pPr>
              <a:spcAft>
                <a:spcPts val="300"/>
              </a:spcAft>
            </a:pPr>
            <a:r>
              <a:rPr sz="1300" b="0" i="0">
                <a:solidFill>
                  <a:srgbClr val="1F1F1F"/>
                </a:solidFill>
                <a:latin typeface="Times New Roman"/>
                <a:ea typeface="Times New Roman"/>
                <a:cs typeface="Times New Roman"/>
              </a:rPr>
              <a:t>Reader thấy 1.456.978 / 2.913.955 dòng (50%)</a:t>
            </a:r>
          </a:p>
          <a:p>
            <a:pPr>
              <a:spcAft>
                <a:spcPts val="300"/>
              </a:spcAft>
            </a:pPr>
            <a:r>
              <a:rPr sz="1300" b="0" i="0">
                <a:solidFill>
                  <a:srgbClr val="1F1F1F"/>
                </a:solidFill>
                <a:latin typeface="Times New Roman"/>
                <a:ea typeface="Times New Roman"/>
                <a:cs typeface="Times New Roman"/>
              </a:rPr>
              <a:t>Không có cảnh báo nào</a:t>
            </a:r>
          </a:p>
        </p:txBody>
      </p:sp>
      <p:sp>
        <p:nvSpPr>
          <p:cNvPr id="126" name="Rounded Rectangle 125"/>
          <p:cNvSpPr/>
          <p:nvPr/>
        </p:nvSpPr>
        <p:spPr>
          <a:xfrm>
            <a:off x="6233160" y="3383280"/>
            <a:ext cx="5547360" cy="2148840"/>
          </a:xfrm>
          <a:prstGeom prst="roundRect">
            <a:avLst>
              <a:gd name="adj" fmla="val 8000"/>
            </a:avLst>
          </a:prstGeom>
          <a:solidFill>
            <a:srgbClr val="FBEAEA"/>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TextBox 126"/>
          <p:cNvSpPr txBox="1"/>
          <p:nvPr/>
        </p:nvSpPr>
        <p:spPr>
          <a:xfrm>
            <a:off x="6324600" y="3456432"/>
            <a:ext cx="5364480" cy="365760"/>
          </a:xfrm>
          <a:prstGeom prst="rect">
            <a:avLst/>
          </a:prstGeom>
          <a:noFill/>
        </p:spPr>
        <p:txBody>
          <a:bodyPr wrap="square" anchor="t" lIns="45720" rIns="45720" tIns="27432" bIns="27432">
            <a:spAutoFit/>
          </a:bodyPr>
          <a:lstStyle/>
          <a:p>
            <a:pPr algn="l"/>
            <a:r>
              <a:rPr sz="1600" b="1" i="0">
                <a:solidFill>
                  <a:srgbClr val="C00000"/>
                </a:solidFill>
                <a:latin typeface="Times New Roman"/>
                <a:ea typeface="Times New Roman"/>
                <a:cs typeface="Times New Roman"/>
              </a:rPr>
              <a:t>Lỗi 4: không có DELETE</a:t>
            </a:r>
          </a:p>
        </p:txBody>
      </p:sp>
      <p:sp>
        <p:nvSpPr>
          <p:cNvPr id="128" name="TextBox 127"/>
          <p:cNvSpPr txBox="1"/>
          <p:nvPr/>
        </p:nvSpPr>
        <p:spPr>
          <a:xfrm>
            <a:off x="6324600" y="3840480"/>
            <a:ext cx="5364480" cy="164592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Xóa 26 chuyến fare_amount &gt; 500 phải đọc và ghi lại cả file 48 MB</a:t>
            </a:r>
          </a:p>
          <a:p>
            <a:pPr>
              <a:spcAft>
                <a:spcPts val="300"/>
              </a:spcAft>
            </a:pPr>
            <a:r>
              <a:rPr sz="1300" b="0" i="0">
                <a:solidFill>
                  <a:srgbClr val="1F1F1F"/>
                </a:solidFill>
                <a:latin typeface="Times New Roman"/>
                <a:ea typeface="Times New Roman"/>
                <a:cs typeface="Times New Roman"/>
              </a:rPr>
              <a:t>Trong lúc đổi file, reader khác thấy file cũ, file mới hoặc không thấy gì</a:t>
            </a:r>
          </a:p>
        </p:txBody>
      </p:sp>
      <p:pic>
        <p:nvPicPr>
          <p:cNvPr id="129" name="Picture 128" descr="swamp.jpg"/>
          <p:cNvPicPr>
            <a:picLocks noChangeAspect="1"/>
          </p:cNvPicPr>
          <p:nvPr/>
        </p:nvPicPr>
        <p:blipFill>
          <a:blip r:embed="rId2"/>
          <a:stretch>
            <a:fillRect/>
          </a:stretch>
        </p:blipFill>
        <p:spPr>
          <a:xfrm>
            <a:off x="491490" y="5669280"/>
            <a:ext cx="1303020" cy="868680"/>
          </a:xfrm>
          <a:prstGeom prst="rect">
            <a:avLst/>
          </a:prstGeom>
        </p:spPr>
      </p:pic>
      <p:sp>
        <p:nvSpPr>
          <p:cNvPr id="130" name="TextBox 129"/>
          <p:cNvSpPr txBox="1"/>
          <p:nvPr/>
        </p:nvSpPr>
        <p:spPr>
          <a:xfrm>
            <a:off x="2011680" y="5669280"/>
            <a:ext cx="9784080" cy="822960"/>
          </a:xfrm>
          <a:prstGeom prst="rect">
            <a:avLst/>
          </a:prstGeom>
          <a:noFill/>
        </p:spPr>
        <p:txBody>
          <a:bodyPr wrap="square" anchor="ctr" lIns="45720" rIns="45720" tIns="27432" bIns="27432">
            <a:spAutoFit/>
          </a:bodyPr>
          <a:lstStyle/>
          <a:p>
            <a:pPr algn="l"/>
            <a:r>
              <a:rPr sz="1500" b="0" i="0">
                <a:solidFill>
                  <a:srgbClr val="1F1F1F"/>
                </a:solidFill>
                <a:latin typeface="Times New Roman"/>
                <a:ea typeface="Times New Roman"/>
                <a:cs typeface="Times New Roman"/>
              </a:rPr>
              <a:t>Gộp bốn lỗi với việc không có catalog (không biết ai ghi file nào, file nào còn hợp lệ), Data Lake dần thành </a:t>
            </a:r>
            <a:r>
              <a:rPr sz="1500" b="1" i="0">
                <a:solidFill>
                  <a:srgbClr val="1F1F1F"/>
                </a:solidFill>
                <a:latin typeface="Times New Roman"/>
                <a:ea typeface="Times New Roman"/>
                <a:cs typeface="Times New Roman"/>
              </a:rPr>
              <a:t>data swamp</a:t>
            </a:r>
            <a:r>
              <a:rPr sz="1500" b="0" i="0">
                <a:solidFill>
                  <a:srgbClr val="1F1F1F"/>
                </a:solidFill>
                <a:latin typeface="Times New Roman"/>
                <a:ea typeface="Times New Roman"/>
                <a:cs typeface="Times New Roman"/>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Kiến trúc hai tầng và sự ra đời của Lakehouse</a:t>
            </a:r>
            <a:endParaRPr b="1" i="0" sz="3400" u="none" cap="none" strike="noStrike">
              <a:solidFill>
                <a:srgbClr val="C55A11"/>
              </a:solidFill>
              <a:latin typeface="Times New Roman"/>
              <a:ea typeface="Times New Roman"/>
              <a:cs typeface="Times New Roman"/>
              <a:sym typeface="Times New Roman"/>
            </a:endParaRPr>
          </a:p>
        </p:txBody>
      </p:sp>
      <p:pic>
        <p:nvPicPr>
          <p:cNvPr id="117" name="Picture 116" descr="fig5.png"/>
          <p:cNvPicPr>
            <a:picLocks noChangeAspect="1"/>
          </p:cNvPicPr>
          <p:nvPr/>
        </p:nvPicPr>
        <p:blipFill>
          <a:blip r:embed="rId2"/>
          <a:stretch>
            <a:fillRect/>
          </a:stretch>
        </p:blipFill>
        <p:spPr>
          <a:xfrm>
            <a:off x="411480" y="1438977"/>
            <a:ext cx="7132320" cy="1876926"/>
          </a:xfrm>
          <a:prstGeom prst="rect">
            <a:avLst/>
          </a:prstGeom>
        </p:spPr>
      </p:pic>
      <p:sp>
        <p:nvSpPr>
          <p:cNvPr id="118" name="TextBox 117"/>
          <p:cNvSpPr txBox="1"/>
          <p:nvPr/>
        </p:nvSpPr>
        <p:spPr>
          <a:xfrm>
            <a:off x="7726679" y="1051560"/>
            <a:ext cx="4069080" cy="4114800"/>
          </a:xfrm>
          <a:prstGeom prst="rect">
            <a:avLst/>
          </a:prstGeom>
          <a:noFill/>
        </p:spPr>
        <p:txBody>
          <a:bodyPr wrap="square" anchor="t" lIns="45720" rIns="45720" tIns="27432" bIns="27432">
            <a:spAutoFit/>
          </a:bodyPr>
          <a:lstStyle/>
          <a:p>
            <a:pPr marL="285750" indent="-285750">
              <a:spcAft>
                <a:spcPts val="300"/>
              </a:spcAft>
              <a:buClr>
                <a:srgbClr val="0070C0"/>
              </a:buClr>
              <a:buSzPts val="1600"/>
              <a:buFont typeface="Noto Sans Symbols"/>
              <a:buChar char="❖"/>
            </a:pPr>
            <a:r>
              <a:rPr sz="1500" b="0" i="0">
                <a:solidFill>
                  <a:srgbClr val="1F1F1F"/>
                </a:solidFill>
                <a:latin typeface="Times New Roman"/>
                <a:ea typeface="Times New Roman"/>
                <a:cs typeface="Times New Roman"/>
              </a:rPr>
              <a:t>Những năm 2010: Lake cho dữ liệu thô và ML, ETL tiếp sang Warehouse cho BI</a:t>
            </a:r>
          </a:p>
          <a:p>
            <a:pPr marL="285750" indent="-285750">
              <a:spcAft>
                <a:spcPts val="300"/>
              </a:spcAft>
              <a:buClr>
                <a:srgbClr val="0070C0"/>
              </a:buClr>
              <a:buSzPts val="1600"/>
              <a:buFont typeface="Noto Sans Symbols"/>
              <a:buChar char="❖"/>
            </a:pPr>
            <a:r>
              <a:rPr sz="1500" b="0" i="0">
                <a:solidFill>
                  <a:srgbClr val="1F1F1F"/>
                </a:solidFill>
                <a:latin typeface="Times New Roman"/>
                <a:ea typeface="Times New Roman"/>
                <a:cs typeface="Times New Roman"/>
              </a:rPr>
              <a:t>Armbrust và cộng sự (CIDR 2021) chỉ ra bốn vấn đề:</a:t>
            </a:r>
          </a:p>
          <a:p>
            <a:pPr marL="571500" indent="-228600">
              <a:spcAft>
                <a:spcPts val="300"/>
              </a:spcAft>
              <a:buClr>
                <a:srgbClr val="595959"/>
              </a:buClr>
              <a:buFont typeface="Arial"/>
              <a:buChar char="•"/>
            </a:pPr>
            <a:r>
              <a:rPr sz="1300" b="1" i="0">
                <a:solidFill>
                  <a:srgbClr val="1F1F1F"/>
                </a:solidFill>
                <a:latin typeface="Times New Roman"/>
                <a:ea typeface="Times New Roman"/>
                <a:cs typeface="Times New Roman"/>
              </a:rPr>
              <a:t>Độ tin cậy</a:t>
            </a:r>
            <a:r>
              <a:rPr sz="1300" b="0" i="0">
                <a:solidFill>
                  <a:srgbClr val="1F1F1F"/>
                </a:solidFill>
                <a:latin typeface="Times New Roman"/>
                <a:ea typeface="Times New Roman"/>
                <a:cs typeface="Times New Roman"/>
              </a:rPr>
              <a:t>: hai hệ thống phải giữ khớp, mỗi bước ETL có thể lệch kiểu, múi giờ, NULL</a:t>
            </a:r>
          </a:p>
          <a:p>
            <a:pPr marL="571500" indent="-228600">
              <a:spcAft>
                <a:spcPts val="300"/>
              </a:spcAft>
              <a:buClr>
                <a:srgbClr val="595959"/>
              </a:buClr>
              <a:buFont typeface="Arial"/>
              <a:buChar char="•"/>
            </a:pPr>
            <a:r>
              <a:rPr sz="1300" b="1" i="0">
                <a:solidFill>
                  <a:srgbClr val="1F1F1F"/>
                </a:solidFill>
                <a:latin typeface="Times New Roman"/>
                <a:ea typeface="Times New Roman"/>
                <a:cs typeface="Times New Roman"/>
              </a:rPr>
              <a:t>Dữ liệu cũ</a:t>
            </a:r>
            <a:r>
              <a:rPr sz="1300" b="0" i="0">
                <a:solidFill>
                  <a:srgbClr val="1F1F1F"/>
                </a:solidFill>
                <a:latin typeface="Times New Roman"/>
                <a:ea typeface="Times New Roman"/>
                <a:cs typeface="Times New Roman"/>
              </a:rPr>
              <a:t>: warehouse trễ hàng giờ đến hàng ngày</a:t>
            </a:r>
          </a:p>
          <a:p>
            <a:pPr marL="571500" indent="-228600">
              <a:spcAft>
                <a:spcPts val="300"/>
              </a:spcAft>
              <a:buClr>
                <a:srgbClr val="595959"/>
              </a:buClr>
              <a:buFont typeface="Arial"/>
              <a:buChar char="•"/>
            </a:pPr>
            <a:r>
              <a:rPr sz="1300" b="1" i="0">
                <a:solidFill>
                  <a:srgbClr val="1F1F1F"/>
                </a:solidFill>
                <a:latin typeface="Times New Roman"/>
                <a:ea typeface="Times New Roman"/>
                <a:cs typeface="Times New Roman"/>
              </a:rPr>
              <a:t>ML hạn chế</a:t>
            </a:r>
            <a:r>
              <a:rPr sz="1300" b="0" i="0">
                <a:solidFill>
                  <a:srgbClr val="1F1F1F"/>
                </a:solidFill>
                <a:latin typeface="Times New Roman"/>
                <a:ea typeface="Times New Roman"/>
                <a:cs typeface="Times New Roman"/>
              </a:rPr>
              <a:t>: thư viện ML cần đọc file, warehouse chỉ mở cổng SQL</a:t>
            </a:r>
          </a:p>
          <a:p>
            <a:pPr marL="571500" indent="-228600">
              <a:spcAft>
                <a:spcPts val="300"/>
              </a:spcAft>
              <a:buClr>
                <a:srgbClr val="595959"/>
              </a:buClr>
              <a:buFont typeface="Arial"/>
              <a:buChar char="•"/>
            </a:pPr>
            <a:r>
              <a:rPr sz="1300" b="1" i="0">
                <a:solidFill>
                  <a:srgbClr val="1F1F1F"/>
                </a:solidFill>
                <a:latin typeface="Times New Roman"/>
                <a:ea typeface="Times New Roman"/>
                <a:cs typeface="Times New Roman"/>
              </a:rPr>
              <a:t>Tổng chi phí</a:t>
            </a:r>
            <a:r>
              <a:rPr sz="1300" b="0" i="0">
                <a:solidFill>
                  <a:srgbClr val="1F1F1F"/>
                </a:solidFill>
                <a:latin typeface="Times New Roman"/>
                <a:ea typeface="Times New Roman"/>
                <a:cs typeface="Times New Roman"/>
              </a:rPr>
              <a:t>: hai bản dữ liệu, compute cho ETL, phân quyền hai nơi</a:t>
            </a:r>
          </a:p>
        </p:txBody>
      </p:sp>
      <p:sp>
        <p:nvSpPr>
          <p:cNvPr id="119" name="Rounded Rectangle 118"/>
          <p:cNvSpPr/>
          <p:nvPr/>
        </p:nvSpPr>
        <p:spPr>
          <a:xfrm>
            <a:off x="411480" y="3931920"/>
            <a:ext cx="7132320" cy="246888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TextBox 119"/>
          <p:cNvSpPr txBox="1"/>
          <p:nvPr/>
        </p:nvSpPr>
        <p:spPr>
          <a:xfrm>
            <a:off x="594360" y="4023360"/>
            <a:ext cx="6766560" cy="365760"/>
          </a:xfrm>
          <a:prstGeom prst="rect">
            <a:avLst/>
          </a:prstGeom>
          <a:noFill/>
        </p:spPr>
        <p:txBody>
          <a:bodyPr wrap="square" anchor="t" lIns="45720" rIns="45720" tIns="27432" bIns="27432">
            <a:spAutoFit/>
          </a:bodyPr>
          <a:lstStyle/>
          <a:p>
            <a:pPr algn="l"/>
            <a:r>
              <a:rPr sz="1700" b="1" i="0">
                <a:solidFill>
                  <a:srgbClr val="538135"/>
                </a:solidFill>
                <a:latin typeface="Times New Roman"/>
                <a:ea typeface="Times New Roman"/>
                <a:cs typeface="Times New Roman"/>
              </a:rPr>
              <a:t>Ý tưởng Lakehouse</a:t>
            </a:r>
          </a:p>
        </p:txBody>
      </p:sp>
      <p:sp>
        <p:nvSpPr>
          <p:cNvPr id="121" name="TextBox 120"/>
          <p:cNvSpPr txBox="1"/>
          <p:nvPr/>
        </p:nvSpPr>
        <p:spPr>
          <a:xfrm>
            <a:off x="594360" y="4434840"/>
            <a:ext cx="6766560" cy="192024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400" b="0" i="0">
                <a:solidFill>
                  <a:srgbClr val="1F1F1F"/>
                </a:solidFill>
                <a:latin typeface="Times New Roman"/>
                <a:ea typeface="Times New Roman"/>
                <a:cs typeface="Times New Roman"/>
              </a:rPr>
              <a:t>Giữ dữ liệu trên object storage, định dạng mở (Parquet)</a:t>
            </a:r>
          </a:p>
          <a:p>
            <a:pPr marL="571500" indent="-228600">
              <a:spcAft>
                <a:spcPts val="300"/>
              </a:spcAft>
              <a:buClr>
                <a:srgbClr val="595959"/>
              </a:buClr>
              <a:buFont typeface="Arial"/>
              <a:buChar char="•"/>
            </a:pPr>
            <a:r>
              <a:rPr sz="1400" b="0" i="0">
                <a:solidFill>
                  <a:srgbClr val="1F1F1F"/>
                </a:solidFill>
                <a:latin typeface="Times New Roman"/>
                <a:ea typeface="Times New Roman"/>
                <a:cs typeface="Times New Roman"/>
              </a:rPr>
              <a:t>Thêm một </a:t>
            </a:r>
            <a:r>
              <a:rPr sz="1400" b="1" i="0">
                <a:solidFill>
                  <a:srgbClr val="1F1F1F"/>
                </a:solidFill>
                <a:latin typeface="Times New Roman"/>
                <a:ea typeface="Times New Roman"/>
                <a:cs typeface="Times New Roman"/>
              </a:rPr>
              <a:t>lớp metadata có giao dịch</a:t>
            </a:r>
            <a:r>
              <a:rPr sz="1400" b="0" i="0">
                <a:solidFill>
                  <a:srgbClr val="1F1F1F"/>
                </a:solidFill>
                <a:latin typeface="Times New Roman"/>
                <a:ea typeface="Times New Roman"/>
                <a:cs typeface="Times New Roman"/>
              </a:rPr>
              <a:t> phía trên: ACID, phiên bản, tối ưu truy vấn</a:t>
            </a:r>
          </a:p>
          <a:p>
            <a:pPr marL="571500" indent="-228600">
              <a:spcAft>
                <a:spcPts val="300"/>
              </a:spcAft>
              <a:buClr>
                <a:srgbClr val="595959"/>
              </a:buClr>
              <a:buFont typeface="Arial"/>
              <a:buChar char="•"/>
            </a:pPr>
            <a:r>
              <a:rPr sz="1400" b="0" i="0">
                <a:solidFill>
                  <a:srgbClr val="1F1F1F"/>
                </a:solidFill>
                <a:latin typeface="Times New Roman"/>
                <a:ea typeface="Times New Roman"/>
                <a:cs typeface="Times New Roman"/>
              </a:rPr>
              <a:t>Ba điều kiện chín muồi quanh 2020: Parquet, các table format (Delta, Iceberg, Hudi), strong consistency của object storage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34258"/>
          </a:xfrm>
          <a:prstGeom prst="rect">
            <a:avLst/>
          </a:prstGeom>
          <a:solidFill>
            <a:srgbClr val="538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5400" b="1" i="0">
                <a:solidFill>
                  <a:srgbClr val="FFFFFF"/>
                </a:solidFill>
                <a:latin typeface="Times New Roman"/>
                <a:ea typeface="Times New Roman"/>
                <a:cs typeface="Times New Roman"/>
              </a:rPr>
              <a:t>Outline</a:t>
            </a:r>
          </a:p>
        </p:txBody>
      </p:sp>
      <p:sp>
        <p:nvSpPr>
          <p:cNvPr id="3" name="Rounded Rectangle 2"/>
          <p:cNvSpPr/>
          <p:nvPr/>
        </p:nvSpPr>
        <p:spPr>
          <a:xfrm>
            <a:off x="876348" y="15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Giới thiệu</a:t>
            </a:r>
          </a:p>
        </p:txBody>
      </p:sp>
      <p:sp>
        <p:nvSpPr>
          <p:cNvPr id="4" name="Rounded Rectangle 3"/>
          <p:cNvSpPr/>
          <p:nvPr/>
        </p:nvSpPr>
        <p:spPr>
          <a:xfrm>
            <a:off x="609199" y="14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1</a:t>
            </a:r>
          </a:p>
        </p:txBody>
      </p:sp>
      <p:sp>
        <p:nvSpPr>
          <p:cNvPr id="5" name="Rounded Rectangle 4"/>
          <p:cNvSpPr/>
          <p:nvPr/>
        </p:nvSpPr>
        <p:spPr>
          <a:xfrm>
            <a:off x="876348" y="26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Warehouse</a:t>
            </a:r>
          </a:p>
        </p:txBody>
      </p:sp>
      <p:sp>
        <p:nvSpPr>
          <p:cNvPr id="6" name="Rounded Rectangle 5"/>
          <p:cNvSpPr/>
          <p:nvPr/>
        </p:nvSpPr>
        <p:spPr>
          <a:xfrm>
            <a:off x="609199" y="24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2</a:t>
            </a:r>
          </a:p>
        </p:txBody>
      </p:sp>
      <p:sp>
        <p:nvSpPr>
          <p:cNvPr id="7" name="Rounded Rectangle 6"/>
          <p:cNvSpPr/>
          <p:nvPr/>
        </p:nvSpPr>
        <p:spPr>
          <a:xfrm>
            <a:off x="876348" y="36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a:t>
            </a:r>
          </a:p>
        </p:txBody>
      </p:sp>
      <p:sp>
        <p:nvSpPr>
          <p:cNvPr id="8" name="Rounded Rectangle 7"/>
          <p:cNvSpPr/>
          <p:nvPr/>
        </p:nvSpPr>
        <p:spPr>
          <a:xfrm>
            <a:off x="609199" y="35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3</a:t>
            </a:r>
          </a:p>
        </p:txBody>
      </p:sp>
      <p:sp>
        <p:nvSpPr>
          <p:cNvPr id="9" name="Rounded Rectangle 8"/>
          <p:cNvSpPr/>
          <p:nvPr/>
        </p:nvSpPr>
        <p:spPr>
          <a:xfrm>
            <a:off x="876348" y="4700000"/>
            <a:ext cx="5400000" cy="780000"/>
          </a:xfrm>
          <a:prstGeom prst="roundRect">
            <a:avLst>
              <a:gd name="adj" fmla="val 8000"/>
            </a:avLst>
          </a:prstGeom>
          <a:solidFill>
            <a:srgbClr val="F4B081"/>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55A11"/>
                </a:solidFill>
                <a:latin typeface="Times New Roman"/>
                <a:ea typeface="Times New Roman"/>
                <a:cs typeface="Times New Roman"/>
              </a:rPr>
              <a:t>Data Lakehouse</a:t>
            </a:r>
          </a:p>
        </p:txBody>
      </p:sp>
      <p:sp>
        <p:nvSpPr>
          <p:cNvPr id="10" name="Rounded Rectangle 9"/>
          <p:cNvSpPr/>
          <p:nvPr/>
        </p:nvSpPr>
        <p:spPr>
          <a:xfrm>
            <a:off x="609199" y="45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4</a:t>
            </a:r>
          </a:p>
        </p:txBody>
      </p:sp>
      <p:sp>
        <p:nvSpPr>
          <p:cNvPr id="11" name="Rounded Rectangle 10"/>
          <p:cNvSpPr/>
          <p:nvPr/>
        </p:nvSpPr>
        <p:spPr>
          <a:xfrm>
            <a:off x="876348" y="57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Kiến trúc lai và thực hành</a:t>
            </a:r>
          </a:p>
        </p:txBody>
      </p:sp>
      <p:sp>
        <p:nvSpPr>
          <p:cNvPr id="12" name="Rounded Rectangle 11"/>
          <p:cNvSpPr/>
          <p:nvPr/>
        </p:nvSpPr>
        <p:spPr>
          <a:xfrm>
            <a:off x="609199" y="56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5</a:t>
            </a:r>
          </a:p>
        </p:txBody>
      </p:sp>
      <p:pic>
        <p:nvPicPr>
          <p:cNvPr id="13" name="Picture 12" descr="datacenter.jpg"/>
          <p:cNvPicPr>
            <a:picLocks noChangeAspect="1"/>
          </p:cNvPicPr>
          <p:nvPr/>
        </p:nvPicPr>
        <p:blipFill>
          <a:blip r:embed="rId2"/>
          <a:stretch>
            <a:fillRect/>
          </a:stretch>
        </p:blipFill>
        <p:spPr>
          <a:xfrm>
            <a:off x="6900000" y="1966667"/>
            <a:ext cx="4900000" cy="3266666"/>
          </a:xfrm>
          <a:prstGeom prst="rect">
            <a:avLst/>
          </a:prstGeom>
        </p:spPr>
      </p:pic>
      <p:sp>
        <p:nvSpPr>
          <p:cNvPr id="14" name="TextBox 13"/>
          <p:cNvSpPr txBox="1"/>
          <p:nvPr/>
        </p:nvSpPr>
        <p:spPr>
          <a:xfrm>
            <a:off x="6900000" y="5800000"/>
            <a:ext cx="4900000" cy="320040"/>
          </a:xfrm>
          <a:prstGeom prst="rect">
            <a:avLst/>
          </a:prstGeom>
          <a:noFill/>
        </p:spPr>
        <p:txBody>
          <a:bodyPr wrap="square" anchor="t" lIns="45720" rIns="45720" tIns="27432" bIns="27432">
            <a:spAutoFit/>
          </a:bodyPr>
          <a:lstStyle/>
          <a:p>
            <a:pPr algn="ctr"/>
            <a:r>
              <a:rPr sz="1100" b="0" i="1">
                <a:solidFill>
                  <a:srgbClr val="595959"/>
                </a:solidFill>
                <a:latin typeface="Times New Roman"/>
                <a:ea typeface="Times New Roman"/>
                <a:cs typeface="Times New Roman"/>
              </a:rPr>
              <a:t>Ảnh: Carl Lender, Wikimedia Commons, CC BY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Open table format là gì?</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11369040" cy="182880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700" b="0" i="0">
                <a:solidFill>
                  <a:srgbClr val="1F1F1F"/>
                </a:solidFill>
                <a:latin typeface="Times New Roman"/>
                <a:ea typeface="Times New Roman"/>
                <a:cs typeface="Times New Roman"/>
              </a:rPr>
              <a:t>Một </a:t>
            </a:r>
            <a:r>
              <a:rPr sz="1700" b="1" i="0">
                <a:solidFill>
                  <a:srgbClr val="1F1F1F"/>
                </a:solidFill>
                <a:latin typeface="Times New Roman"/>
                <a:ea typeface="Times New Roman"/>
                <a:cs typeface="Times New Roman"/>
              </a:rPr>
              <a:t>đặc tả</a:t>
            </a:r>
            <a:r>
              <a:rPr sz="1700" b="0" i="0">
                <a:solidFill>
                  <a:srgbClr val="1F1F1F"/>
                </a:solidFill>
                <a:latin typeface="Times New Roman"/>
                <a:ea typeface="Times New Roman"/>
                <a:cs typeface="Times New Roman"/>
              </a:rPr>
              <a:t> quy định cách dùng file metadata để mô tả bảng: gồm data file nào, schema và partition ra sao, có những phiên bản nào</a:t>
            </a:r>
          </a:p>
          <a:p>
            <a:pPr marL="285750" indent="-285750">
              <a:spcAft>
                <a:spcPts val="600"/>
              </a:spcAft>
              <a:buClr>
                <a:srgbClr val="0070C0"/>
              </a:buClr>
              <a:buSzPts val="1600"/>
              <a:buFont typeface="Noto Sans Symbols"/>
              <a:buChar char="❖"/>
            </a:pPr>
            <a:r>
              <a:rPr sz="1700" b="0" i="0">
                <a:solidFill>
                  <a:srgbClr val="1F1F1F"/>
                </a:solidFill>
                <a:latin typeface="Times New Roman"/>
                <a:ea typeface="Times New Roman"/>
                <a:cs typeface="Times New Roman"/>
              </a:rPr>
              <a:t>Data file vẫn là Parquet và </a:t>
            </a:r>
            <a:r>
              <a:rPr sz="1700" b="1" i="0">
                <a:solidFill>
                  <a:srgbClr val="1F1F1F"/>
                </a:solidFill>
                <a:latin typeface="Times New Roman"/>
                <a:ea typeface="Times New Roman"/>
                <a:cs typeface="Times New Roman"/>
              </a:rPr>
              <a:t>bất biến</a:t>
            </a:r>
            <a:r>
              <a:rPr sz="1700" b="0" i="0">
                <a:solidFill>
                  <a:srgbClr val="1F1F1F"/>
                </a:solidFill>
                <a:latin typeface="Times New Roman"/>
                <a:ea typeface="Times New Roman"/>
                <a:cs typeface="Times New Roman"/>
              </a:rPr>
              <a:t>: mọi thay đổi tạo file mới cùng metadata mới</a:t>
            </a:r>
          </a:p>
          <a:p>
            <a:pPr marL="285750" indent="-285750">
              <a:spcAft>
                <a:spcPts val="600"/>
              </a:spcAft>
              <a:buClr>
                <a:srgbClr val="0070C0"/>
              </a:buClr>
              <a:buSzPts val="1600"/>
              <a:buFont typeface="Noto Sans Symbols"/>
              <a:buChar char="❖"/>
            </a:pPr>
            <a:r>
              <a:rPr sz="1700" b="0" i="0">
                <a:solidFill>
                  <a:srgbClr val="1F1F1F"/>
                </a:solidFill>
                <a:latin typeface="Times New Roman"/>
                <a:ea typeface="Times New Roman"/>
                <a:cs typeface="Times New Roman"/>
              </a:rPr>
              <a:t>Ba table format phổ biến, cùng ý tưởng nhưng khác cách tổ chức metadata</a:t>
            </a:r>
          </a:p>
        </p:txBody>
      </p:sp>
      <p:sp>
        <p:nvSpPr>
          <p:cNvPr id="118" name="Rounded Rectangle 117"/>
          <p:cNvSpPr/>
          <p:nvPr/>
        </p:nvSpPr>
        <p:spPr>
          <a:xfrm>
            <a:off x="411480" y="3017520"/>
            <a:ext cx="3606800" cy="338328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9" name="Picture 118" descr="iceberg.png"/>
          <p:cNvPicPr>
            <a:picLocks noChangeAspect="1"/>
          </p:cNvPicPr>
          <p:nvPr/>
        </p:nvPicPr>
        <p:blipFill>
          <a:blip r:embed="rId2"/>
          <a:stretch>
            <a:fillRect/>
          </a:stretch>
        </p:blipFill>
        <p:spPr>
          <a:xfrm>
            <a:off x="837129" y="3154680"/>
            <a:ext cx="2755501" cy="640080"/>
          </a:xfrm>
          <a:prstGeom prst="rect">
            <a:avLst/>
          </a:prstGeom>
        </p:spPr>
      </p:pic>
      <p:sp>
        <p:nvSpPr>
          <p:cNvPr id="120" name="TextBox 119"/>
          <p:cNvSpPr txBox="1"/>
          <p:nvPr/>
        </p:nvSpPr>
        <p:spPr>
          <a:xfrm>
            <a:off x="411480" y="3840480"/>
            <a:ext cx="3606800" cy="365760"/>
          </a:xfrm>
          <a:prstGeom prst="rect">
            <a:avLst/>
          </a:prstGeom>
          <a:noFill/>
        </p:spPr>
        <p:txBody>
          <a:bodyPr wrap="square" anchor="t" lIns="45720" rIns="45720" tIns="27432" bIns="27432">
            <a:spAutoFit/>
          </a:bodyPr>
          <a:lstStyle/>
          <a:p>
            <a:pPr algn="ctr"/>
            <a:r>
              <a:rPr sz="1700" b="1" i="0">
                <a:solidFill>
                  <a:srgbClr val="C55A11"/>
                </a:solidFill>
                <a:latin typeface="Times New Roman"/>
                <a:ea typeface="Times New Roman"/>
                <a:cs typeface="Times New Roman"/>
              </a:rPr>
              <a:t>Apache Iceberg</a:t>
            </a:r>
          </a:p>
        </p:txBody>
      </p:sp>
      <p:sp>
        <p:nvSpPr>
          <p:cNvPr id="121" name="TextBox 120"/>
          <p:cNvSpPr txBox="1"/>
          <p:nvPr/>
        </p:nvSpPr>
        <p:spPr>
          <a:xfrm>
            <a:off x="548640" y="4251960"/>
            <a:ext cx="3332480" cy="210312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Khởi đầu tại Netflix, ASF</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Cây metadata: metadata.json → manifest list → manifest</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Hidden partitioning, partition evolution</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Nhiều engine, SDK Python (PyIceberg)</a:t>
            </a:r>
          </a:p>
        </p:txBody>
      </p:sp>
      <p:sp>
        <p:nvSpPr>
          <p:cNvPr id="122" name="Rounded Rectangle 121"/>
          <p:cNvSpPr/>
          <p:nvPr/>
        </p:nvSpPr>
        <p:spPr>
          <a:xfrm>
            <a:off x="4292600" y="3017520"/>
            <a:ext cx="3606800" cy="338328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3" name="Picture 122" descr="delta.png"/>
          <p:cNvPicPr>
            <a:picLocks noChangeAspect="1"/>
          </p:cNvPicPr>
          <p:nvPr/>
        </p:nvPicPr>
        <p:blipFill>
          <a:blip r:embed="rId3"/>
          <a:stretch>
            <a:fillRect/>
          </a:stretch>
        </p:blipFill>
        <p:spPr>
          <a:xfrm>
            <a:off x="5767192" y="3154680"/>
            <a:ext cx="657616" cy="640080"/>
          </a:xfrm>
          <a:prstGeom prst="rect">
            <a:avLst/>
          </a:prstGeom>
        </p:spPr>
      </p:pic>
      <p:sp>
        <p:nvSpPr>
          <p:cNvPr id="124" name="TextBox 123"/>
          <p:cNvSpPr txBox="1"/>
          <p:nvPr/>
        </p:nvSpPr>
        <p:spPr>
          <a:xfrm>
            <a:off x="4292600" y="3840480"/>
            <a:ext cx="3606800" cy="365760"/>
          </a:xfrm>
          <a:prstGeom prst="rect">
            <a:avLst/>
          </a:prstGeom>
          <a:noFill/>
        </p:spPr>
        <p:txBody>
          <a:bodyPr wrap="square" anchor="t" lIns="45720" rIns="45720" tIns="27432" bIns="27432">
            <a:spAutoFit/>
          </a:bodyPr>
          <a:lstStyle/>
          <a:p>
            <a:pPr algn="ctr"/>
            <a:r>
              <a:rPr sz="1700" b="1" i="0">
                <a:solidFill>
                  <a:srgbClr val="C55A11"/>
                </a:solidFill>
                <a:latin typeface="Times New Roman"/>
                <a:ea typeface="Times New Roman"/>
                <a:cs typeface="Times New Roman"/>
              </a:rPr>
              <a:t>Delta Lake</a:t>
            </a:r>
          </a:p>
        </p:txBody>
      </p:sp>
      <p:sp>
        <p:nvSpPr>
          <p:cNvPr id="125" name="TextBox 124"/>
          <p:cNvSpPr txBox="1"/>
          <p:nvPr/>
        </p:nvSpPr>
        <p:spPr>
          <a:xfrm>
            <a:off x="4429760" y="4251960"/>
            <a:ext cx="3332480" cy="210312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Databricks, Linux Foundation</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Log JSON tuần tự trong _delta_log + checkpoint Parquet</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Tích hợp sâu với Spark và Databricks</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Liquid Clustering, UniForm</a:t>
            </a:r>
          </a:p>
        </p:txBody>
      </p:sp>
      <p:sp>
        <p:nvSpPr>
          <p:cNvPr id="126" name="Rounded Rectangle 125"/>
          <p:cNvSpPr/>
          <p:nvPr/>
        </p:nvSpPr>
        <p:spPr>
          <a:xfrm>
            <a:off x="8173720" y="3017520"/>
            <a:ext cx="3606800" cy="338328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7" name="Picture 126" descr="hudi.png"/>
          <p:cNvPicPr>
            <a:picLocks noChangeAspect="1"/>
          </p:cNvPicPr>
          <p:nvPr/>
        </p:nvPicPr>
        <p:blipFill>
          <a:blip r:embed="rId4"/>
          <a:stretch>
            <a:fillRect/>
          </a:stretch>
        </p:blipFill>
        <p:spPr>
          <a:xfrm>
            <a:off x="9230360" y="3154680"/>
            <a:ext cx="1493520" cy="640080"/>
          </a:xfrm>
          <a:prstGeom prst="rect">
            <a:avLst/>
          </a:prstGeom>
        </p:spPr>
      </p:pic>
      <p:sp>
        <p:nvSpPr>
          <p:cNvPr id="128" name="TextBox 127"/>
          <p:cNvSpPr txBox="1"/>
          <p:nvPr/>
        </p:nvSpPr>
        <p:spPr>
          <a:xfrm>
            <a:off x="8173720" y="3840480"/>
            <a:ext cx="3606800" cy="365760"/>
          </a:xfrm>
          <a:prstGeom prst="rect">
            <a:avLst/>
          </a:prstGeom>
          <a:noFill/>
        </p:spPr>
        <p:txBody>
          <a:bodyPr wrap="square" anchor="t" lIns="45720" rIns="45720" tIns="27432" bIns="27432">
            <a:spAutoFit/>
          </a:bodyPr>
          <a:lstStyle/>
          <a:p>
            <a:pPr algn="ctr"/>
            <a:r>
              <a:rPr sz="1700" b="1" i="0">
                <a:solidFill>
                  <a:srgbClr val="C55A11"/>
                </a:solidFill>
                <a:latin typeface="Times New Roman"/>
                <a:ea typeface="Times New Roman"/>
                <a:cs typeface="Times New Roman"/>
              </a:rPr>
              <a:t>Apache Hudi</a:t>
            </a:r>
          </a:p>
        </p:txBody>
      </p:sp>
      <p:sp>
        <p:nvSpPr>
          <p:cNvPr id="129" name="TextBox 128"/>
          <p:cNvSpPr txBox="1"/>
          <p:nvPr/>
        </p:nvSpPr>
        <p:spPr>
          <a:xfrm>
            <a:off x="8310880" y="4251960"/>
            <a:ext cx="3332480" cy="210312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Uber, ASF</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Timeline + index ở mức bản ghi</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Hai loại bảng CoW và MoR</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Mạnh về upsert, CDC tần suất cao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Cây metadata của Apache Iceberg</a:t>
            </a:r>
            <a:endParaRPr b="1" i="0" sz="3400" u="none" cap="none" strike="noStrike">
              <a:solidFill>
                <a:srgbClr val="C55A11"/>
              </a:solidFill>
              <a:latin typeface="Times New Roman"/>
              <a:ea typeface="Times New Roman"/>
              <a:cs typeface="Times New Roman"/>
              <a:sym typeface="Times New Roman"/>
            </a:endParaRPr>
          </a:p>
        </p:txBody>
      </p:sp>
      <p:pic>
        <p:nvPicPr>
          <p:cNvPr id="117" name="Picture 116" descr="fig6.png"/>
          <p:cNvPicPr>
            <a:picLocks noChangeAspect="1"/>
          </p:cNvPicPr>
          <p:nvPr/>
        </p:nvPicPr>
        <p:blipFill>
          <a:blip r:embed="rId2"/>
          <a:stretch>
            <a:fillRect/>
          </a:stretch>
        </p:blipFill>
        <p:spPr>
          <a:xfrm>
            <a:off x="411480" y="2241755"/>
            <a:ext cx="6675120" cy="3014570"/>
          </a:xfrm>
          <a:prstGeom prst="rect">
            <a:avLst/>
          </a:prstGeom>
        </p:spPr>
      </p:pic>
      <p:sp>
        <p:nvSpPr>
          <p:cNvPr id="118" name="TextBox 117"/>
          <p:cNvSpPr txBox="1"/>
          <p:nvPr/>
        </p:nvSpPr>
        <p:spPr>
          <a:xfrm>
            <a:off x="7315200" y="1051560"/>
            <a:ext cx="4480560" cy="5394960"/>
          </a:xfrm>
          <a:prstGeom prst="rect">
            <a:avLst/>
          </a:prstGeom>
          <a:noFill/>
        </p:spPr>
        <p:txBody>
          <a:bodyPr wrap="square" anchor="t" lIns="45720" rIns="45720" tIns="27432" bIns="27432">
            <a:spAutoFit/>
          </a:bodyPr>
          <a:lstStyle/>
          <a:p>
            <a:pPr marL="285750" indent="-285750">
              <a:spcAft>
                <a:spcPts val="500"/>
              </a:spcAft>
              <a:buClr>
                <a:srgbClr val="0070C0"/>
              </a:buClr>
              <a:buSzPts val="1600"/>
              <a:buFont typeface="Noto Sans Symbols"/>
              <a:buChar char="❖"/>
            </a:pPr>
            <a:r>
              <a:rPr sz="1500" b="1" i="0">
                <a:solidFill>
                  <a:srgbClr val="1F1F1F"/>
                </a:solidFill>
                <a:latin typeface="Times New Roman"/>
                <a:ea typeface="Times New Roman"/>
                <a:cs typeface="Times New Roman"/>
              </a:rPr>
              <a:t>Catalog</a:t>
            </a:r>
            <a:r>
              <a:rPr sz="1500" b="0" i="0">
                <a:solidFill>
                  <a:srgbClr val="1F1F1F"/>
                </a:solidFill>
                <a:latin typeface="Times New Roman"/>
                <a:ea typeface="Times New Roman"/>
                <a:cs typeface="Times New Roman"/>
              </a:rPr>
              <a:t>: một con trỏ cho mỗi bảng, trỏ tới metadata.json hiện hành</a:t>
            </a:r>
          </a:p>
          <a:p>
            <a:pPr marL="285750" indent="-285750">
              <a:spcAft>
                <a:spcPts val="500"/>
              </a:spcAft>
              <a:buClr>
                <a:srgbClr val="0070C0"/>
              </a:buClr>
              <a:buSzPts val="1600"/>
              <a:buFont typeface="Noto Sans Symbols"/>
              <a:buChar char="❖"/>
            </a:pPr>
            <a:r>
              <a:rPr sz="1500" b="1" i="0">
                <a:solidFill>
                  <a:srgbClr val="1F1F1F"/>
                </a:solidFill>
                <a:latin typeface="Times New Roman"/>
                <a:ea typeface="Times New Roman"/>
                <a:cs typeface="Times New Roman"/>
              </a:rPr>
              <a:t>metadata.json</a:t>
            </a:r>
            <a:r>
              <a:rPr sz="1500" b="0" i="0">
                <a:solidFill>
                  <a:srgbClr val="1F1F1F"/>
                </a:solidFill>
                <a:latin typeface="Times New Roman"/>
                <a:ea typeface="Times New Roman"/>
                <a:cs typeface="Times New Roman"/>
              </a:rPr>
              <a:t>: schema, partition spec, danh sách snapshot, current-snapshot-id. Mỗi thay đổi tạo file mới 00000, 00001, ...</a:t>
            </a:r>
          </a:p>
          <a:p>
            <a:pPr marL="285750" indent="-285750">
              <a:spcAft>
                <a:spcPts val="500"/>
              </a:spcAft>
              <a:buClr>
                <a:srgbClr val="0070C0"/>
              </a:buClr>
              <a:buSzPts val="1600"/>
              <a:buFont typeface="Noto Sans Symbols"/>
              <a:buChar char="❖"/>
            </a:pPr>
            <a:r>
              <a:rPr sz="1500" b="1" i="0">
                <a:solidFill>
                  <a:srgbClr val="1F1F1F"/>
                </a:solidFill>
                <a:latin typeface="Times New Roman"/>
                <a:ea typeface="Times New Roman"/>
                <a:cs typeface="Times New Roman"/>
              </a:rPr>
              <a:t>Manifest list</a:t>
            </a:r>
            <a:r>
              <a:rPr sz="1500" b="0" i="0">
                <a:solidFill>
                  <a:srgbClr val="1F1F1F"/>
                </a:solidFill>
                <a:latin typeface="Times New Roman"/>
                <a:ea typeface="Times New Roman"/>
                <a:cs typeface="Times New Roman"/>
              </a:rPr>
              <a:t> (snap-*.avro): một file cho mỗi snapshot, tóm tắt partition của từng manifest</a:t>
            </a:r>
          </a:p>
          <a:p>
            <a:pPr marL="285750" indent="-285750">
              <a:spcAft>
                <a:spcPts val="500"/>
              </a:spcAft>
              <a:buClr>
                <a:srgbClr val="0070C0"/>
              </a:buClr>
              <a:buSzPts val="1600"/>
              <a:buFont typeface="Noto Sans Symbols"/>
              <a:buChar char="❖"/>
            </a:pPr>
            <a:r>
              <a:rPr sz="1500" b="1" i="0">
                <a:solidFill>
                  <a:srgbClr val="1F1F1F"/>
                </a:solidFill>
                <a:latin typeface="Times New Roman"/>
                <a:ea typeface="Times New Roman"/>
                <a:cs typeface="Times New Roman"/>
              </a:rPr>
              <a:t>Manifest</a:t>
            </a:r>
            <a:r>
              <a:rPr sz="1500" b="0" i="0">
                <a:solidFill>
                  <a:srgbClr val="1F1F1F"/>
                </a:solidFill>
                <a:latin typeface="Times New Roman"/>
                <a:ea typeface="Times New Roman"/>
                <a:cs typeface="Times New Roman"/>
              </a:rPr>
              <a:t> (*-m0.avro): liệt kê data file kèm min/max, null count từng cột</a:t>
            </a:r>
          </a:p>
          <a:p>
            <a:pPr marL="285750" indent="-285750">
              <a:spcAft>
                <a:spcPts val="500"/>
              </a:spcAft>
              <a:buClr>
                <a:srgbClr val="0070C0"/>
              </a:buClr>
              <a:buSzPts val="1600"/>
              <a:buFont typeface="Noto Sans Symbols"/>
              <a:buChar char="❖"/>
            </a:pPr>
            <a:r>
              <a:rPr sz="1500" b="1" i="0">
                <a:solidFill>
                  <a:srgbClr val="1F1F1F"/>
                </a:solidFill>
                <a:latin typeface="Times New Roman"/>
                <a:ea typeface="Times New Roman"/>
                <a:cs typeface="Times New Roman"/>
              </a:rPr>
              <a:t>Data file</a:t>
            </a:r>
            <a:r>
              <a:rPr sz="1500" b="0" i="0">
                <a:solidFill>
                  <a:srgbClr val="1F1F1F"/>
                </a:solidFill>
                <a:latin typeface="Times New Roman"/>
                <a:ea typeface="Times New Roman"/>
                <a:cs typeface="Times New Roman"/>
              </a:rPr>
              <a:t>: Parquet chứa dữ liệu thật</a:t>
            </a:r>
          </a:p>
          <a:p>
            <a:pPr marL="285750" indent="-285750">
              <a:spcAft>
                <a:spcPts val="500"/>
              </a:spcAft>
              <a:buClr>
                <a:srgbClr val="0070C0"/>
              </a:buClr>
              <a:buSzPts val="1600"/>
              <a:buFont typeface="Noto Sans Symbols"/>
              <a:buChar char="❖"/>
            </a:pPr>
            <a:r>
              <a:rPr sz="1500" b="0" i="0">
                <a:solidFill>
                  <a:srgbClr val="1F1F1F"/>
                </a:solidFill>
                <a:latin typeface="Times New Roman"/>
                <a:ea typeface="Times New Roman"/>
                <a:cs typeface="Times New Roman"/>
              </a:rPr>
              <a:t>Lập kế hoạch truy vấn đi từ trên xuống, bỏ qua cả manifest rồi từng data file, </a:t>
            </a:r>
            <a:r>
              <a:rPr sz="1500" b="1" i="0">
                <a:solidFill>
                  <a:srgbClr val="1F1F1F"/>
                </a:solidFill>
                <a:latin typeface="Times New Roman"/>
                <a:ea typeface="Times New Roman"/>
                <a:cs typeface="Times New Roman"/>
              </a:rPr>
              <a:t>không cần một lệnh LIST nào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Commit nguyên tử bằng compare-and-swap</a:t>
            </a:r>
            <a:endParaRPr b="1" i="0" sz="3400" u="none" cap="none" strike="noStrike">
              <a:solidFill>
                <a:srgbClr val="C55A11"/>
              </a:solidFill>
              <a:latin typeface="Times New Roman"/>
              <a:ea typeface="Times New Roman"/>
              <a:cs typeface="Times New Roman"/>
              <a:sym typeface="Times New Roman"/>
            </a:endParaRPr>
          </a:p>
        </p:txBody>
      </p:sp>
      <p:sp>
        <p:nvSpPr>
          <p:cNvPr id="117" name="Rounded Rectangle 116"/>
          <p:cNvSpPr/>
          <p:nvPr/>
        </p:nvSpPr>
        <p:spPr>
          <a:xfrm>
            <a:off x="411480" y="1051560"/>
            <a:ext cx="1981200" cy="192024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411480" y="1124712"/>
            <a:ext cx="1981200" cy="457200"/>
          </a:xfrm>
          <a:prstGeom prst="rect">
            <a:avLst/>
          </a:prstGeom>
          <a:noFill/>
        </p:spPr>
        <p:txBody>
          <a:bodyPr wrap="square" anchor="t" lIns="45720" rIns="45720" tIns="27432" bIns="27432">
            <a:spAutoFit/>
          </a:bodyPr>
          <a:lstStyle/>
          <a:p>
            <a:pPr algn="ctr"/>
            <a:r>
              <a:rPr sz="2600" b="1" i="0">
                <a:solidFill>
                  <a:srgbClr val="538135"/>
                </a:solidFill>
                <a:latin typeface="Times New Roman"/>
                <a:ea typeface="Times New Roman"/>
                <a:cs typeface="Times New Roman"/>
              </a:rPr>
              <a:t>1</a:t>
            </a:r>
          </a:p>
        </p:txBody>
      </p:sp>
      <p:sp>
        <p:nvSpPr>
          <p:cNvPr id="119" name="TextBox 118"/>
          <p:cNvSpPr txBox="1"/>
          <p:nvPr/>
        </p:nvSpPr>
        <p:spPr>
          <a:xfrm>
            <a:off x="484632" y="1600200"/>
            <a:ext cx="1834896" cy="1325880"/>
          </a:xfrm>
          <a:prstGeom prst="rect">
            <a:avLst/>
          </a:prstGeom>
          <a:noFill/>
        </p:spPr>
        <p:txBody>
          <a:bodyPr wrap="square" anchor="t" lIns="45720" rIns="45720" tIns="27432" bIns="27432">
            <a:spAutoFit/>
          </a:bodyPr>
          <a:lstStyle/>
          <a:p>
            <a:pPr algn="ctr"/>
            <a:r>
              <a:rPr sz="1300" b="0" i="0">
                <a:solidFill>
                  <a:srgbClr val="1F1F1F"/>
                </a:solidFill>
                <a:latin typeface="Times New Roman"/>
                <a:ea typeface="Times New Roman"/>
                <a:cs typeface="Times New Roman"/>
              </a:rPr>
              <a:t>Đọc metadata hiện hành, phiên bản N</a:t>
            </a:r>
          </a:p>
        </p:txBody>
      </p:sp>
      <p:sp>
        <p:nvSpPr>
          <p:cNvPr id="120" name="Right Arrow 119"/>
          <p:cNvSpPr/>
          <p:nvPr/>
        </p:nvSpPr>
        <p:spPr>
          <a:xfrm>
            <a:off x="2438400" y="1828800"/>
            <a:ext cx="274320"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2758440" y="1051560"/>
            <a:ext cx="1981200" cy="192024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2758440" y="1124712"/>
            <a:ext cx="1981200" cy="457200"/>
          </a:xfrm>
          <a:prstGeom prst="rect">
            <a:avLst/>
          </a:prstGeom>
          <a:noFill/>
        </p:spPr>
        <p:txBody>
          <a:bodyPr wrap="square" anchor="t" lIns="45720" rIns="45720" tIns="27432" bIns="27432">
            <a:spAutoFit/>
          </a:bodyPr>
          <a:lstStyle/>
          <a:p>
            <a:pPr algn="ctr"/>
            <a:r>
              <a:rPr sz="2600" b="1" i="0">
                <a:solidFill>
                  <a:srgbClr val="538135"/>
                </a:solidFill>
                <a:latin typeface="Times New Roman"/>
                <a:ea typeface="Times New Roman"/>
                <a:cs typeface="Times New Roman"/>
              </a:rPr>
              <a:t>2</a:t>
            </a:r>
          </a:p>
        </p:txBody>
      </p:sp>
      <p:sp>
        <p:nvSpPr>
          <p:cNvPr id="123" name="TextBox 122"/>
          <p:cNvSpPr txBox="1"/>
          <p:nvPr/>
        </p:nvSpPr>
        <p:spPr>
          <a:xfrm>
            <a:off x="2831592" y="1600200"/>
            <a:ext cx="1834896" cy="1325880"/>
          </a:xfrm>
          <a:prstGeom prst="rect">
            <a:avLst/>
          </a:prstGeom>
          <a:noFill/>
        </p:spPr>
        <p:txBody>
          <a:bodyPr wrap="square" anchor="t" lIns="45720" rIns="45720" tIns="27432" bIns="27432">
            <a:spAutoFit/>
          </a:bodyPr>
          <a:lstStyle/>
          <a:p>
            <a:pPr algn="ctr"/>
            <a:r>
              <a:rPr sz="1300" b="0" i="0">
                <a:solidFill>
                  <a:srgbClr val="1F1F1F"/>
                </a:solidFill>
                <a:latin typeface="Times New Roman"/>
                <a:ea typeface="Times New Roman"/>
                <a:cs typeface="Times New Roman"/>
              </a:rPr>
              <a:t>Ghi data file Parquet mới (chưa ai thấy)</a:t>
            </a:r>
          </a:p>
        </p:txBody>
      </p:sp>
      <p:sp>
        <p:nvSpPr>
          <p:cNvPr id="124" name="Right Arrow 123"/>
          <p:cNvSpPr/>
          <p:nvPr/>
        </p:nvSpPr>
        <p:spPr>
          <a:xfrm>
            <a:off x="4785360" y="1828800"/>
            <a:ext cx="274320"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5105400" y="1051560"/>
            <a:ext cx="1981200" cy="192024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TextBox 125"/>
          <p:cNvSpPr txBox="1"/>
          <p:nvPr/>
        </p:nvSpPr>
        <p:spPr>
          <a:xfrm>
            <a:off x="5105400" y="1124712"/>
            <a:ext cx="1981200" cy="457200"/>
          </a:xfrm>
          <a:prstGeom prst="rect">
            <a:avLst/>
          </a:prstGeom>
          <a:noFill/>
        </p:spPr>
        <p:txBody>
          <a:bodyPr wrap="square" anchor="t" lIns="45720" rIns="45720" tIns="27432" bIns="27432">
            <a:spAutoFit/>
          </a:bodyPr>
          <a:lstStyle/>
          <a:p>
            <a:pPr algn="ctr"/>
            <a:r>
              <a:rPr sz="2600" b="1" i="0">
                <a:solidFill>
                  <a:srgbClr val="538135"/>
                </a:solidFill>
                <a:latin typeface="Times New Roman"/>
                <a:ea typeface="Times New Roman"/>
                <a:cs typeface="Times New Roman"/>
              </a:rPr>
              <a:t>3</a:t>
            </a:r>
          </a:p>
        </p:txBody>
      </p:sp>
      <p:sp>
        <p:nvSpPr>
          <p:cNvPr id="127" name="TextBox 126"/>
          <p:cNvSpPr txBox="1"/>
          <p:nvPr/>
        </p:nvSpPr>
        <p:spPr>
          <a:xfrm>
            <a:off x="5178552" y="1600200"/>
            <a:ext cx="1834896" cy="1325880"/>
          </a:xfrm>
          <a:prstGeom prst="rect">
            <a:avLst/>
          </a:prstGeom>
          <a:noFill/>
        </p:spPr>
        <p:txBody>
          <a:bodyPr wrap="square" anchor="t" lIns="45720" rIns="45720" tIns="27432" bIns="27432">
            <a:spAutoFit/>
          </a:bodyPr>
          <a:lstStyle/>
          <a:p>
            <a:pPr algn="ctr"/>
            <a:r>
              <a:rPr sz="1300" b="0" i="0">
                <a:solidFill>
                  <a:srgbClr val="1F1F1F"/>
                </a:solidFill>
                <a:latin typeface="Times New Roman"/>
                <a:ea typeface="Times New Roman"/>
                <a:cs typeface="Times New Roman"/>
              </a:rPr>
              <a:t>Ghi manifest, manifest list, metadata.json N+1</a:t>
            </a:r>
          </a:p>
        </p:txBody>
      </p:sp>
      <p:sp>
        <p:nvSpPr>
          <p:cNvPr id="128" name="Right Arrow 127"/>
          <p:cNvSpPr/>
          <p:nvPr/>
        </p:nvSpPr>
        <p:spPr>
          <a:xfrm>
            <a:off x="7132320" y="1828800"/>
            <a:ext cx="274320"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7452360" y="1051560"/>
            <a:ext cx="1981200" cy="1920240"/>
          </a:xfrm>
          <a:prstGeom prst="roundRect">
            <a:avLst>
              <a:gd name="adj" fmla="val 8000"/>
            </a:avLst>
          </a:prstGeom>
          <a:solidFill>
            <a:srgbClr val="F4B081"/>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TextBox 129"/>
          <p:cNvSpPr txBox="1"/>
          <p:nvPr/>
        </p:nvSpPr>
        <p:spPr>
          <a:xfrm>
            <a:off x="7452360" y="1124712"/>
            <a:ext cx="1981200" cy="457200"/>
          </a:xfrm>
          <a:prstGeom prst="rect">
            <a:avLst/>
          </a:prstGeom>
          <a:noFill/>
        </p:spPr>
        <p:txBody>
          <a:bodyPr wrap="square" anchor="t" lIns="45720" rIns="45720" tIns="27432" bIns="27432">
            <a:spAutoFit/>
          </a:bodyPr>
          <a:lstStyle/>
          <a:p>
            <a:pPr algn="ctr"/>
            <a:r>
              <a:rPr sz="2600" b="1" i="0">
                <a:solidFill>
                  <a:srgbClr val="C55A11"/>
                </a:solidFill>
                <a:latin typeface="Times New Roman"/>
                <a:ea typeface="Times New Roman"/>
                <a:cs typeface="Times New Roman"/>
              </a:rPr>
              <a:t>4</a:t>
            </a:r>
          </a:p>
        </p:txBody>
      </p:sp>
      <p:sp>
        <p:nvSpPr>
          <p:cNvPr id="131" name="TextBox 130"/>
          <p:cNvSpPr txBox="1"/>
          <p:nvPr/>
        </p:nvSpPr>
        <p:spPr>
          <a:xfrm>
            <a:off x="7525512" y="1600200"/>
            <a:ext cx="1834896" cy="1325880"/>
          </a:xfrm>
          <a:prstGeom prst="rect">
            <a:avLst/>
          </a:prstGeom>
          <a:noFill/>
        </p:spPr>
        <p:txBody>
          <a:bodyPr wrap="square" anchor="t" lIns="45720" rIns="45720" tIns="27432" bIns="27432">
            <a:spAutoFit/>
          </a:bodyPr>
          <a:lstStyle/>
          <a:p>
            <a:pPr algn="ctr"/>
            <a:r>
              <a:rPr sz="1300" b="0" i="0">
                <a:solidFill>
                  <a:srgbClr val="1F1F1F"/>
                </a:solidFill>
                <a:latin typeface="Times New Roman"/>
                <a:ea typeface="Times New Roman"/>
                <a:cs typeface="Times New Roman"/>
              </a:rPr>
              <a:t>Yêu cầu catalog đổi con trỏ N → N+1, với điều kiện con trỏ vẫn là N</a:t>
            </a:r>
          </a:p>
        </p:txBody>
      </p:sp>
      <p:sp>
        <p:nvSpPr>
          <p:cNvPr id="132" name="Right Arrow 131"/>
          <p:cNvSpPr/>
          <p:nvPr/>
        </p:nvSpPr>
        <p:spPr>
          <a:xfrm>
            <a:off x="9479280" y="1828800"/>
            <a:ext cx="274320" cy="36576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9799320" y="1051560"/>
            <a:ext cx="1981200" cy="1920240"/>
          </a:xfrm>
          <a:prstGeom prst="roundRect">
            <a:avLst>
              <a:gd name="adj" fmla="val 8000"/>
            </a:avLst>
          </a:prstGeom>
          <a:solidFill>
            <a:srgbClr val="EEF4E8"/>
          </a:solidFill>
          <a:ln w="19050">
            <a:solidFill>
              <a:srgbClr val="53813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TextBox 133"/>
          <p:cNvSpPr txBox="1"/>
          <p:nvPr/>
        </p:nvSpPr>
        <p:spPr>
          <a:xfrm>
            <a:off x="9799320" y="1124712"/>
            <a:ext cx="1981200" cy="457200"/>
          </a:xfrm>
          <a:prstGeom prst="rect">
            <a:avLst/>
          </a:prstGeom>
          <a:noFill/>
        </p:spPr>
        <p:txBody>
          <a:bodyPr wrap="square" anchor="t" lIns="45720" rIns="45720" tIns="27432" bIns="27432">
            <a:spAutoFit/>
          </a:bodyPr>
          <a:lstStyle/>
          <a:p>
            <a:pPr algn="ctr"/>
            <a:r>
              <a:rPr sz="2600" b="1" i="0">
                <a:solidFill>
                  <a:srgbClr val="538135"/>
                </a:solidFill>
                <a:latin typeface="Times New Roman"/>
                <a:ea typeface="Times New Roman"/>
                <a:cs typeface="Times New Roman"/>
              </a:rPr>
              <a:t>5</a:t>
            </a:r>
          </a:p>
        </p:txBody>
      </p:sp>
      <p:sp>
        <p:nvSpPr>
          <p:cNvPr id="135" name="TextBox 134"/>
          <p:cNvSpPr txBox="1"/>
          <p:nvPr/>
        </p:nvSpPr>
        <p:spPr>
          <a:xfrm>
            <a:off x="9872472" y="1600200"/>
            <a:ext cx="1834896" cy="1325880"/>
          </a:xfrm>
          <a:prstGeom prst="rect">
            <a:avLst/>
          </a:prstGeom>
          <a:noFill/>
        </p:spPr>
        <p:txBody>
          <a:bodyPr wrap="square" anchor="t" lIns="45720" rIns="45720" tIns="27432" bIns="27432">
            <a:spAutoFit/>
          </a:bodyPr>
          <a:lstStyle/>
          <a:p>
            <a:pPr algn="ctr"/>
            <a:r>
              <a:rPr sz="1300" b="0" i="0">
                <a:solidFill>
                  <a:srgbClr val="1F1F1F"/>
                </a:solidFill>
                <a:latin typeface="Times New Roman"/>
                <a:ea typeface="Times New Roman"/>
                <a:cs typeface="Times New Roman"/>
              </a:rPr>
              <a:t>Nếu người khác commit trước: thất bại, đọc lại, kiểm tra xung đột, thử lại</a:t>
            </a:r>
          </a:p>
        </p:txBody>
      </p:sp>
      <p:sp>
        <p:nvSpPr>
          <p:cNvPr id="136" name="TextBox 135"/>
          <p:cNvSpPr txBox="1"/>
          <p:nvPr/>
        </p:nvSpPr>
        <p:spPr>
          <a:xfrm>
            <a:off x="411480" y="3200400"/>
            <a:ext cx="11369040" cy="365760"/>
          </a:xfrm>
          <a:prstGeom prst="rect">
            <a:avLst/>
          </a:prstGeom>
          <a:noFill/>
        </p:spPr>
        <p:txBody>
          <a:bodyPr wrap="square" anchor="t" lIns="45720" rIns="45720" tIns="27432" bIns="27432">
            <a:spAutoFit/>
          </a:bodyPr>
          <a:lstStyle/>
          <a:p>
            <a:pPr algn="l"/>
            <a:r>
              <a:rPr sz="1800" b="1" i="0">
                <a:solidFill>
                  <a:srgbClr val="0070C0"/>
                </a:solidFill>
                <a:latin typeface="Times New Roman"/>
                <a:ea typeface="Times New Roman"/>
                <a:cs typeface="Times New Roman"/>
              </a:rPr>
              <a:t>Từ quy trình này có đủ ACID</a:t>
            </a:r>
          </a:p>
        </p:txBody>
      </p:sp>
      <p:sp>
        <p:nvSpPr>
          <p:cNvPr id="137" name="TextBox 136"/>
          <p:cNvSpPr txBox="1"/>
          <p:nvPr/>
        </p:nvSpPr>
        <p:spPr>
          <a:xfrm>
            <a:off x="411480" y="3611880"/>
            <a:ext cx="5501640" cy="2377440"/>
          </a:xfrm>
          <a:prstGeom prst="rect">
            <a:avLst/>
          </a:prstGeom>
          <a:noFill/>
        </p:spPr>
        <p:txBody>
          <a:bodyPr wrap="square" anchor="t" lIns="45720" rIns="45720" tIns="27432" bIns="27432">
            <a:spAutoFit/>
          </a:bodyPr>
          <a:lstStyle/>
          <a:p>
            <a:pPr marL="571500" indent="-228600">
              <a:spcAft>
                <a:spcPts val="500"/>
              </a:spcAft>
              <a:buClr>
                <a:srgbClr val="595959"/>
              </a:buClr>
              <a:buFont typeface="Arial"/>
              <a:buChar char="•"/>
            </a:pPr>
            <a:r>
              <a:rPr sz="1400" b="1" i="0">
                <a:solidFill>
                  <a:srgbClr val="1F1F1F"/>
                </a:solidFill>
                <a:latin typeface="Times New Roman"/>
                <a:ea typeface="Times New Roman"/>
                <a:cs typeface="Times New Roman"/>
              </a:rPr>
              <a:t>Atomicity</a:t>
            </a:r>
            <a:r>
              <a:rPr sz="1400" b="0" i="0">
                <a:solidFill>
                  <a:srgbClr val="1F1F1F"/>
                </a:solidFill>
                <a:latin typeface="Times New Roman"/>
                <a:ea typeface="Times New Roman"/>
                <a:cs typeface="Times New Roman"/>
              </a:rPr>
              <a:t>: bước 4 là một phép đổi con trỏ duy nhất. Job chết trước đó chỉ để lại file mồ côi, bảng không đổi. Đây là lời giải cho lỗi partial write</a:t>
            </a:r>
          </a:p>
          <a:p>
            <a:pPr marL="571500" indent="-228600">
              <a:spcAft>
                <a:spcPts val="500"/>
              </a:spcAft>
              <a:buClr>
                <a:srgbClr val="595959"/>
              </a:buClr>
              <a:buFont typeface="Arial"/>
              <a:buChar char="•"/>
            </a:pPr>
            <a:r>
              <a:rPr sz="1400" b="1" i="0">
                <a:solidFill>
                  <a:srgbClr val="1F1F1F"/>
                </a:solidFill>
                <a:latin typeface="Times New Roman"/>
                <a:ea typeface="Times New Roman"/>
                <a:cs typeface="Times New Roman"/>
              </a:rPr>
              <a:t>Consistency</a:t>
            </a:r>
            <a:r>
              <a:rPr sz="1400" b="0" i="0">
                <a:solidFill>
                  <a:srgbClr val="1F1F1F"/>
                </a:solidFill>
                <a:latin typeface="Times New Roman"/>
                <a:ea typeface="Times New Roman"/>
                <a:cs typeface="Times New Roman"/>
              </a:rPr>
              <a:t>: writer phải ghi đúng schema; batch sai kiểu bị từ chối trước khi commit</a:t>
            </a:r>
          </a:p>
        </p:txBody>
      </p:sp>
      <p:sp>
        <p:nvSpPr>
          <p:cNvPr id="138" name="TextBox 137"/>
          <p:cNvSpPr txBox="1"/>
          <p:nvPr/>
        </p:nvSpPr>
        <p:spPr>
          <a:xfrm>
            <a:off x="6278880" y="3611880"/>
            <a:ext cx="5501640" cy="2377440"/>
          </a:xfrm>
          <a:prstGeom prst="rect">
            <a:avLst/>
          </a:prstGeom>
          <a:noFill/>
        </p:spPr>
        <p:txBody>
          <a:bodyPr wrap="square" anchor="t" lIns="45720" rIns="45720" tIns="27432" bIns="27432">
            <a:spAutoFit/>
          </a:bodyPr>
          <a:lstStyle/>
          <a:p>
            <a:pPr marL="571500" indent="-228600">
              <a:spcAft>
                <a:spcPts val="500"/>
              </a:spcAft>
              <a:buClr>
                <a:srgbClr val="595959"/>
              </a:buClr>
              <a:buFont typeface="Arial"/>
              <a:buChar char="•"/>
            </a:pPr>
            <a:r>
              <a:rPr sz="1400" b="1" i="0">
                <a:solidFill>
                  <a:srgbClr val="1F1F1F"/>
                </a:solidFill>
                <a:latin typeface="Times New Roman"/>
                <a:ea typeface="Times New Roman"/>
                <a:cs typeface="Times New Roman"/>
              </a:rPr>
              <a:t>Isolation</a:t>
            </a:r>
            <a:r>
              <a:rPr sz="1400" b="0" i="0">
                <a:solidFill>
                  <a:srgbClr val="1F1F1F"/>
                </a:solidFill>
                <a:latin typeface="Times New Roman"/>
                <a:ea typeface="Times New Roman"/>
                <a:cs typeface="Times New Roman"/>
              </a:rPr>
              <a:t>: reader cố định một snapshot khi bắt đầu đọc, không thấy dữ liệu ghi dở</a:t>
            </a:r>
          </a:p>
          <a:p>
            <a:pPr marL="571500" indent="-228600">
              <a:spcAft>
                <a:spcPts val="500"/>
              </a:spcAft>
              <a:buClr>
                <a:srgbClr val="595959"/>
              </a:buClr>
              <a:buFont typeface="Arial"/>
              <a:buChar char="•"/>
            </a:pPr>
            <a:r>
              <a:rPr sz="1400" b="1" i="0">
                <a:solidFill>
                  <a:srgbClr val="1F1F1F"/>
                </a:solidFill>
                <a:latin typeface="Times New Roman"/>
                <a:ea typeface="Times New Roman"/>
                <a:cs typeface="Times New Roman"/>
              </a:rPr>
              <a:t>Durability</a:t>
            </a:r>
            <a:r>
              <a:rPr sz="1400" b="0" i="0">
                <a:solidFill>
                  <a:srgbClr val="1F1F1F"/>
                </a:solidFill>
                <a:latin typeface="Times New Roman"/>
                <a:ea typeface="Times New Roman"/>
                <a:cs typeface="Times New Roman"/>
              </a:rPr>
              <a:t>: metadata và data đều trên storage bền vững</a:t>
            </a:r>
          </a:p>
          <a:p>
            <a:pPr marL="571500" indent="-228600">
              <a:spcAft>
                <a:spcPts val="500"/>
              </a:spcAft>
              <a:buClr>
                <a:srgbClr val="595959"/>
              </a:buClr>
              <a:buFont typeface="Arial"/>
              <a:buChar char="•"/>
            </a:pPr>
            <a:r>
              <a:rPr sz="1400" b="0" i="0">
                <a:solidFill>
                  <a:srgbClr val="1F1F1F"/>
                </a:solidFill>
                <a:latin typeface="Times New Roman"/>
                <a:ea typeface="Times New Roman"/>
                <a:cs typeface="Times New Roman"/>
              </a:rPr>
              <a:t>Đây là </a:t>
            </a:r>
            <a:r>
              <a:rPr sz="1400" b="1" i="0">
                <a:solidFill>
                  <a:srgbClr val="1F1F1F"/>
                </a:solidFill>
                <a:latin typeface="Times New Roman"/>
                <a:ea typeface="Times New Roman"/>
                <a:cs typeface="Times New Roman"/>
              </a:rPr>
              <a:t>optimistic concurrency</a:t>
            </a:r>
            <a:r>
              <a:rPr sz="1400" b="0" i="0">
                <a:solidFill>
                  <a:srgbClr val="1F1F1F"/>
                </a:solidFill>
                <a:latin typeface="Times New Roman"/>
                <a:ea typeface="Times New Roman"/>
                <a:cs typeface="Times New Roman"/>
              </a:rPr>
              <a:t>: không khóa trước, xung đột phát hiện lúc commit; hợp với workload phân tích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Schema evolution và partition evolution chỉ sửa metadata</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11369040" cy="173736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600" b="0" i="0">
                <a:solidFill>
                  <a:srgbClr val="1F1F1F"/>
                </a:solidFill>
                <a:latin typeface="Times New Roman"/>
                <a:ea typeface="Times New Roman"/>
                <a:cs typeface="Times New Roman"/>
              </a:rPr>
              <a:t>Iceberg định danh cột bằng </a:t>
            </a:r>
            <a:r>
              <a:rPr sz="1600" b="1" i="0">
                <a:solidFill>
                  <a:srgbClr val="1F1F1F"/>
                </a:solidFill>
                <a:latin typeface="Times New Roman"/>
                <a:ea typeface="Times New Roman"/>
                <a:cs typeface="Times New Roman"/>
              </a:rPr>
              <a:t>field ID</a:t>
            </a:r>
            <a:r>
              <a:rPr sz="1600" b="0" i="0">
                <a:solidFill>
                  <a:srgbClr val="1F1F1F"/>
                </a:solidFill>
                <a:latin typeface="Times New Roman"/>
                <a:ea typeface="Times New Roman"/>
                <a:cs typeface="Times New Roman"/>
              </a:rPr>
              <a:t>, không bằng tên hay vị trí: thêm, đổi tên, xóa cột chỉ là sửa metadata</a:t>
            </a:r>
          </a:p>
          <a:p>
            <a:pPr marL="285750" indent="-285750">
              <a:spcAft>
                <a:spcPts val="600"/>
              </a:spcAft>
              <a:buClr>
                <a:srgbClr val="0070C0"/>
              </a:buClr>
              <a:buSzPts val="1600"/>
              <a:buFont typeface="Noto Sans Symbols"/>
              <a:buChar char="❖"/>
            </a:pPr>
            <a:r>
              <a:rPr sz="1600" b="1" i="0">
                <a:solidFill>
                  <a:srgbClr val="1F1F1F"/>
                </a:solidFill>
                <a:latin typeface="Times New Roman"/>
                <a:ea typeface="Times New Roman"/>
                <a:cs typeface="Times New Roman"/>
              </a:rPr>
              <a:t>Hidden partitioning</a:t>
            </a:r>
            <a:r>
              <a:rPr sz="1600" b="0" i="0">
                <a:solidFill>
                  <a:srgbClr val="1F1F1F"/>
                </a:solidFill>
                <a:latin typeface="Times New Roman"/>
                <a:ea typeface="Times New Roman"/>
                <a:cs typeface="Times New Roman"/>
              </a:rPr>
              <a:t>: spec khai báo transform như day(pickup_at); người dùng chỉ lọc trên cột gốc</a:t>
            </a:r>
          </a:p>
          <a:p>
            <a:pPr marL="285750" indent="-285750">
              <a:spcAft>
                <a:spcPts val="600"/>
              </a:spcAft>
              <a:buClr>
                <a:srgbClr val="0070C0"/>
              </a:buClr>
              <a:buSzPts val="1600"/>
              <a:buFont typeface="Noto Sans Symbols"/>
              <a:buChar char="❖"/>
            </a:pPr>
            <a:r>
              <a:rPr sz="1600" b="0" i="0">
                <a:solidFill>
                  <a:srgbClr val="1F1F1F"/>
                </a:solidFill>
                <a:latin typeface="Times New Roman"/>
                <a:ea typeface="Times New Roman"/>
                <a:cs typeface="Times New Roman"/>
              </a:rPr>
              <a:t>Đổi partition spec: file cũ giữ spec cũ, file mới theo spec mới, engine lập kế hoạch riêng cho từng spec</a:t>
            </a:r>
          </a:p>
        </p:txBody>
      </p:sp>
      <p:sp>
        <p:nvSpPr>
          <p:cNvPr id="118" name="Rectangle 117"/>
          <p:cNvSpPr/>
          <p:nvPr/>
        </p:nvSpPr>
        <p:spPr>
          <a:xfrm>
            <a:off x="411480" y="2880360"/>
            <a:ext cx="7223760" cy="1828800"/>
          </a:xfrm>
          <a:prstGeom prst="rect">
            <a:avLst/>
          </a:prstGeom>
          <a:solidFill>
            <a:srgbClr val="F4F4F4"/>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r>
              <a:rPr sz="1200" b="0" i="0">
                <a:solidFill>
                  <a:srgbClr val="1F1F1F"/>
                </a:solidFill>
                <a:latin typeface="Courier New"/>
                <a:ea typeface="Courier New"/>
                <a:cs typeface="Courier New"/>
              </a:rPr>
              <a:t>with tbl.update_schema() as update:</a:t>
            </a:r>
          </a:p>
          <a:p>
            <a:pPr algn="l"/>
            <a:r>
              <a:rPr sz="1200" b="0" i="0">
                <a:solidFill>
                  <a:srgbClr val="1F1F1F"/>
                </a:solidFill>
                <a:latin typeface="Courier New"/>
                <a:ea typeface="Courier New"/>
                <a:cs typeface="Courier New"/>
              </a:rPr>
              <a:t>    update.add_column("tip_per_mile", DoubleType(), doc="tip_amount / trip_distance")</a:t>
            </a:r>
          </a:p>
          <a:p>
            <a:pPr algn="l"/>
            <a:r>
              <a:rPr sz="1200" b="0" i="0">
                <a:solidFill>
                  <a:srgbClr val="1F1F1F"/>
                </a:solidFill>
                <a:latin typeface="Courier New"/>
                <a:ea typeface="Courier New"/>
                <a:cs typeface="Courier New"/>
              </a:rPr>
              <a:t>with tbl.update_spec() as spec:</a:t>
            </a:r>
          </a:p>
          <a:p>
            <a:pPr algn="l"/>
            <a:r>
              <a:rPr sz="1200" b="0" i="0">
                <a:solidFill>
                  <a:srgbClr val="1F1F1F"/>
                </a:solidFill>
                <a:latin typeface="Courier New"/>
                <a:ea typeface="Courier New"/>
                <a:cs typeface="Courier New"/>
              </a:rPr>
              <a:t>    spec.add_field("pickup_at", DayTransform(), "pickup_day")</a:t>
            </a:r>
          </a:p>
          <a:p>
            <a:pPr algn="l"/>
            <a:r>
              <a:rPr sz="1200" b="0" i="0">
                <a:solidFill>
                  <a:srgbClr val="538135"/>
                </a:solidFill>
                <a:latin typeface="Courier New"/>
                <a:ea typeface="Courier New"/>
                <a:cs typeface="Courier New"/>
              </a:rPr>
              <a:t># Schema hiện tại có 16 cột, cột mới có field_id = 16</a:t>
            </a:r>
          </a:p>
          <a:p>
            <a:pPr algn="l"/>
            <a:r>
              <a:rPr sz="1200" b="0" i="0">
                <a:solidFill>
                  <a:srgbClr val="538135"/>
                </a:solidFill>
                <a:latin typeface="Courier New"/>
                <a:ea typeface="Courier New"/>
                <a:cs typeface="Courier New"/>
              </a:rPr>
              <a:t># Snapshot hiện tại vẫn là 1178427703463806229: chưa file dữ liệu nào bị ghi lại.</a:t>
            </a:r>
          </a:p>
        </p:txBody>
      </p:sp>
      <p:sp>
        <p:nvSpPr>
          <p:cNvPr id="119" name="Rectangle 118"/>
          <p:cNvSpPr/>
          <p:nvPr/>
        </p:nvSpPr>
        <p:spPr>
          <a:xfrm>
            <a:off x="7863840" y="2880360"/>
            <a:ext cx="3931920" cy="1828800"/>
          </a:xfrm>
          <a:prstGeom prst="rect">
            <a:avLst/>
          </a:prstGeom>
          <a:solidFill>
            <a:srgbClr val="F4F4F4"/>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r>
              <a:rPr sz="1100" b="0" i="0">
                <a:solidFill>
                  <a:srgbClr val="1F1F1F"/>
                </a:solidFill>
                <a:latin typeface="Courier New"/>
                <a:ea typeface="Courier New"/>
                <a:cs typeface="Courier New"/>
              </a:rPr>
              <a:t>         so_file  so_dong</a:t>
            </a:r>
          </a:p>
          <a:p>
            <a:pPr algn="l"/>
            <a:r>
              <a:rPr sz="1100" b="0" i="0">
                <a:solidFill>
                  <a:srgbClr val="1F1F1F"/>
                </a:solidFill>
                <a:latin typeface="Courier New"/>
                <a:ea typeface="Courier New"/>
                <a:cs typeface="Courier New"/>
              </a:rPr>
              <a:t>spec_id</a:t>
            </a:r>
          </a:p>
          <a:p>
            <a:pPr algn="l"/>
            <a:r>
              <a:rPr sz="1100" b="0" i="0">
                <a:solidFill>
                  <a:srgbClr val="1F1F1F"/>
                </a:solidFill>
                <a:latin typeface="Courier New"/>
                <a:ea typeface="Courier New"/>
                <a:cs typeface="Courier New"/>
              </a:rPr>
              <a:t>0              1  2998337   # tháng 01, không partition</a:t>
            </a:r>
          </a:p>
          <a:p>
            <a:pPr algn="l"/>
            <a:r>
              <a:rPr sz="1100" b="0" i="0">
                <a:solidFill>
                  <a:srgbClr val="1F1F1F"/>
                </a:solidFill>
                <a:latin typeface="Courier New"/>
                <a:ea typeface="Courier New"/>
                <a:cs typeface="Courier New"/>
              </a:rPr>
              <a:t>1             28  2850309   # tháng 02, partition theo ngày</a:t>
            </a:r>
          </a:p>
          <a:p>
            <a:pPr algn="l"/>
            <a:r>
              <a:rPr sz="1100" b="0" i="0">
                <a:solidFill>
                  <a:srgbClr val="1F1F1F"/>
                </a:solidFill>
                <a:latin typeface="Courier New"/>
                <a:ea typeface="Courier New"/>
                <a:cs typeface="Courier New"/>
              </a:rPr>
              <a:t> </a:t>
            </a:r>
          </a:p>
          <a:p>
            <a:pPr algn="l"/>
            <a:r>
              <a:rPr sz="1100" b="0" i="0">
                <a:solidFill>
                  <a:srgbClr val="1F1F1F"/>
                </a:solidFill>
                <a:latin typeface="Courier New"/>
                <a:ea typeface="Courier New"/>
                <a:cs typeface="Courier New"/>
              </a:rPr>
              <a:t>Truy vấn ngày 15/02 chỉ cần đọc 1/29 file</a:t>
            </a:r>
          </a:p>
          <a:p>
            <a:pPr algn="l"/>
            <a:r>
              <a:rPr sz="1100" b="0" i="0">
                <a:solidFill>
                  <a:srgbClr val="1F1F1F"/>
                </a:solidFill>
                <a:latin typeface="Courier New"/>
                <a:ea typeface="Courier New"/>
                <a:cs typeface="Courier New"/>
              </a:rPr>
              <a:t>nhờ partition pruning.</a:t>
            </a:r>
          </a:p>
        </p:txBody>
      </p:sp>
      <p:sp>
        <p:nvSpPr>
          <p:cNvPr id="120" name="TextBox 119"/>
          <p:cNvSpPr txBox="1"/>
          <p:nvPr/>
        </p:nvSpPr>
        <p:spPr>
          <a:xfrm>
            <a:off x="411480" y="4892040"/>
            <a:ext cx="11369040" cy="1463040"/>
          </a:xfrm>
          <a:prstGeom prst="rect">
            <a:avLst/>
          </a:prstGeom>
          <a:noFill/>
        </p:spPr>
        <p:txBody>
          <a:bodyPr wrap="square" anchor="t" lIns="45720" rIns="45720" tIns="27432" bIns="27432">
            <a:spAutoFit/>
          </a:bodyPr>
          <a:lstStyle/>
          <a:p>
            <a:pPr marL="285750" indent="-285750">
              <a:spcAft>
                <a:spcPts val="300"/>
              </a:spcAft>
              <a:buClr>
                <a:srgbClr val="0070C0"/>
              </a:buClr>
              <a:buSzPts val="1600"/>
              <a:buFont typeface="Noto Sans Symbols"/>
              <a:buChar char="❖"/>
            </a:pPr>
            <a:r>
              <a:rPr sz="1500" b="0" i="0">
                <a:solidFill>
                  <a:srgbClr val="1F1F1F"/>
                </a:solidFill>
                <a:latin typeface="Times New Roman"/>
                <a:ea typeface="Times New Roman"/>
                <a:cs typeface="Times New Roman"/>
              </a:rPr>
              <a:t>Cột mới trả </a:t>
            </a:r>
            <a:r>
              <a:rPr sz="1500" b="1" i="0">
                <a:solidFill>
                  <a:srgbClr val="1F1F1F"/>
                </a:solidFill>
                <a:latin typeface="Times New Roman"/>
                <a:ea typeface="Times New Roman"/>
                <a:cs typeface="Times New Roman"/>
              </a:rPr>
              <a:t>NULL</a:t>
            </a:r>
            <a:r>
              <a:rPr sz="1500" b="0" i="0">
                <a:solidFill>
                  <a:srgbClr val="1F1F1F"/>
                </a:solidFill>
                <a:latin typeface="Times New Roman"/>
                <a:ea typeface="Times New Roman"/>
                <a:cs typeface="Times New Roman"/>
              </a:rPr>
              <a:t> cho file ghi trước khi có cột; lớp Gold dùng coalesce để tính lại</a:t>
            </a:r>
          </a:p>
          <a:p>
            <a:pPr marL="285750" indent="-285750">
              <a:spcAft>
                <a:spcPts val="300"/>
              </a:spcAft>
              <a:buClr>
                <a:srgbClr val="0070C0"/>
              </a:buClr>
              <a:buSzPts val="1600"/>
              <a:buFont typeface="Noto Sans Symbols"/>
              <a:buChar char="❖"/>
            </a:pPr>
            <a:r>
              <a:rPr sz="1500" b="0" i="0">
                <a:solidFill>
                  <a:srgbClr val="1F1F1F"/>
                </a:solidFill>
                <a:latin typeface="Times New Roman"/>
                <a:ea typeface="Times New Roman"/>
                <a:cs typeface="Times New Roman"/>
              </a:rPr>
              <a:t>Thử append batch có vendor_id kiểu chuỗi: PyIceberg từ chối với </a:t>
            </a:r>
            <a:r>
              <a:rPr sz="1500" b="1" i="0">
                <a:solidFill>
                  <a:srgbClr val="1F1F1F"/>
                </a:solidFill>
                <a:latin typeface="Times New Roman"/>
                <a:ea typeface="Times New Roman"/>
                <a:cs typeface="Times New Roman"/>
              </a:rPr>
              <a:t>Mismatch in fields</a:t>
            </a:r>
            <a:r>
              <a:rPr sz="1500" b="0" i="0">
                <a:solidFill>
                  <a:srgbClr val="1F1F1F"/>
                </a:solidFill>
                <a:latin typeface="Times New Roman"/>
                <a:ea typeface="Times New Roman"/>
                <a:cs typeface="Times New Roman"/>
              </a:rPr>
              <a:t>, snapshot giữ nguyên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Copy-on-Write, Merge-on-Read và time travel</a:t>
            </a:r>
            <a:endParaRPr b="1" i="0" sz="3400" u="none" cap="none" strike="noStrike">
              <a:solidFill>
                <a:srgbClr val="C55A11"/>
              </a:solidFill>
              <a:latin typeface="Times New Roman"/>
              <a:ea typeface="Times New Roman"/>
              <a:cs typeface="Times New Roman"/>
              <a:sym typeface="Times New Roman"/>
            </a:endParaRPr>
          </a:p>
        </p:txBody>
      </p:sp>
      <p:graphicFrame>
        <p:nvGraphicFramePr>
          <p:cNvPr id="117" name="Table 116"/>
          <p:cNvGraphicFramePr>
            <a:graphicFrameLocks noGrp="1"/>
          </p:cNvGraphicFramePr>
          <p:nvPr/>
        </p:nvGraphicFramePr>
        <p:xfrm>
          <a:off x="411480" y="1051560"/>
          <a:ext cx="7315199" cy="2514600"/>
        </p:xfrm>
        <a:graphic>
          <a:graphicData uri="http://schemas.openxmlformats.org/drawingml/2006/table">
            <a:tbl>
              <a:tblPr firstRow="1" bandRow="1">
                <a:tableStyleId>{5C22544A-7EE6-4342-B048-85BDC9FD1C3A}</a:tableStyleId>
              </a:tblPr>
              <a:tblGrid>
                <a:gridCol w="1322024"/>
                <a:gridCol w="2820318"/>
                <a:gridCol w="3172857"/>
              </a:tblGrid>
              <a:tr h="502920">
                <a:tc>
                  <a:txBody>
                    <a:bodyPr wrap="square"/>
                    <a:lstStyle/>
                    <a:p>
                      <a:r>
                        <a:rPr sz="1300" b="1" i="0">
                          <a:solidFill>
                            <a:srgbClr val="FFFFFF"/>
                          </a:solidFill>
                          <a:latin typeface="Times New Roman"/>
                          <a:ea typeface="Times New Roman"/>
                          <a:cs typeface="Times New Roman"/>
                        </a:rPr>
                        <a:t>Tiêu chí</a:t>
                      </a:r>
                    </a:p>
                  </a:txBody>
                  <a:tcPr marL="73152" marR="73152" marT="27432" marB="27432" anchor="ctr">
                    <a:solidFill>
                      <a:srgbClr val="538135"/>
                    </a:solidFill>
                  </a:tcPr>
                </a:tc>
                <a:tc>
                  <a:txBody>
                    <a:bodyPr wrap="square"/>
                    <a:lstStyle/>
                    <a:p>
                      <a:r>
                        <a:rPr sz="1300" b="1" i="0">
                          <a:solidFill>
                            <a:srgbClr val="FFFFFF"/>
                          </a:solidFill>
                          <a:latin typeface="Times New Roman"/>
                          <a:ea typeface="Times New Roman"/>
                          <a:cs typeface="Times New Roman"/>
                        </a:rPr>
                        <a:t>Copy-on-Write (CoW)</a:t>
                      </a:r>
                    </a:p>
                  </a:txBody>
                  <a:tcPr marL="73152" marR="73152" marT="27432" marB="27432" anchor="ctr">
                    <a:solidFill>
                      <a:srgbClr val="538135"/>
                    </a:solidFill>
                  </a:tcPr>
                </a:tc>
                <a:tc>
                  <a:txBody>
                    <a:bodyPr wrap="square"/>
                    <a:lstStyle/>
                    <a:p>
                      <a:r>
                        <a:rPr sz="1300" b="1" i="0">
                          <a:solidFill>
                            <a:srgbClr val="FFFFFF"/>
                          </a:solidFill>
                          <a:latin typeface="Times New Roman"/>
                          <a:ea typeface="Times New Roman"/>
                          <a:cs typeface="Times New Roman"/>
                        </a:rPr>
                        <a:t>Merge-on-Read (MoR)</a:t>
                      </a:r>
                    </a:p>
                  </a:txBody>
                  <a:tcPr marL="73152" marR="73152" marT="27432" marB="27432" anchor="ctr">
                    <a:solidFill>
                      <a:srgbClr val="538135"/>
                    </a:solidFill>
                  </a:tcPr>
                </a:tc>
              </a:tr>
              <a:tr h="502920">
                <a:tc>
                  <a:txBody>
                    <a:bodyPr wrap="square"/>
                    <a:lstStyle/>
                    <a:p>
                      <a:r>
                        <a:rPr sz="1300" b="1" i="0">
                          <a:solidFill>
                            <a:srgbClr val="1F1F1F"/>
                          </a:solidFill>
                          <a:latin typeface="Times New Roman"/>
                          <a:ea typeface="Times New Roman"/>
                          <a:cs typeface="Times New Roman"/>
                        </a:rPr>
                        <a:t>Cách làm</a:t>
                      </a:r>
                    </a:p>
                  </a:txBody>
                  <a:tcPr marL="73152" marR="73152" marT="27432" marB="27432" anchor="ctr">
                    <a:solidFill>
                      <a:srgbClr val="FFFFFF"/>
                    </a:solidFill>
                  </a:tcPr>
                </a:tc>
                <a:tc>
                  <a:txBody>
                    <a:bodyPr wrap="square"/>
                    <a:lstStyle/>
                    <a:p>
                      <a:r>
                        <a:rPr sz="1300" b="0" i="0">
                          <a:solidFill>
                            <a:srgbClr val="1F1F1F"/>
                          </a:solidFill>
                          <a:latin typeface="Times New Roman"/>
                          <a:ea typeface="Times New Roman"/>
                          <a:cs typeface="Times New Roman"/>
                        </a:rPr>
                        <a:t>Ghi lại toàn bộ file chứa dòng bị đổi</a:t>
                      </a:r>
                    </a:p>
                  </a:txBody>
                  <a:tcPr marL="73152" marR="73152" marT="27432" marB="27432" anchor="ctr">
                    <a:solidFill>
                      <a:srgbClr val="FFFFFF"/>
                    </a:solidFill>
                  </a:tcPr>
                </a:tc>
                <a:tc>
                  <a:txBody>
                    <a:bodyPr wrap="square"/>
                    <a:lstStyle/>
                    <a:p>
                      <a:r>
                        <a:rPr sz="1300" b="0" i="0">
                          <a:solidFill>
                            <a:srgbClr val="1F1F1F"/>
                          </a:solidFill>
                          <a:latin typeface="Times New Roman"/>
                          <a:ea typeface="Times New Roman"/>
                          <a:cs typeface="Times New Roman"/>
                        </a:rPr>
                        <a:t>Ghi riêng thông tin dòng bị xóa; UPDATE = xóa + chèn</a:t>
                      </a:r>
                    </a:p>
                  </a:txBody>
                  <a:tcPr marL="73152" marR="73152" marT="27432" marB="27432" anchor="ctr">
                    <a:solidFill>
                      <a:srgbClr val="FFFFFF"/>
                    </a:solidFill>
                  </a:tcPr>
                </a:tc>
              </a:tr>
              <a:tr h="502920">
                <a:tc>
                  <a:txBody>
                    <a:bodyPr wrap="square"/>
                    <a:lstStyle/>
                    <a:p>
                      <a:r>
                        <a:rPr sz="1300" b="1" i="0">
                          <a:solidFill>
                            <a:srgbClr val="1F1F1F"/>
                          </a:solidFill>
                          <a:latin typeface="Times New Roman"/>
                          <a:ea typeface="Times New Roman"/>
                          <a:cs typeface="Times New Roman"/>
                        </a:rPr>
                        <a:t>Chi phí ghi</a:t>
                      </a:r>
                    </a:p>
                  </a:txBody>
                  <a:tcPr marL="73152" marR="73152" marT="27432" marB="27432" anchor="ctr">
                    <a:solidFill>
                      <a:srgbClr val="F7F2EC"/>
                    </a:solidFill>
                  </a:tcPr>
                </a:tc>
                <a:tc>
                  <a:txBody>
                    <a:bodyPr wrap="square"/>
                    <a:lstStyle/>
                    <a:p>
                      <a:r>
                        <a:rPr sz="1300" b="0" i="0">
                          <a:solidFill>
                            <a:srgbClr val="1F1F1F"/>
                          </a:solidFill>
                          <a:latin typeface="Times New Roman"/>
                          <a:ea typeface="Times New Roman"/>
                          <a:cs typeface="Times New Roman"/>
                        </a:rPr>
                        <a:t>Cao: sửa vài dòng vẫn ghi lại cả file</a:t>
                      </a:r>
                    </a:p>
                  </a:txBody>
                  <a:tcPr marL="73152" marR="73152" marT="27432" marB="27432" anchor="ctr">
                    <a:solidFill>
                      <a:srgbClr val="F7F2EC"/>
                    </a:solidFill>
                  </a:tcPr>
                </a:tc>
                <a:tc>
                  <a:txBody>
                    <a:bodyPr wrap="square"/>
                    <a:lstStyle/>
                    <a:p>
                      <a:r>
                        <a:rPr sz="1300" b="0" i="0">
                          <a:solidFill>
                            <a:srgbClr val="1F1F1F"/>
                          </a:solidFill>
                          <a:latin typeface="Times New Roman"/>
                          <a:ea typeface="Times New Roman"/>
                          <a:cs typeface="Times New Roman"/>
                        </a:rPr>
                        <a:t>Thấp: chỉ ghi phần thay đổi</a:t>
                      </a:r>
                    </a:p>
                  </a:txBody>
                  <a:tcPr marL="73152" marR="73152" marT="27432" marB="27432" anchor="ctr">
                    <a:solidFill>
                      <a:srgbClr val="F7F2EC"/>
                    </a:solidFill>
                  </a:tcPr>
                </a:tc>
              </a:tr>
              <a:tr h="502920">
                <a:tc>
                  <a:txBody>
                    <a:bodyPr wrap="square"/>
                    <a:lstStyle/>
                    <a:p>
                      <a:r>
                        <a:rPr sz="1300" b="1" i="0">
                          <a:solidFill>
                            <a:srgbClr val="1F1F1F"/>
                          </a:solidFill>
                          <a:latin typeface="Times New Roman"/>
                          <a:ea typeface="Times New Roman"/>
                          <a:cs typeface="Times New Roman"/>
                        </a:rPr>
                        <a:t>Chi phí đọc</a:t>
                      </a:r>
                    </a:p>
                  </a:txBody>
                  <a:tcPr marL="73152" marR="73152" marT="27432" marB="27432" anchor="ctr">
                    <a:solidFill>
                      <a:srgbClr val="FFFFFF"/>
                    </a:solidFill>
                  </a:tcPr>
                </a:tc>
                <a:tc>
                  <a:txBody>
                    <a:bodyPr wrap="square"/>
                    <a:lstStyle/>
                    <a:p>
                      <a:r>
                        <a:rPr sz="1300" b="0" i="0">
                          <a:solidFill>
                            <a:srgbClr val="1F1F1F"/>
                          </a:solidFill>
                          <a:latin typeface="Times New Roman"/>
                          <a:ea typeface="Times New Roman"/>
                          <a:cs typeface="Times New Roman"/>
                        </a:rPr>
                        <a:t>Thấp: đọc thẳng data file</a:t>
                      </a:r>
                    </a:p>
                  </a:txBody>
                  <a:tcPr marL="73152" marR="73152" marT="27432" marB="27432" anchor="ctr">
                    <a:solidFill>
                      <a:srgbClr val="FFFFFF"/>
                    </a:solidFill>
                  </a:tcPr>
                </a:tc>
                <a:tc>
                  <a:txBody>
                    <a:bodyPr wrap="square"/>
                    <a:lstStyle/>
                    <a:p>
                      <a:r>
                        <a:rPr sz="1300" b="0" i="0">
                          <a:solidFill>
                            <a:srgbClr val="1F1F1F"/>
                          </a:solidFill>
                          <a:latin typeface="Times New Roman"/>
                          <a:ea typeface="Times New Roman"/>
                          <a:cs typeface="Times New Roman"/>
                        </a:rPr>
                        <a:t>Cao hơn: gộp delete vào dữ liệu lúc đọc</a:t>
                      </a:r>
                    </a:p>
                  </a:txBody>
                  <a:tcPr marL="73152" marR="73152" marT="27432" marB="27432" anchor="ctr">
                    <a:solidFill>
                      <a:srgbClr val="FFFFFF"/>
                    </a:solidFill>
                  </a:tcPr>
                </a:tc>
              </a:tr>
              <a:tr h="502920">
                <a:tc>
                  <a:txBody>
                    <a:bodyPr wrap="square"/>
                    <a:lstStyle/>
                    <a:p>
                      <a:r>
                        <a:rPr sz="1300" b="1" i="0">
                          <a:solidFill>
                            <a:srgbClr val="1F1F1F"/>
                          </a:solidFill>
                          <a:latin typeface="Times New Roman"/>
                          <a:ea typeface="Times New Roman"/>
                          <a:cs typeface="Times New Roman"/>
                        </a:rPr>
                        <a:t>Phù hợp</a:t>
                      </a:r>
                    </a:p>
                  </a:txBody>
                  <a:tcPr marL="73152" marR="73152" marT="27432" marB="27432" anchor="ctr">
                    <a:solidFill>
                      <a:srgbClr val="F7F2EC"/>
                    </a:solidFill>
                  </a:tcPr>
                </a:tc>
                <a:tc>
                  <a:txBody>
                    <a:bodyPr wrap="square"/>
                    <a:lstStyle/>
                    <a:p>
                      <a:r>
                        <a:rPr sz="1300" b="0" i="0">
                          <a:solidFill>
                            <a:srgbClr val="1F1F1F"/>
                          </a:solidFill>
                          <a:latin typeface="Times New Roman"/>
                          <a:ea typeface="Times New Roman"/>
                          <a:cs typeface="Times New Roman"/>
                        </a:rPr>
                        <a:t>Bảng đọc nhiều, cập nhật theo lô</a:t>
                      </a:r>
                    </a:p>
                  </a:txBody>
                  <a:tcPr marL="73152" marR="73152" marT="27432" marB="27432" anchor="ctr">
                    <a:solidFill>
                      <a:srgbClr val="F7F2EC"/>
                    </a:solidFill>
                  </a:tcPr>
                </a:tc>
                <a:tc>
                  <a:txBody>
                    <a:bodyPr wrap="square"/>
                    <a:lstStyle/>
                    <a:p>
                      <a:r>
                        <a:rPr sz="1300" b="0" i="0">
                          <a:solidFill>
                            <a:srgbClr val="1F1F1F"/>
                          </a:solidFill>
                          <a:latin typeface="Times New Roman"/>
                          <a:ea typeface="Times New Roman"/>
                          <a:cs typeface="Times New Roman"/>
                        </a:rPr>
                        <a:t>CDC, streaming upsert; cần compaction định kỳ</a:t>
                      </a:r>
                    </a:p>
                  </a:txBody>
                  <a:tcPr marL="73152" marR="73152" marT="27432" marB="27432" anchor="ctr">
                    <a:solidFill>
                      <a:srgbClr val="F7F2EC"/>
                    </a:solidFill>
                  </a:tcPr>
                </a:tc>
              </a:tr>
            </a:tbl>
          </a:graphicData>
        </a:graphic>
      </p:graphicFrame>
      <p:sp>
        <p:nvSpPr>
          <p:cNvPr id="118" name="TextBox 117"/>
          <p:cNvSpPr txBox="1"/>
          <p:nvPr/>
        </p:nvSpPr>
        <p:spPr>
          <a:xfrm>
            <a:off x="7955279" y="1051560"/>
            <a:ext cx="3840480" cy="2651760"/>
          </a:xfrm>
          <a:prstGeom prst="rect">
            <a:avLst/>
          </a:prstGeom>
          <a:noFill/>
        </p:spPr>
        <p:txBody>
          <a:bodyPr wrap="square" anchor="t" lIns="45720" rIns="45720" tIns="27432" bIns="27432">
            <a:spAutoFit/>
          </a:bodyPr>
          <a:lstStyle/>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Iceberg v2: position delete, equality delete</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Iceberg v3 (1.11.0, 5/2026): </a:t>
            </a:r>
            <a:r>
              <a:rPr sz="1400" b="1" i="0">
                <a:solidFill>
                  <a:srgbClr val="1F1F1F"/>
                </a:solidFill>
                <a:latin typeface="Times New Roman"/>
                <a:ea typeface="Times New Roman"/>
                <a:cs typeface="Times New Roman"/>
              </a:rPr>
              <a:t>deletion vector</a:t>
            </a:r>
            <a:r>
              <a:rPr sz="1400" b="0" i="0">
                <a:solidFill>
                  <a:srgbClr val="1F1F1F"/>
                </a:solidFill>
                <a:latin typeface="Times New Roman"/>
                <a:ea typeface="Times New Roman"/>
                <a:cs typeface="Times New Roman"/>
              </a:rPr>
              <a:t>, một bitmap cho mỗi data file</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PyIceberg thực hiện DELETE theo CoW, snapshot có operation = overwrite</a:t>
            </a:r>
          </a:p>
        </p:txBody>
      </p:sp>
      <p:sp>
        <p:nvSpPr>
          <p:cNvPr id="119" name="Rectangle 118"/>
          <p:cNvSpPr/>
          <p:nvPr/>
        </p:nvSpPr>
        <p:spPr>
          <a:xfrm>
            <a:off x="411480" y="3886200"/>
            <a:ext cx="11369040" cy="1371600"/>
          </a:xfrm>
          <a:prstGeom prst="rect">
            <a:avLst/>
          </a:prstGeom>
          <a:solidFill>
            <a:srgbClr val="F4F4F4"/>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r>
              <a:rPr sz="1200" b="0" i="0">
                <a:solidFill>
                  <a:srgbClr val="1F1F1F"/>
                </a:solidFill>
                <a:latin typeface="Courier New"/>
                <a:ea typeface="Courier New"/>
                <a:cs typeface="Courier New"/>
              </a:rPr>
              <a:t>tbl.manage_snapshots().create_tag(snap_jan, "after_jan_load").commit()</a:t>
            </a:r>
          </a:p>
          <a:p>
            <a:pPr algn="l"/>
            <a:r>
              <a:rPr sz="1200" b="0" i="0">
                <a:solidFill>
                  <a:srgbClr val="1F1F1F"/>
                </a:solidFill>
                <a:latin typeface="Courier New"/>
                <a:ea typeface="Courier New"/>
                <a:cs typeface="Courier New"/>
              </a:rPr>
              <a:t>tbl.scan(snapshot_id=snap_jan).count()   # 2,998,337  (tag after_jan_load)</a:t>
            </a:r>
          </a:p>
          <a:p>
            <a:pPr algn="l"/>
            <a:r>
              <a:rPr sz="1200" b="0" i="0">
                <a:solidFill>
                  <a:srgbClr val="1F1F1F"/>
                </a:solidFill>
                <a:latin typeface="Courier New"/>
                <a:ea typeface="Courier New"/>
                <a:cs typeface="Courier New"/>
              </a:rPr>
              <a:t>tbl.scan(snapshot_id=snap_feb).count()   # 5,848,646  (trước khi DELETE)</a:t>
            </a:r>
          </a:p>
          <a:p>
            <a:pPr algn="l"/>
            <a:r>
              <a:rPr sz="1200" b="0" i="0">
                <a:solidFill>
                  <a:srgbClr val="1F1F1F"/>
                </a:solidFill>
                <a:latin typeface="Courier New"/>
                <a:ea typeface="Courier New"/>
                <a:cs typeface="Courier New"/>
              </a:rPr>
              <a:t>tbl.scan().count()                       # 5,848,609  (hiện tại, đã xóa 37 dòng)</a:t>
            </a:r>
          </a:p>
        </p:txBody>
      </p:sp>
      <p:sp>
        <p:nvSpPr>
          <p:cNvPr id="120" name="TextBox 119"/>
          <p:cNvSpPr txBox="1"/>
          <p:nvPr/>
        </p:nvSpPr>
        <p:spPr>
          <a:xfrm>
            <a:off x="411480" y="5440680"/>
            <a:ext cx="11369040" cy="822960"/>
          </a:xfrm>
          <a:prstGeom prst="rect">
            <a:avLst/>
          </a:prstGeom>
          <a:noFill/>
        </p:spPr>
        <p:txBody>
          <a:bodyPr wrap="square" anchor="t" lIns="45720" rIns="45720" tIns="27432" bIns="27432">
            <a:spAutoFit/>
          </a:bodyPr>
          <a:lstStyle/>
          <a:p>
            <a:pPr algn="l"/>
            <a:r>
              <a:rPr sz="1500" b="1" i="0">
                <a:solidFill>
                  <a:srgbClr val="1F1F1F"/>
                </a:solidFill>
                <a:latin typeface="Times New Roman"/>
                <a:ea typeface="Times New Roman"/>
                <a:cs typeface="Times New Roman"/>
              </a:rPr>
              <a:t>Time travel</a:t>
            </a:r>
            <a:r>
              <a:rPr sz="1500" b="0" i="0">
                <a:solidFill>
                  <a:srgbClr val="1F1F1F"/>
                </a:solidFill>
                <a:latin typeface="Times New Roman"/>
                <a:ea typeface="Times New Roman"/>
                <a:cs typeface="Times New Roman"/>
              </a:rPr>
              <a:t>: snapshot cũ còn trong metadata tới khi bị expire. </a:t>
            </a:r>
            <a:r>
              <a:rPr sz="1500" b="1" i="0">
                <a:solidFill>
                  <a:srgbClr val="1F1F1F"/>
                </a:solidFill>
                <a:latin typeface="Times New Roman"/>
                <a:ea typeface="Times New Roman"/>
                <a:cs typeface="Times New Roman"/>
              </a:rPr>
              <a:t>Tag</a:t>
            </a:r>
            <a:r>
              <a:rPr sz="1500" b="0" i="0">
                <a:solidFill>
                  <a:srgbClr val="1F1F1F"/>
                </a:solidFill>
                <a:latin typeface="Times New Roman"/>
                <a:ea typeface="Times New Roman"/>
                <a:cs typeface="Times New Roman"/>
              </a:rPr>
              <a:t> đặt tên snapshot quan trọng, </a:t>
            </a:r>
            <a:r>
              <a:rPr sz="1500" b="1" i="0">
                <a:solidFill>
                  <a:srgbClr val="1F1F1F"/>
                </a:solidFill>
                <a:latin typeface="Times New Roman"/>
                <a:ea typeface="Times New Roman"/>
                <a:cs typeface="Times New Roman"/>
              </a:rPr>
              <a:t>branch</a:t>
            </a:r>
            <a:r>
              <a:rPr sz="1500" b="0" i="0">
                <a:solidFill>
                  <a:srgbClr val="1F1F1F"/>
                </a:solidFill>
                <a:latin typeface="Times New Roman"/>
                <a:ea typeface="Times New Roman"/>
                <a:cs typeface="Times New Roman"/>
              </a:rPr>
              <a:t> để ghi thử nghiệm, </a:t>
            </a:r>
            <a:r>
              <a:rPr sz="1500" b="1" i="0">
                <a:solidFill>
                  <a:srgbClr val="1F1F1F"/>
                </a:solidFill>
                <a:latin typeface="Times New Roman"/>
                <a:ea typeface="Times New Roman"/>
                <a:cs typeface="Times New Roman"/>
              </a:rPr>
              <a:t>rollback</a:t>
            </a:r>
            <a:r>
              <a:rPr sz="1500" b="0" i="0">
                <a:solidFill>
                  <a:srgbClr val="1F1F1F"/>
                </a:solidFill>
                <a:latin typeface="Times New Roman"/>
                <a:ea typeface="Times New Roman"/>
                <a:cs typeface="Times New Roman"/>
              </a:rPr>
              <a:t> khi pipeline ghi sai.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Catalog và bảo trì bảng (Day-2)</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11369040" cy="1554480"/>
          </a:xfrm>
          <a:prstGeom prst="rect">
            <a:avLst/>
          </a:prstGeom>
          <a:noFill/>
        </p:spPr>
        <p:txBody>
          <a:bodyPr wrap="square" anchor="t" lIns="45720" rIns="45720" tIns="27432" bIns="27432">
            <a:spAutoFit/>
          </a:bodyPr>
          <a:lstStyle/>
          <a:p>
            <a:pPr marL="285750" indent="-285750">
              <a:spcAft>
                <a:spcPts val="600"/>
              </a:spcAft>
              <a:buClr>
                <a:srgbClr val="0070C0"/>
              </a:buClr>
              <a:buSzPts val="1600"/>
              <a:buFont typeface="Noto Sans Symbols"/>
              <a:buChar char="❖"/>
            </a:pPr>
            <a:r>
              <a:rPr sz="1500" b="0" i="0">
                <a:solidFill>
                  <a:srgbClr val="1F1F1F"/>
                </a:solidFill>
                <a:latin typeface="Times New Roman"/>
                <a:ea typeface="Times New Roman"/>
                <a:cs typeface="Times New Roman"/>
              </a:rPr>
              <a:t>Catalog giữ con trỏ và làm CAS, quản lý namespace, phân quyền, là nơi engine tìm ra bảng. Catalog ngừng thì không ai đọc hay ghi được</a:t>
            </a:r>
          </a:p>
          <a:p>
            <a:pPr marL="285750" indent="-285750">
              <a:spcAft>
                <a:spcPts val="600"/>
              </a:spcAft>
              <a:buClr>
                <a:srgbClr val="0070C0"/>
              </a:buClr>
              <a:buSzPts val="1600"/>
              <a:buFont typeface="Noto Sans Symbols"/>
              <a:buChar char="❖"/>
            </a:pPr>
            <a:r>
              <a:rPr sz="1500" b="1" i="0">
                <a:solidFill>
                  <a:srgbClr val="1F1F1F"/>
                </a:solidFill>
                <a:latin typeface="Times New Roman"/>
                <a:ea typeface="Times New Roman"/>
                <a:cs typeface="Times New Roman"/>
              </a:rPr>
              <a:t>Iceberg REST Catalog</a:t>
            </a:r>
            <a:r>
              <a:rPr sz="1500" b="0" i="0">
                <a:solidFill>
                  <a:srgbClr val="1F1F1F"/>
                </a:solidFill>
                <a:latin typeface="Times New Roman"/>
                <a:ea typeface="Times New Roman"/>
                <a:cs typeface="Times New Roman"/>
              </a:rPr>
              <a:t> chuẩn hóa giao tiếp engine–catalog qua HTTP; mở đường cho </a:t>
            </a:r>
            <a:r>
              <a:rPr sz="1500" b="1" i="0">
                <a:solidFill>
                  <a:srgbClr val="1F1F1F"/>
                </a:solidFill>
                <a:latin typeface="Times New Roman"/>
                <a:ea typeface="Times New Roman"/>
                <a:cs typeface="Times New Roman"/>
              </a:rPr>
              <a:t>credential vending</a:t>
            </a:r>
            <a:r>
              <a:rPr sz="1500" b="0" i="0">
                <a:solidFill>
                  <a:srgbClr val="1F1F1F"/>
                </a:solidFill>
                <a:latin typeface="Times New Roman"/>
                <a:ea typeface="Times New Roman"/>
                <a:cs typeface="Times New Roman"/>
              </a:rPr>
              <a:t> (token ngắn hạn, đúng prefix của bảng)</a:t>
            </a:r>
          </a:p>
        </p:txBody>
      </p:sp>
      <p:pic>
        <p:nvPicPr>
          <p:cNvPr id="118" name="Picture 117" descr="polaris.png"/>
          <p:cNvPicPr>
            <a:picLocks noChangeAspect="1"/>
          </p:cNvPicPr>
          <p:nvPr/>
        </p:nvPicPr>
        <p:blipFill>
          <a:blip r:embed="rId2"/>
          <a:stretch>
            <a:fillRect/>
          </a:stretch>
        </p:blipFill>
        <p:spPr>
          <a:xfrm>
            <a:off x="1013460" y="2697480"/>
            <a:ext cx="685800" cy="685800"/>
          </a:xfrm>
          <a:prstGeom prst="rect">
            <a:avLst/>
          </a:prstGeom>
        </p:spPr>
      </p:pic>
      <p:sp>
        <p:nvSpPr>
          <p:cNvPr id="119" name="TextBox 118"/>
          <p:cNvSpPr txBox="1"/>
          <p:nvPr/>
        </p:nvSpPr>
        <p:spPr>
          <a:xfrm>
            <a:off x="411480" y="3429000"/>
            <a:ext cx="188976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Apache Polaris</a:t>
            </a:r>
          </a:p>
        </p:txBody>
      </p:sp>
      <p:pic>
        <p:nvPicPr>
          <p:cNvPr id="120" name="Picture 119" descr="databricks.png"/>
          <p:cNvPicPr>
            <a:picLocks noChangeAspect="1"/>
          </p:cNvPicPr>
          <p:nvPr/>
        </p:nvPicPr>
        <p:blipFill>
          <a:blip r:embed="rId3"/>
          <a:stretch>
            <a:fillRect/>
          </a:stretch>
        </p:blipFill>
        <p:spPr>
          <a:xfrm>
            <a:off x="2425212" y="2697480"/>
            <a:ext cx="1641815" cy="685800"/>
          </a:xfrm>
          <a:prstGeom prst="rect">
            <a:avLst/>
          </a:prstGeom>
        </p:spPr>
      </p:pic>
      <p:sp>
        <p:nvSpPr>
          <p:cNvPr id="121" name="TextBox 120"/>
          <p:cNvSpPr txBox="1"/>
          <p:nvPr/>
        </p:nvSpPr>
        <p:spPr>
          <a:xfrm>
            <a:off x="2301240" y="3429000"/>
            <a:ext cx="188976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Unity Catalog</a:t>
            </a:r>
          </a:p>
        </p:txBody>
      </p:sp>
      <p:pic>
        <p:nvPicPr>
          <p:cNvPr id="122" name="Picture 121" descr="iceberg.png"/>
          <p:cNvPicPr>
            <a:picLocks noChangeAspect="1"/>
          </p:cNvPicPr>
          <p:nvPr/>
        </p:nvPicPr>
        <p:blipFill>
          <a:blip r:embed="rId4"/>
          <a:stretch>
            <a:fillRect/>
          </a:stretch>
        </p:blipFill>
        <p:spPr>
          <a:xfrm>
            <a:off x="4282440" y="2842133"/>
            <a:ext cx="1706880" cy="396494"/>
          </a:xfrm>
          <a:prstGeom prst="rect">
            <a:avLst/>
          </a:prstGeom>
        </p:spPr>
      </p:pic>
      <p:sp>
        <p:nvSpPr>
          <p:cNvPr id="123" name="TextBox 122"/>
          <p:cNvSpPr txBox="1"/>
          <p:nvPr/>
        </p:nvSpPr>
        <p:spPr>
          <a:xfrm>
            <a:off x="4191000" y="3429000"/>
            <a:ext cx="1889760" cy="274320"/>
          </a:xfrm>
          <a:prstGeom prst="rect">
            <a:avLst/>
          </a:prstGeom>
          <a:noFill/>
        </p:spPr>
        <p:txBody>
          <a:bodyPr wrap="square" anchor="t" lIns="45720" rIns="45720" tIns="27432" bIns="27432">
            <a:spAutoFit/>
          </a:bodyPr>
          <a:lstStyle/>
          <a:p>
            <a:pPr algn="ctr"/>
            <a:r>
              <a:rPr sz="1100" b="0" i="0">
                <a:solidFill>
                  <a:srgbClr val="595959"/>
                </a:solidFill>
                <a:latin typeface="Times New Roman"/>
                <a:ea typeface="Times New Roman"/>
                <a:cs typeface="Times New Roman"/>
              </a:rPr>
              <a:t>Lakekeeper, Nessie (REST)</a:t>
            </a:r>
          </a:p>
        </p:txBody>
      </p:sp>
      <p:sp>
        <p:nvSpPr>
          <p:cNvPr id="124" name="TextBox 123"/>
          <p:cNvSpPr txBox="1"/>
          <p:nvPr/>
        </p:nvSpPr>
        <p:spPr>
          <a:xfrm>
            <a:off x="6309360" y="2651760"/>
            <a:ext cx="5486400" cy="365760"/>
          </a:xfrm>
          <a:prstGeom prst="rect">
            <a:avLst/>
          </a:prstGeom>
          <a:noFill/>
        </p:spPr>
        <p:txBody>
          <a:bodyPr wrap="square" anchor="t" lIns="45720" rIns="45720" tIns="27432" bIns="27432">
            <a:spAutoFit/>
          </a:bodyPr>
          <a:lstStyle/>
          <a:p>
            <a:pPr algn="l"/>
            <a:r>
              <a:rPr sz="1600" b="1" i="0">
                <a:solidFill>
                  <a:srgbClr val="0070C0"/>
                </a:solidFill>
                <a:latin typeface="Times New Roman"/>
                <a:ea typeface="Times New Roman"/>
                <a:cs typeface="Times New Roman"/>
              </a:rPr>
              <a:t>Bốn việc bảo trì (Day-2) không ai làm hộ:</a:t>
            </a:r>
          </a:p>
        </p:txBody>
      </p:sp>
      <p:sp>
        <p:nvSpPr>
          <p:cNvPr id="125" name="TextBox 124"/>
          <p:cNvSpPr txBox="1"/>
          <p:nvPr/>
        </p:nvSpPr>
        <p:spPr>
          <a:xfrm>
            <a:off x="6309360" y="3017520"/>
            <a:ext cx="5486400" cy="1463040"/>
          </a:xfrm>
          <a:prstGeom prst="rect">
            <a:avLst/>
          </a:prstGeom>
          <a:noFill/>
        </p:spPr>
        <p:txBody>
          <a:bodyPr wrap="square" anchor="t" lIns="45720" rIns="45720" tIns="27432" bIns="27432">
            <a:spAutoFit/>
          </a:bodyPr>
          <a:lstStyle/>
          <a:p>
            <a:pPr marL="571500" indent="-228600">
              <a:spcAft>
                <a:spcPts val="200"/>
              </a:spcAft>
              <a:buClr>
                <a:srgbClr val="595959"/>
              </a:buClr>
              <a:buFont typeface="Arial"/>
              <a:buChar char="•"/>
            </a:pPr>
            <a:r>
              <a:rPr sz="1300" b="1" i="0">
                <a:solidFill>
                  <a:srgbClr val="1F1F1F"/>
                </a:solidFill>
                <a:latin typeface="Times New Roman"/>
                <a:ea typeface="Times New Roman"/>
                <a:cs typeface="Times New Roman"/>
              </a:rPr>
              <a:t>Compaction</a:t>
            </a:r>
            <a:r>
              <a:rPr sz="1300" b="0" i="0">
                <a:solidFill>
                  <a:srgbClr val="1F1F1F"/>
                </a:solidFill>
                <a:latin typeface="Times New Roman"/>
                <a:ea typeface="Times New Roman"/>
                <a:cs typeface="Times New Roman"/>
              </a:rPr>
              <a:t>: gộp file nhỏ do streaming sinh ra</a:t>
            </a:r>
          </a:p>
          <a:p>
            <a:pPr marL="571500" indent="-228600">
              <a:spcAft>
                <a:spcPts val="200"/>
              </a:spcAft>
              <a:buClr>
                <a:srgbClr val="595959"/>
              </a:buClr>
              <a:buFont typeface="Arial"/>
              <a:buChar char="•"/>
            </a:pPr>
            <a:r>
              <a:rPr sz="1300" b="1" i="0">
                <a:solidFill>
                  <a:srgbClr val="1F1F1F"/>
                </a:solidFill>
                <a:latin typeface="Times New Roman"/>
                <a:ea typeface="Times New Roman"/>
                <a:cs typeface="Times New Roman"/>
              </a:rPr>
              <a:t>Expire snapshots</a:t>
            </a:r>
            <a:r>
              <a:rPr sz="1300" b="0" i="0">
                <a:solidFill>
                  <a:srgbClr val="1F1F1F"/>
                </a:solidFill>
                <a:latin typeface="Times New Roman"/>
                <a:ea typeface="Times New Roman"/>
                <a:cs typeface="Times New Roman"/>
              </a:rPr>
              <a:t>: xóa snapshot quá hạn (mất time travel về đó)</a:t>
            </a:r>
          </a:p>
          <a:p>
            <a:pPr marL="571500" indent="-228600">
              <a:spcAft>
                <a:spcPts val="200"/>
              </a:spcAft>
              <a:buClr>
                <a:srgbClr val="595959"/>
              </a:buClr>
              <a:buFont typeface="Arial"/>
              <a:buChar char="•"/>
            </a:pPr>
            <a:r>
              <a:rPr sz="1300" b="1" i="0">
                <a:solidFill>
                  <a:srgbClr val="1F1F1F"/>
                </a:solidFill>
                <a:latin typeface="Times New Roman"/>
                <a:ea typeface="Times New Roman"/>
                <a:cs typeface="Times New Roman"/>
              </a:rPr>
              <a:t>Dọn orphan file</a:t>
            </a:r>
            <a:r>
              <a:rPr sz="1300" b="0" i="0">
                <a:solidFill>
                  <a:srgbClr val="1F1F1F"/>
                </a:solidFill>
                <a:latin typeface="Times New Roman"/>
                <a:ea typeface="Times New Roman"/>
                <a:cs typeface="Times New Roman"/>
              </a:rPr>
              <a:t>: file không còn metadata nào tham chiếu</a:t>
            </a:r>
          </a:p>
          <a:p>
            <a:pPr marL="571500" indent="-228600">
              <a:spcAft>
                <a:spcPts val="200"/>
              </a:spcAft>
              <a:buClr>
                <a:srgbClr val="595959"/>
              </a:buClr>
              <a:buFont typeface="Arial"/>
              <a:buChar char="•"/>
            </a:pPr>
            <a:r>
              <a:rPr sz="1300" b="1" i="0">
                <a:solidFill>
                  <a:srgbClr val="1F1F1F"/>
                </a:solidFill>
                <a:latin typeface="Times New Roman"/>
                <a:ea typeface="Times New Roman"/>
                <a:cs typeface="Times New Roman"/>
              </a:rPr>
              <a:t>Gọn metadata</a:t>
            </a:r>
            <a:r>
              <a:rPr sz="1300" b="0" i="0">
                <a:solidFill>
                  <a:srgbClr val="1F1F1F"/>
                </a:solidFill>
                <a:latin typeface="Times New Roman"/>
                <a:ea typeface="Times New Roman"/>
                <a:cs typeface="Times New Roman"/>
              </a:rPr>
              <a:t>: giới hạn metadata.json cũ, gộp manifest</a:t>
            </a:r>
          </a:p>
        </p:txBody>
      </p:sp>
      <p:graphicFrame>
        <p:nvGraphicFramePr>
          <p:cNvPr id="126" name="Table 125"/>
          <p:cNvGraphicFramePr>
            <a:graphicFrameLocks noGrp="1"/>
          </p:cNvGraphicFramePr>
          <p:nvPr/>
        </p:nvGraphicFramePr>
        <p:xfrm>
          <a:off x="411480" y="4572000"/>
          <a:ext cx="11369038" cy="1645920"/>
        </p:xfrm>
        <a:graphic>
          <a:graphicData uri="http://schemas.openxmlformats.org/drawingml/2006/table">
            <a:tbl>
              <a:tblPr firstRow="1" bandRow="1">
                <a:tableStyleId>{5C22544A-7EE6-4342-B048-85BDC9FD1C3A}</a:tableStyleId>
              </a:tblPr>
              <a:tblGrid>
                <a:gridCol w="3829571"/>
                <a:gridCol w="1436089"/>
                <a:gridCol w="1675437"/>
                <a:gridCol w="1795111"/>
                <a:gridCol w="2632830"/>
              </a:tblGrid>
              <a:tr h="329184">
                <a:tc>
                  <a:txBody>
                    <a:bodyPr wrap="square"/>
                    <a:lstStyle/>
                    <a:p>
                      <a:r>
                        <a:rPr sz="1200" b="1" i="0">
                          <a:solidFill>
                            <a:srgbClr val="FFFFFF"/>
                          </a:solidFill>
                          <a:latin typeface="Times New Roman"/>
                          <a:ea typeface="Times New Roman"/>
                          <a:cs typeface="Times New Roman"/>
                        </a:rPr>
                        <a:t>Trạng thái bảng 300.000 dòng</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Snapshot</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File cần đọc</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Lập kế hoạch</a:t>
                      </a:r>
                    </a:p>
                  </a:txBody>
                  <a:tcPr marL="73152" marR="73152" marT="27432" marB="27432" anchor="ctr">
                    <a:solidFill>
                      <a:srgbClr val="538135"/>
                    </a:solidFill>
                  </a:tcPr>
                </a:tc>
                <a:tc>
                  <a:txBody>
                    <a:bodyPr wrap="square"/>
                    <a:lstStyle/>
                    <a:p>
                      <a:r>
                        <a:rPr sz="1200" b="1" i="0">
                          <a:solidFill>
                            <a:srgbClr val="FFFFFF"/>
                          </a:solidFill>
                          <a:latin typeface="Times New Roman"/>
                          <a:ea typeface="Times New Roman"/>
                          <a:cs typeface="Times New Roman"/>
                        </a:rPr>
                        <a:t>metadata/</a:t>
                      </a:r>
                    </a:p>
                  </a:txBody>
                  <a:tcPr marL="73152" marR="73152" marT="27432" marB="27432" anchor="ctr">
                    <a:solidFill>
                      <a:srgbClr val="538135"/>
                    </a:solidFill>
                  </a:tcPr>
                </a:tc>
              </a:tr>
              <a:tr h="329184">
                <a:tc>
                  <a:txBody>
                    <a:bodyPr wrap="square"/>
                    <a:lstStyle/>
                    <a:p>
                      <a:r>
                        <a:rPr sz="1200" b="1" i="0">
                          <a:solidFill>
                            <a:srgbClr val="1F1F1F"/>
                          </a:solidFill>
                          <a:latin typeface="Times New Roman"/>
                          <a:ea typeface="Times New Roman"/>
                          <a:cs typeface="Times New Roman"/>
                        </a:rPr>
                        <a:t>Sau 300 micro-batch</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300</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262</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353 ms</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901 file, 43,9 MB</a:t>
                      </a:r>
                    </a:p>
                  </a:txBody>
                  <a:tcPr marL="73152" marR="73152" marT="27432" marB="27432" anchor="ctr">
                    <a:solidFill>
                      <a:srgbClr val="FFFFFF"/>
                    </a:solidFill>
                  </a:tcPr>
                </a:tc>
              </a:tr>
              <a:tr h="329184">
                <a:tc>
                  <a:txBody>
                    <a:bodyPr wrap="square"/>
                    <a:lstStyle/>
                    <a:p>
                      <a:r>
                        <a:rPr sz="1200" b="1" i="0">
                          <a:solidFill>
                            <a:srgbClr val="1F1F1F"/>
                          </a:solidFill>
                          <a:latin typeface="Times New Roman"/>
                          <a:ea typeface="Times New Roman"/>
                          <a:cs typeface="Times New Roman"/>
                        </a:rPr>
                        <a:t>Sau compaction</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302</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1</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3 ms</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906 file, 44,4 MB</a:t>
                      </a:r>
                    </a:p>
                  </a:txBody>
                  <a:tcPr marL="73152" marR="73152" marT="27432" marB="27432" anchor="ctr">
                    <a:solidFill>
                      <a:srgbClr val="F7F2EC"/>
                    </a:solidFill>
                  </a:tcPr>
                </a:tc>
              </a:tr>
              <a:tr h="329184">
                <a:tc>
                  <a:txBody>
                    <a:bodyPr wrap="square"/>
                    <a:lstStyle/>
                    <a:p>
                      <a:r>
                        <a:rPr sz="1200" b="1" i="0">
                          <a:solidFill>
                            <a:srgbClr val="1F1F1F"/>
                          </a:solidFill>
                          <a:latin typeface="Times New Roman"/>
                          <a:ea typeface="Times New Roman"/>
                          <a:cs typeface="Times New Roman"/>
                        </a:rPr>
                        <a:t>Sau expire snapshots</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1</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1</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2 ms</a:t>
                      </a:r>
                    </a:p>
                  </a:txBody>
                  <a:tcPr marL="73152" marR="73152" marT="27432" marB="27432" anchor="ctr">
                    <a:solidFill>
                      <a:srgbClr val="FFFFFF"/>
                    </a:solidFill>
                  </a:tcPr>
                </a:tc>
                <a:tc>
                  <a:txBody>
                    <a:bodyPr wrap="square"/>
                    <a:lstStyle/>
                    <a:p>
                      <a:r>
                        <a:rPr sz="1200" b="0" i="0">
                          <a:solidFill>
                            <a:srgbClr val="1F1F1F"/>
                          </a:solidFill>
                          <a:latin typeface="Times New Roman"/>
                          <a:ea typeface="Times New Roman"/>
                          <a:cs typeface="Times New Roman"/>
                        </a:rPr>
                        <a:t>907 file, 44,4 MB</a:t>
                      </a:r>
                    </a:p>
                  </a:txBody>
                  <a:tcPr marL="73152" marR="73152" marT="27432" marB="27432" anchor="ctr">
                    <a:solidFill>
                      <a:srgbClr val="FFFFFF"/>
                    </a:solidFill>
                  </a:tcPr>
                </a:tc>
              </a:tr>
              <a:tr h="329184">
                <a:tc>
                  <a:txBody>
                    <a:bodyPr wrap="square"/>
                    <a:lstStyle/>
                    <a:p>
                      <a:r>
                        <a:rPr sz="1200" b="1" i="0">
                          <a:solidFill>
                            <a:srgbClr val="1F1F1F"/>
                          </a:solidFill>
                          <a:latin typeface="Times New Roman"/>
                          <a:ea typeface="Times New Roman"/>
                          <a:cs typeface="Times New Roman"/>
                        </a:rPr>
                        <a:t>Sau dọn metadata và orphan</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1</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1</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3 ms</a:t>
                      </a:r>
                    </a:p>
                  </a:txBody>
                  <a:tcPr marL="73152" marR="73152" marT="27432" marB="27432" anchor="ctr">
                    <a:solidFill>
                      <a:srgbClr val="F7F2EC"/>
                    </a:solidFill>
                  </a:tcPr>
                </a:tc>
                <a:tc>
                  <a:txBody>
                    <a:bodyPr wrap="square"/>
                    <a:lstStyle/>
                    <a:p>
                      <a:r>
                        <a:rPr sz="1200" b="0" i="0">
                          <a:solidFill>
                            <a:srgbClr val="1F1F1F"/>
                          </a:solidFill>
                          <a:latin typeface="Times New Roman"/>
                          <a:ea typeface="Times New Roman"/>
                          <a:cs typeface="Times New Roman"/>
                        </a:rPr>
                        <a:t>8 file, 1,0 MB</a:t>
                      </a:r>
                    </a:p>
                  </a:txBody>
                  <a:tcPr marL="73152" marR="73152" marT="27432" marB="27432" anchor="ctr">
                    <a:solidFill>
                      <a:srgbClr val="F7F2E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34258"/>
          </a:xfrm>
          <a:prstGeom prst="rect">
            <a:avLst/>
          </a:prstGeom>
          <a:solidFill>
            <a:srgbClr val="5381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5400" b="1" i="0">
                <a:solidFill>
                  <a:srgbClr val="FFFFFF"/>
                </a:solidFill>
                <a:latin typeface="Times New Roman"/>
                <a:ea typeface="Times New Roman"/>
                <a:cs typeface="Times New Roman"/>
              </a:rPr>
              <a:t>Outline</a:t>
            </a:r>
          </a:p>
        </p:txBody>
      </p:sp>
      <p:sp>
        <p:nvSpPr>
          <p:cNvPr id="3" name="Rounded Rectangle 2"/>
          <p:cNvSpPr/>
          <p:nvPr/>
        </p:nvSpPr>
        <p:spPr>
          <a:xfrm>
            <a:off x="876348" y="15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Giới thiệu</a:t>
            </a:r>
          </a:p>
        </p:txBody>
      </p:sp>
      <p:sp>
        <p:nvSpPr>
          <p:cNvPr id="4" name="Rounded Rectangle 3"/>
          <p:cNvSpPr/>
          <p:nvPr/>
        </p:nvSpPr>
        <p:spPr>
          <a:xfrm>
            <a:off x="609199" y="14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1</a:t>
            </a:r>
          </a:p>
        </p:txBody>
      </p:sp>
      <p:sp>
        <p:nvSpPr>
          <p:cNvPr id="5" name="Rounded Rectangle 4"/>
          <p:cNvSpPr/>
          <p:nvPr/>
        </p:nvSpPr>
        <p:spPr>
          <a:xfrm>
            <a:off x="876348" y="26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Warehouse</a:t>
            </a:r>
          </a:p>
        </p:txBody>
      </p:sp>
      <p:sp>
        <p:nvSpPr>
          <p:cNvPr id="6" name="Rounded Rectangle 5"/>
          <p:cNvSpPr/>
          <p:nvPr/>
        </p:nvSpPr>
        <p:spPr>
          <a:xfrm>
            <a:off x="609199" y="24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2</a:t>
            </a:r>
          </a:p>
        </p:txBody>
      </p:sp>
      <p:sp>
        <p:nvSpPr>
          <p:cNvPr id="7" name="Rounded Rectangle 6"/>
          <p:cNvSpPr/>
          <p:nvPr/>
        </p:nvSpPr>
        <p:spPr>
          <a:xfrm>
            <a:off x="876348" y="365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a:t>
            </a:r>
          </a:p>
        </p:txBody>
      </p:sp>
      <p:sp>
        <p:nvSpPr>
          <p:cNvPr id="8" name="Rounded Rectangle 7"/>
          <p:cNvSpPr/>
          <p:nvPr/>
        </p:nvSpPr>
        <p:spPr>
          <a:xfrm>
            <a:off x="609199" y="35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3</a:t>
            </a:r>
          </a:p>
        </p:txBody>
      </p:sp>
      <p:sp>
        <p:nvSpPr>
          <p:cNvPr id="9" name="Rounded Rectangle 8"/>
          <p:cNvSpPr/>
          <p:nvPr/>
        </p:nvSpPr>
        <p:spPr>
          <a:xfrm>
            <a:off x="876348" y="4700000"/>
            <a:ext cx="5400000" cy="78000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0" i="0">
                <a:solidFill>
                  <a:srgbClr val="8A4A1E"/>
                </a:solidFill>
                <a:latin typeface="Times New Roman"/>
                <a:ea typeface="Times New Roman"/>
                <a:cs typeface="Times New Roman"/>
              </a:rPr>
              <a:t>Data Lakehouse</a:t>
            </a:r>
          </a:p>
        </p:txBody>
      </p:sp>
      <p:sp>
        <p:nvSpPr>
          <p:cNvPr id="10" name="Rounded Rectangle 9"/>
          <p:cNvSpPr/>
          <p:nvPr/>
        </p:nvSpPr>
        <p:spPr>
          <a:xfrm>
            <a:off x="609199" y="455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4</a:t>
            </a:r>
          </a:p>
        </p:txBody>
      </p:sp>
      <p:sp>
        <p:nvSpPr>
          <p:cNvPr id="11" name="Rounded Rectangle 10"/>
          <p:cNvSpPr/>
          <p:nvPr/>
        </p:nvSpPr>
        <p:spPr>
          <a:xfrm>
            <a:off x="876348" y="5750000"/>
            <a:ext cx="5400000" cy="780000"/>
          </a:xfrm>
          <a:prstGeom prst="roundRect">
            <a:avLst>
              <a:gd name="adj" fmla="val 8000"/>
            </a:avLst>
          </a:prstGeom>
          <a:solidFill>
            <a:srgbClr val="F4B081"/>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C55A11"/>
                </a:solidFill>
                <a:latin typeface="Times New Roman"/>
                <a:ea typeface="Times New Roman"/>
                <a:cs typeface="Times New Roman"/>
              </a:rPr>
              <a:t>Kiến trúc lai và thực hành</a:t>
            </a:r>
          </a:p>
        </p:txBody>
      </p:sp>
      <p:sp>
        <p:nvSpPr>
          <p:cNvPr id="12" name="Rounded Rectangle 11"/>
          <p:cNvSpPr/>
          <p:nvPr/>
        </p:nvSpPr>
        <p:spPr>
          <a:xfrm>
            <a:off x="609199" y="5600000"/>
            <a:ext cx="1443994" cy="315451"/>
          </a:xfrm>
          <a:prstGeom prst="roundRect">
            <a:avLst>
              <a:gd name="adj" fmla="val 8000"/>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300" b="0" i="0">
                <a:solidFill>
                  <a:srgbClr val="FFFFFF"/>
                </a:solidFill>
                <a:latin typeface="Times New Roman"/>
                <a:ea typeface="Times New Roman"/>
                <a:cs typeface="Times New Roman"/>
              </a:rPr>
              <a:t>SECTION 5</a:t>
            </a:r>
          </a:p>
        </p:txBody>
      </p:sp>
      <p:pic>
        <p:nvPicPr>
          <p:cNvPr id="13" name="Picture 12" descr="fig7.png"/>
          <p:cNvPicPr>
            <a:picLocks noChangeAspect="1"/>
          </p:cNvPicPr>
          <p:nvPr/>
        </p:nvPicPr>
        <p:blipFill>
          <a:blip r:embed="rId2"/>
          <a:stretch>
            <a:fillRect/>
          </a:stretch>
        </p:blipFill>
        <p:spPr>
          <a:xfrm>
            <a:off x="6900000" y="2692829"/>
            <a:ext cx="4900000" cy="1814341"/>
          </a:xfrm>
          <a:prstGeom prst="rect">
            <a:avLst/>
          </a:prstGeom>
        </p:spPr>
      </p:pic>
      <p:sp>
        <p:nvSpPr>
          <p:cNvPr id="14" name="TextBox 13"/>
          <p:cNvSpPr txBox="1"/>
          <p:nvPr/>
        </p:nvSpPr>
        <p:spPr>
          <a:xfrm>
            <a:off x="6900000" y="5800000"/>
            <a:ext cx="4900000" cy="320040"/>
          </a:xfrm>
          <a:prstGeom prst="rect">
            <a:avLst/>
          </a:prstGeom>
          <a:noFill/>
        </p:spPr>
        <p:txBody>
          <a:bodyPr wrap="square" anchor="t" lIns="45720" rIns="45720" tIns="27432" bIns="27432">
            <a:spAutoFit/>
          </a:bodyPr>
          <a:lstStyle/>
          <a:p>
            <a:pPr algn="ctr"/>
            <a:r>
              <a:rPr sz="1100" b="0" i="1">
                <a:solidFill>
                  <a:srgbClr val="595959"/>
                </a:solidFill>
                <a:latin typeface="Times New Roman"/>
                <a:ea typeface="Times New Roman"/>
                <a:cs typeface="Times New Roman"/>
              </a:rPr>
              <a:t>Kiến trúc lai của phần thực hành (Hình 7 trong bài đọc)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So sánh ba kiến trúc</a:t>
            </a:r>
            <a:endParaRPr b="1" i="0" sz="3400" u="none" cap="none" strike="noStrike">
              <a:solidFill>
                <a:srgbClr val="C55A11"/>
              </a:solidFill>
              <a:latin typeface="Times New Roman"/>
              <a:ea typeface="Times New Roman"/>
              <a:cs typeface="Times New Roman"/>
              <a:sym typeface="Times New Roman"/>
            </a:endParaRPr>
          </a:p>
        </p:txBody>
      </p:sp>
      <p:graphicFrame>
        <p:nvGraphicFramePr>
          <p:cNvPr id="117" name="Table 116"/>
          <p:cNvGraphicFramePr>
            <a:graphicFrameLocks noGrp="1"/>
          </p:cNvGraphicFramePr>
          <p:nvPr/>
        </p:nvGraphicFramePr>
        <p:xfrm>
          <a:off x="411480" y="1051560"/>
          <a:ext cx="11369038" cy="4279392"/>
        </p:xfrm>
        <a:graphic>
          <a:graphicData uri="http://schemas.openxmlformats.org/drawingml/2006/table">
            <a:tbl>
              <a:tblPr firstRow="1" bandRow="1">
                <a:tableStyleId>{5C22544A-7EE6-4342-B048-85BDC9FD1C3A}</a:tableStyleId>
              </a:tblPr>
              <a:tblGrid>
                <a:gridCol w="2030185"/>
                <a:gridCol w="3045278"/>
                <a:gridCol w="2842260"/>
                <a:gridCol w="3451315"/>
              </a:tblGrid>
              <a:tr h="475488">
                <a:tc>
                  <a:txBody>
                    <a:bodyPr wrap="square"/>
                    <a:lstStyle/>
                    <a:p>
                      <a:r>
                        <a:rPr sz="1400" b="1" i="0">
                          <a:solidFill>
                            <a:srgbClr val="FFFFFF"/>
                          </a:solidFill>
                          <a:latin typeface="Times New Roman"/>
                          <a:ea typeface="Times New Roman"/>
                          <a:cs typeface="Times New Roman"/>
                        </a:rPr>
                        <a:t>Tiêu chí</a:t>
                      </a:r>
                    </a:p>
                  </a:txBody>
                  <a:tcPr marL="73152" marR="73152" marT="27432" marB="27432" anchor="ctr">
                    <a:solidFill>
                      <a:srgbClr val="538135"/>
                    </a:solidFill>
                  </a:tcPr>
                </a:tc>
                <a:tc>
                  <a:txBody>
                    <a:bodyPr wrap="square"/>
                    <a:lstStyle/>
                    <a:p>
                      <a:r>
                        <a:rPr sz="1400" b="1" i="0">
                          <a:solidFill>
                            <a:srgbClr val="FFFFFF"/>
                          </a:solidFill>
                          <a:latin typeface="Times New Roman"/>
                          <a:ea typeface="Times New Roman"/>
                          <a:cs typeface="Times New Roman"/>
                        </a:rPr>
                        <a:t>Data Warehouse</a:t>
                      </a:r>
                    </a:p>
                  </a:txBody>
                  <a:tcPr marL="73152" marR="73152" marT="27432" marB="27432" anchor="ctr">
                    <a:solidFill>
                      <a:srgbClr val="538135"/>
                    </a:solidFill>
                  </a:tcPr>
                </a:tc>
                <a:tc>
                  <a:txBody>
                    <a:bodyPr wrap="square"/>
                    <a:lstStyle/>
                    <a:p>
                      <a:r>
                        <a:rPr sz="1400" b="1" i="0">
                          <a:solidFill>
                            <a:srgbClr val="FFFFFF"/>
                          </a:solidFill>
                          <a:latin typeface="Times New Roman"/>
                          <a:ea typeface="Times New Roman"/>
                          <a:cs typeface="Times New Roman"/>
                        </a:rPr>
                        <a:t>Data Lake</a:t>
                      </a:r>
                    </a:p>
                  </a:txBody>
                  <a:tcPr marL="73152" marR="73152" marT="27432" marB="27432" anchor="ctr">
                    <a:solidFill>
                      <a:srgbClr val="538135"/>
                    </a:solidFill>
                  </a:tcPr>
                </a:tc>
                <a:tc>
                  <a:txBody>
                    <a:bodyPr wrap="square"/>
                    <a:lstStyle/>
                    <a:p>
                      <a:r>
                        <a:rPr sz="1400" b="1" i="0">
                          <a:solidFill>
                            <a:srgbClr val="FFFFFF"/>
                          </a:solidFill>
                          <a:latin typeface="Times New Roman"/>
                          <a:ea typeface="Times New Roman"/>
                          <a:cs typeface="Times New Roman"/>
                        </a:rPr>
                        <a:t>Data Lakehouse</a:t>
                      </a:r>
                    </a:p>
                  </a:txBody>
                  <a:tcPr marL="73152" marR="73152" marT="27432" marB="27432" anchor="ctr">
                    <a:solidFill>
                      <a:srgbClr val="538135"/>
                    </a:solidFill>
                  </a:tcPr>
                </a:tc>
              </a:tr>
              <a:tr h="475488">
                <a:tc>
                  <a:txBody>
                    <a:bodyPr wrap="square"/>
                    <a:lstStyle/>
                    <a:p>
                      <a:r>
                        <a:rPr sz="1400" b="1" i="0">
                          <a:solidFill>
                            <a:srgbClr val="1F1F1F"/>
                          </a:solidFill>
                          <a:latin typeface="Times New Roman"/>
                          <a:ea typeface="Times New Roman"/>
                          <a:cs typeface="Times New Roman"/>
                        </a:rPr>
                        <a:t>Sở hữu bảng</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Vendor sở hữu cả ba lớp</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Không ai</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Table format mở + catalog</a:t>
                      </a:r>
                    </a:p>
                  </a:txBody>
                  <a:tcPr marL="73152" marR="73152" marT="27432" marB="27432" anchor="ctr">
                    <a:solidFill>
                      <a:srgbClr val="FFFFFF"/>
                    </a:solidFill>
                  </a:tcPr>
                </a:tc>
              </a:tr>
              <a:tr h="475488">
                <a:tc>
                  <a:txBody>
                    <a:bodyPr wrap="square"/>
                    <a:lstStyle/>
                    <a:p>
                      <a:r>
                        <a:rPr sz="1400" b="1" i="0">
                          <a:solidFill>
                            <a:srgbClr val="1F1F1F"/>
                          </a:solidFill>
                          <a:latin typeface="Times New Roman"/>
                          <a:ea typeface="Times New Roman"/>
                          <a:cs typeface="Times New Roman"/>
                        </a:rPr>
                        <a:t>Schema</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Schema-on-write</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Schema-on-read</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Áp khi ghi, tiến hóa qua metadata</a:t>
                      </a:r>
                    </a:p>
                  </a:txBody>
                  <a:tcPr marL="73152" marR="73152" marT="27432" marB="27432" anchor="ctr">
                    <a:solidFill>
                      <a:srgbClr val="F7F2EC"/>
                    </a:solidFill>
                  </a:tcPr>
                </a:tc>
              </a:tr>
              <a:tr h="475488">
                <a:tc>
                  <a:txBody>
                    <a:bodyPr wrap="square"/>
                    <a:lstStyle/>
                    <a:p>
                      <a:r>
                        <a:rPr sz="1400" b="1" i="0">
                          <a:solidFill>
                            <a:srgbClr val="1F1F1F"/>
                          </a:solidFill>
                          <a:latin typeface="Times New Roman"/>
                          <a:ea typeface="Times New Roman"/>
                          <a:cs typeface="Times New Roman"/>
                        </a:rPr>
                        <a:t>Loại dữ liệu</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Có cấu trúc</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Mọi loại</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Có cấu trúc và bán cấu trúc</a:t>
                      </a:r>
                    </a:p>
                  </a:txBody>
                  <a:tcPr marL="73152" marR="73152" marT="27432" marB="27432" anchor="ctr">
                    <a:solidFill>
                      <a:srgbClr val="FFFFFF"/>
                    </a:solidFill>
                  </a:tcPr>
                </a:tc>
              </a:tr>
              <a:tr h="475488">
                <a:tc>
                  <a:txBody>
                    <a:bodyPr wrap="square"/>
                    <a:lstStyle/>
                    <a:p>
                      <a:r>
                        <a:rPr sz="1400" b="1" i="0">
                          <a:solidFill>
                            <a:srgbClr val="1F1F1F"/>
                          </a:solidFill>
                          <a:latin typeface="Times New Roman"/>
                          <a:ea typeface="Times New Roman"/>
                          <a:cs typeface="Times New Roman"/>
                        </a:rPr>
                        <a:t>ACID</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Có sẵn</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Không</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Có, nhờ commit nguyên tử</a:t>
                      </a:r>
                    </a:p>
                  </a:txBody>
                  <a:tcPr marL="73152" marR="73152" marT="27432" marB="27432" anchor="ctr">
                    <a:solidFill>
                      <a:srgbClr val="F7F2EC"/>
                    </a:solidFill>
                  </a:tcPr>
                </a:tc>
              </a:tr>
              <a:tr h="475488">
                <a:tc>
                  <a:txBody>
                    <a:bodyPr wrap="square"/>
                    <a:lstStyle/>
                    <a:p>
                      <a:r>
                        <a:rPr sz="1400" b="1" i="0">
                          <a:solidFill>
                            <a:srgbClr val="1F1F1F"/>
                          </a:solidFill>
                          <a:latin typeface="Times New Roman"/>
                          <a:ea typeface="Times New Roman"/>
                          <a:cs typeface="Times New Roman"/>
                        </a:rPr>
                        <a:t>UPDATE / DELETE</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SQL thông thường</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Ghi lại cả file hoặc partition</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CoW hoặc MoR</a:t>
                      </a:r>
                    </a:p>
                  </a:txBody>
                  <a:tcPr marL="73152" marR="73152" marT="27432" marB="27432" anchor="ctr">
                    <a:solidFill>
                      <a:srgbClr val="FFFFFF"/>
                    </a:solidFill>
                  </a:tcPr>
                </a:tc>
              </a:tr>
              <a:tr h="475488">
                <a:tc>
                  <a:txBody>
                    <a:bodyPr wrap="square"/>
                    <a:lstStyle/>
                    <a:p>
                      <a:r>
                        <a:rPr sz="1400" b="1" i="0">
                          <a:solidFill>
                            <a:srgbClr val="1F1F1F"/>
                          </a:solidFill>
                          <a:latin typeface="Times New Roman"/>
                          <a:ea typeface="Times New Roman"/>
                          <a:cs typeface="Times New Roman"/>
                        </a:rPr>
                        <a:t>Time travel</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Có, giới hạn theo gói</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Không</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Có, theo snapshot</a:t>
                      </a:r>
                    </a:p>
                  </a:txBody>
                  <a:tcPr marL="73152" marR="73152" marT="27432" marB="27432" anchor="ctr">
                    <a:solidFill>
                      <a:srgbClr val="F7F2EC"/>
                    </a:solidFill>
                  </a:tcPr>
                </a:tc>
              </a:tr>
              <a:tr h="475488">
                <a:tc>
                  <a:txBody>
                    <a:bodyPr wrap="square"/>
                    <a:lstStyle/>
                    <a:p>
                      <a:r>
                        <a:rPr sz="1400" b="1" i="0">
                          <a:solidFill>
                            <a:srgbClr val="1F1F1F"/>
                          </a:solidFill>
                          <a:latin typeface="Times New Roman"/>
                          <a:ea typeface="Times New Roman"/>
                          <a:cs typeface="Times New Roman"/>
                        </a:rPr>
                        <a:t>Engine truy cập</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Engine của vendor</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Mọi engine, qua file</a:t>
                      </a:r>
                    </a:p>
                  </a:txBody>
                  <a:tcPr marL="73152" marR="73152" marT="27432" marB="27432" anchor="ctr">
                    <a:solidFill>
                      <a:srgbClr val="FFFFFF"/>
                    </a:solidFill>
                  </a:tcPr>
                </a:tc>
                <a:tc>
                  <a:txBody>
                    <a:bodyPr wrap="square"/>
                    <a:lstStyle/>
                    <a:p>
                      <a:r>
                        <a:rPr sz="1400" b="0" i="0">
                          <a:solidFill>
                            <a:srgbClr val="1F1F1F"/>
                          </a:solidFill>
                          <a:latin typeface="Times New Roman"/>
                          <a:ea typeface="Times New Roman"/>
                          <a:cs typeface="Times New Roman"/>
                        </a:rPr>
                        <a:t>Nhiều engine, qua catalog</a:t>
                      </a:r>
                    </a:p>
                  </a:txBody>
                  <a:tcPr marL="73152" marR="73152" marT="27432" marB="27432" anchor="ctr">
                    <a:solidFill>
                      <a:srgbClr val="FFFFFF"/>
                    </a:solidFill>
                  </a:tcPr>
                </a:tc>
              </a:tr>
              <a:tr h="475488">
                <a:tc>
                  <a:txBody>
                    <a:bodyPr wrap="square"/>
                    <a:lstStyle/>
                    <a:p>
                      <a:r>
                        <a:rPr sz="1400" b="1" i="0">
                          <a:solidFill>
                            <a:srgbClr val="1F1F1F"/>
                          </a:solidFill>
                          <a:latin typeface="Times New Roman"/>
                          <a:ea typeface="Times New Roman"/>
                          <a:cs typeface="Times New Roman"/>
                        </a:rPr>
                        <a:t>Vận hành</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Vendor tự động hóa</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Script thủ công</a:t>
                      </a:r>
                    </a:p>
                  </a:txBody>
                  <a:tcPr marL="73152" marR="73152" marT="27432" marB="27432" anchor="ctr">
                    <a:solidFill>
                      <a:srgbClr val="F7F2EC"/>
                    </a:solidFill>
                  </a:tcPr>
                </a:tc>
                <a:tc>
                  <a:txBody>
                    <a:bodyPr wrap="square"/>
                    <a:lstStyle/>
                    <a:p>
                      <a:r>
                        <a:rPr sz="1400" b="0" i="0">
                          <a:solidFill>
                            <a:srgbClr val="1F1F1F"/>
                          </a:solidFill>
                          <a:latin typeface="Times New Roman"/>
                          <a:ea typeface="Times New Roman"/>
                          <a:cs typeface="Times New Roman"/>
                        </a:rPr>
                        <a:t>Đội dữ liệu tự bảo trì bảng</a:t>
                      </a:r>
                    </a:p>
                  </a:txBody>
                  <a:tcPr marL="73152" marR="73152" marT="27432" marB="27432" anchor="ctr">
                    <a:solidFill>
                      <a:srgbClr val="F7F2EC"/>
                    </a:solidFill>
                  </a:tcPr>
                </a:tc>
              </a:tr>
            </a:tbl>
          </a:graphicData>
        </a:graphic>
      </p:graphicFrame>
      <p:sp>
        <p:nvSpPr>
          <p:cNvPr id="118" name="TextBox 117"/>
          <p:cNvSpPr txBox="1"/>
          <p:nvPr/>
        </p:nvSpPr>
        <p:spPr>
          <a:xfrm>
            <a:off x="411480" y="5577840"/>
            <a:ext cx="11369040" cy="365760"/>
          </a:xfrm>
          <a:prstGeom prst="rect">
            <a:avLst/>
          </a:prstGeom>
          <a:noFill/>
        </p:spPr>
        <p:txBody>
          <a:bodyPr wrap="square" anchor="t" lIns="45720" rIns="45720" tIns="27432" bIns="27432">
            <a:spAutoFit/>
          </a:bodyPr>
          <a:lstStyle/>
          <a:p>
            <a:pPr algn="r"/>
            <a:r>
              <a:rPr sz="1200" b="0" i="1">
                <a:solidFill>
                  <a:srgbClr val="595959"/>
                </a:solidFill>
                <a:latin typeface="Times New Roman"/>
                <a:ea typeface="Times New Roman"/>
                <a:cs typeface="Times New Roman"/>
              </a:rPr>
              <a:t>Cùng một bảng này trong bài đọc là Bảng 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Kiến trúc lai theo Medallion: dùng cả ba</a:t>
            </a:r>
            <a:endParaRPr b="1" i="0" sz="3400" u="none" cap="none" strike="noStrike">
              <a:solidFill>
                <a:srgbClr val="C55A11"/>
              </a:solidFill>
              <a:latin typeface="Times New Roman"/>
              <a:ea typeface="Times New Roman"/>
              <a:cs typeface="Times New Roman"/>
              <a:sym typeface="Times New Roman"/>
            </a:endParaRPr>
          </a:p>
        </p:txBody>
      </p:sp>
      <p:pic>
        <p:nvPicPr>
          <p:cNvPr id="117" name="Picture 116" descr="fig7.png"/>
          <p:cNvPicPr>
            <a:picLocks noChangeAspect="1"/>
          </p:cNvPicPr>
          <p:nvPr/>
        </p:nvPicPr>
        <p:blipFill>
          <a:blip r:embed="rId2"/>
          <a:stretch>
            <a:fillRect/>
          </a:stretch>
        </p:blipFill>
        <p:spPr>
          <a:xfrm>
            <a:off x="2762143" y="1051560"/>
            <a:ext cx="6667714" cy="2468880"/>
          </a:xfrm>
          <a:prstGeom prst="rect">
            <a:avLst/>
          </a:prstGeom>
        </p:spPr>
      </p:pic>
      <p:sp>
        <p:nvSpPr>
          <p:cNvPr id="118" name="Rounded Rectangle 117"/>
          <p:cNvSpPr/>
          <p:nvPr/>
        </p:nvSpPr>
        <p:spPr>
          <a:xfrm>
            <a:off x="411480" y="3657600"/>
            <a:ext cx="3606800" cy="2377440"/>
          </a:xfrm>
          <a:prstGeom prst="roundRect">
            <a:avLst>
              <a:gd name="adj" fmla="val 8000"/>
            </a:avLst>
          </a:prstGeom>
          <a:solidFill>
            <a:srgbClr val="F7F2E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TextBox 118"/>
          <p:cNvSpPr txBox="1"/>
          <p:nvPr/>
        </p:nvSpPr>
        <p:spPr>
          <a:xfrm>
            <a:off x="502920" y="3730752"/>
            <a:ext cx="3423920" cy="365760"/>
          </a:xfrm>
          <a:prstGeom prst="rect">
            <a:avLst/>
          </a:prstGeom>
          <a:noFill/>
        </p:spPr>
        <p:txBody>
          <a:bodyPr wrap="square" anchor="t" lIns="45720" rIns="45720" tIns="27432" bIns="27432">
            <a:spAutoFit/>
          </a:bodyPr>
          <a:lstStyle/>
          <a:p>
            <a:pPr algn="l"/>
            <a:r>
              <a:rPr sz="1600" b="1" i="0">
                <a:solidFill>
                  <a:srgbClr val="CD7F32"/>
                </a:solidFill>
                <a:latin typeface="Times New Roman"/>
                <a:ea typeface="Times New Roman"/>
                <a:cs typeface="Times New Roman"/>
              </a:rPr>
              <a:t>Bronze = Data Lake</a:t>
            </a:r>
          </a:p>
        </p:txBody>
      </p:sp>
      <p:sp>
        <p:nvSpPr>
          <p:cNvPr id="120" name="TextBox 119"/>
          <p:cNvSpPr txBox="1"/>
          <p:nvPr/>
        </p:nvSpPr>
        <p:spPr>
          <a:xfrm>
            <a:off x="502920" y="4114800"/>
            <a:ext cx="3423920" cy="187452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Dữ liệu CDC, file đối tác, log giữ nguyên dạng</a:t>
            </a:r>
          </a:p>
          <a:p>
            <a:pPr>
              <a:spcAft>
                <a:spcPts val="300"/>
              </a:spcAft>
            </a:pPr>
            <a:r>
              <a:rPr sz="1300" b="0" i="0">
                <a:solidFill>
                  <a:srgbClr val="1F1F1F"/>
                </a:solidFill>
                <a:latin typeface="Times New Roman"/>
                <a:ea typeface="Times New Roman"/>
                <a:cs typeface="Times New Roman"/>
              </a:rPr>
              <a:t>Append-only, không lọc theo nghiệp vụ</a:t>
            </a:r>
          </a:p>
          <a:p>
            <a:pPr>
              <a:spcAft>
                <a:spcPts val="300"/>
              </a:spcAft>
            </a:pPr>
            <a:r>
              <a:rPr sz="1300" b="0" i="0">
                <a:solidFill>
                  <a:srgbClr val="1F1F1F"/>
                </a:solidFill>
                <a:latin typeface="Times New Roman"/>
                <a:ea typeface="Times New Roman"/>
                <a:cs typeface="Times New Roman"/>
              </a:rPr>
              <a:t>Kho gốc để chạy lại pipeline khi phát hiện lỗi</a:t>
            </a:r>
          </a:p>
        </p:txBody>
      </p:sp>
      <p:sp>
        <p:nvSpPr>
          <p:cNvPr id="121" name="Rounded Rectangle 120"/>
          <p:cNvSpPr/>
          <p:nvPr/>
        </p:nvSpPr>
        <p:spPr>
          <a:xfrm>
            <a:off x="4292600" y="3657600"/>
            <a:ext cx="3606800" cy="2377440"/>
          </a:xfrm>
          <a:prstGeom prst="roundRect">
            <a:avLst>
              <a:gd name="adj" fmla="val 8000"/>
            </a:avLst>
          </a:prstGeom>
          <a:solidFill>
            <a:srgbClr val="F7F2E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TextBox 121"/>
          <p:cNvSpPr txBox="1"/>
          <p:nvPr/>
        </p:nvSpPr>
        <p:spPr>
          <a:xfrm>
            <a:off x="4384040" y="3730752"/>
            <a:ext cx="3423920" cy="365760"/>
          </a:xfrm>
          <a:prstGeom prst="rect">
            <a:avLst/>
          </a:prstGeom>
          <a:noFill/>
        </p:spPr>
        <p:txBody>
          <a:bodyPr wrap="square" anchor="t" lIns="45720" rIns="45720" tIns="27432" bIns="27432">
            <a:spAutoFit/>
          </a:bodyPr>
          <a:lstStyle/>
          <a:p>
            <a:pPr algn="l"/>
            <a:r>
              <a:rPr sz="1600" b="1" i="0">
                <a:solidFill>
                  <a:srgbClr val="6E7480"/>
                </a:solidFill>
                <a:latin typeface="Times New Roman"/>
                <a:ea typeface="Times New Roman"/>
                <a:cs typeface="Times New Roman"/>
              </a:rPr>
              <a:t>Silver = Data Lakehouse</a:t>
            </a:r>
          </a:p>
        </p:txBody>
      </p:sp>
      <p:sp>
        <p:nvSpPr>
          <p:cNvPr id="123" name="TextBox 122"/>
          <p:cNvSpPr txBox="1"/>
          <p:nvPr/>
        </p:nvSpPr>
        <p:spPr>
          <a:xfrm>
            <a:off x="4384040" y="4114800"/>
            <a:ext cx="3423920" cy="187452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Spark, Flink, PyIceberg làm sạch thành bảng Iceberg/Delta</a:t>
            </a:r>
          </a:p>
          <a:p>
            <a:pPr>
              <a:spcAft>
                <a:spcPts val="300"/>
              </a:spcAft>
            </a:pPr>
            <a:r>
              <a:rPr sz="1300" b="0" i="0">
                <a:solidFill>
                  <a:srgbClr val="1F1F1F"/>
                </a:solidFill>
                <a:latin typeface="Times New Roman"/>
                <a:ea typeface="Times New Roman"/>
                <a:cs typeface="Times New Roman"/>
              </a:rPr>
              <a:t>3NF kiểu Inmon hoặc Data Vault; ép kiểu, khử trùng lặp, SCD Type 2</a:t>
            </a:r>
          </a:p>
          <a:p>
            <a:pPr>
              <a:spcAft>
                <a:spcPts val="300"/>
              </a:spcAft>
            </a:pPr>
            <a:r>
              <a:rPr sz="1300" b="0" i="0">
                <a:solidFill>
                  <a:srgbClr val="1F1F1F"/>
                </a:solidFill>
                <a:latin typeface="Times New Roman"/>
                <a:ea typeface="Times New Roman"/>
                <a:cs typeface="Times New Roman"/>
              </a:rPr>
              <a:t>Một bản duy nhất cho ETL, SQL ad-hoc, feature ML</a:t>
            </a:r>
          </a:p>
        </p:txBody>
      </p:sp>
      <p:sp>
        <p:nvSpPr>
          <p:cNvPr id="124" name="Rounded Rectangle 123"/>
          <p:cNvSpPr/>
          <p:nvPr/>
        </p:nvSpPr>
        <p:spPr>
          <a:xfrm>
            <a:off x="8173720" y="3657600"/>
            <a:ext cx="3606800" cy="2377440"/>
          </a:xfrm>
          <a:prstGeom prst="roundRect">
            <a:avLst>
              <a:gd name="adj" fmla="val 8000"/>
            </a:avLst>
          </a:prstGeom>
          <a:solidFill>
            <a:srgbClr val="F7F2E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TextBox 124"/>
          <p:cNvSpPr txBox="1"/>
          <p:nvPr/>
        </p:nvSpPr>
        <p:spPr>
          <a:xfrm>
            <a:off x="8265160" y="3730752"/>
            <a:ext cx="3423920" cy="365760"/>
          </a:xfrm>
          <a:prstGeom prst="rect">
            <a:avLst/>
          </a:prstGeom>
          <a:noFill/>
        </p:spPr>
        <p:txBody>
          <a:bodyPr wrap="square" anchor="t" lIns="45720" rIns="45720" tIns="27432" bIns="27432">
            <a:spAutoFit/>
          </a:bodyPr>
          <a:lstStyle/>
          <a:p>
            <a:pPr algn="l"/>
            <a:r>
              <a:rPr sz="1600" b="1" i="0">
                <a:solidFill>
                  <a:srgbClr val="B8860B"/>
                </a:solidFill>
                <a:latin typeface="Times New Roman"/>
                <a:ea typeface="Times New Roman"/>
                <a:cs typeface="Times New Roman"/>
              </a:rPr>
              <a:t>Gold = Data Warehouse</a:t>
            </a:r>
          </a:p>
        </p:txBody>
      </p:sp>
      <p:sp>
        <p:nvSpPr>
          <p:cNvPr id="126" name="TextBox 125"/>
          <p:cNvSpPr txBox="1"/>
          <p:nvPr/>
        </p:nvSpPr>
        <p:spPr>
          <a:xfrm>
            <a:off x="8265160" y="4114800"/>
            <a:ext cx="3423920" cy="1874520"/>
          </a:xfrm>
          <a:prstGeom prst="rect">
            <a:avLst/>
          </a:prstGeom>
          <a:noFill/>
        </p:spPr>
        <p:txBody>
          <a:bodyPr wrap="square" anchor="t" lIns="45720" rIns="45720" tIns="27432" bIns="27432">
            <a:spAutoFit/>
          </a:bodyPr>
          <a:lstStyle/>
          <a:p>
            <a:pPr>
              <a:spcAft>
                <a:spcPts val="300"/>
              </a:spcAft>
            </a:pPr>
            <a:r>
              <a:rPr sz="1300" b="0" i="0">
                <a:solidFill>
                  <a:srgbClr val="1F1F1F"/>
                </a:solidFill>
                <a:latin typeface="Times New Roman"/>
                <a:ea typeface="Times New Roman"/>
                <a:cs typeface="Times New Roman"/>
              </a:rPr>
              <a:t>Star schema (Kimball) cho BI, hoặc One Big Table cho ML</a:t>
            </a:r>
          </a:p>
          <a:p>
            <a:pPr>
              <a:spcAft>
                <a:spcPts val="300"/>
              </a:spcAft>
            </a:pPr>
            <a:r>
              <a:rPr sz="1300" b="0" i="0">
                <a:solidFill>
                  <a:srgbClr val="1F1F1F"/>
                </a:solidFill>
                <a:latin typeface="Times New Roman"/>
                <a:ea typeface="Times New Roman"/>
                <a:cs typeface="Times New Roman"/>
              </a:rPr>
              <a:t>Metric, tổng hợp, mô tả ý nghĩa cột</a:t>
            </a:r>
          </a:p>
          <a:p>
            <a:pPr>
              <a:spcAft>
                <a:spcPts val="300"/>
              </a:spcAft>
            </a:pPr>
            <a:r>
              <a:rPr sz="1300" b="0" i="0">
                <a:solidFill>
                  <a:srgbClr val="1F1F1F"/>
                </a:solidFill>
                <a:latin typeface="Times New Roman"/>
                <a:ea typeface="Times New Roman"/>
                <a:cs typeface="Times New Roman"/>
              </a:rPr>
              <a:t>Nạp vào warehouse hoặc warehouse đọc thẳng bảng Iceberg</a:t>
            </a:r>
          </a:p>
        </p:txBody>
      </p:sp>
      <p:sp>
        <p:nvSpPr>
          <p:cNvPr id="127" name="TextBox 126"/>
          <p:cNvSpPr txBox="1"/>
          <p:nvPr/>
        </p:nvSpPr>
        <p:spPr>
          <a:xfrm>
            <a:off x="411480" y="6126480"/>
            <a:ext cx="11369040" cy="365760"/>
          </a:xfrm>
          <a:prstGeom prst="rect">
            <a:avLst/>
          </a:prstGeom>
          <a:noFill/>
        </p:spPr>
        <p:txBody>
          <a:bodyPr wrap="square" anchor="t" lIns="45720" rIns="45720" tIns="27432" bIns="27432">
            <a:spAutoFit/>
          </a:bodyPr>
          <a:lstStyle/>
          <a:p>
            <a:pPr algn="ctr"/>
            <a:r>
              <a:rPr sz="1400" b="1" i="1">
                <a:solidFill>
                  <a:srgbClr val="538135"/>
                </a:solidFill>
                <a:latin typeface="Times New Roman"/>
                <a:ea typeface="Times New Roman"/>
                <a:cs typeface="Times New Roman"/>
              </a:rPr>
              <a:t>Medallion là cách tổ chức logic, không thay thế mô hình hóa dữ liệu.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2800" u="none" cap="none" strike="noStrike">
                <a:solidFill>
                  <a:srgbClr val="C55A11"/>
                </a:solidFill>
                <a:latin typeface="Times New Roman"/>
                <a:ea typeface="Times New Roman"/>
                <a:cs typeface="Times New Roman"/>
                <a:sym typeface="Times New Roman"/>
              </a:rPr>
              <a:t>Thực hành: từ Bronze đến Gold trên laptop</a:t>
            </a:r>
            <a:endParaRPr b="1" i="0" sz="3400" u="none" cap="none" strike="noStrike">
              <a:solidFill>
                <a:srgbClr val="C55A11"/>
              </a:solidFill>
              <a:latin typeface="Times New Roman"/>
              <a:ea typeface="Times New Roman"/>
              <a:cs typeface="Times New Roman"/>
              <a:sym typeface="Times New Roman"/>
            </a:endParaRPr>
          </a:p>
        </p:txBody>
      </p:sp>
      <p:sp>
        <p:nvSpPr>
          <p:cNvPr id="117" name="Rounded Rectangle 116"/>
          <p:cNvSpPr/>
          <p:nvPr/>
        </p:nvSpPr>
        <p:spPr>
          <a:xfrm>
            <a:off x="411480" y="1051560"/>
            <a:ext cx="2636520" cy="393192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8" name="Picture 117" descr="parquet.png"/>
          <p:cNvPicPr>
            <a:picLocks noChangeAspect="1"/>
          </p:cNvPicPr>
          <p:nvPr/>
        </p:nvPicPr>
        <p:blipFill>
          <a:blip r:embed="rId2"/>
          <a:stretch>
            <a:fillRect/>
          </a:stretch>
        </p:blipFill>
        <p:spPr>
          <a:xfrm>
            <a:off x="502920" y="1278557"/>
            <a:ext cx="1135380" cy="231806"/>
          </a:xfrm>
          <a:prstGeom prst="rect">
            <a:avLst/>
          </a:prstGeom>
        </p:spPr>
      </p:pic>
      <p:pic>
        <p:nvPicPr>
          <p:cNvPr id="119" name="Picture 118" descr="duckdb.png"/>
          <p:cNvPicPr>
            <a:picLocks noChangeAspect="1"/>
          </p:cNvPicPr>
          <p:nvPr/>
        </p:nvPicPr>
        <p:blipFill>
          <a:blip r:embed="rId3"/>
          <a:stretch>
            <a:fillRect/>
          </a:stretch>
        </p:blipFill>
        <p:spPr>
          <a:xfrm>
            <a:off x="2062210" y="1143000"/>
            <a:ext cx="653319" cy="502920"/>
          </a:xfrm>
          <a:prstGeom prst="rect">
            <a:avLst/>
          </a:prstGeom>
        </p:spPr>
      </p:pic>
      <p:sp>
        <p:nvSpPr>
          <p:cNvPr id="120" name="TextBox 119"/>
          <p:cNvSpPr txBox="1"/>
          <p:nvPr/>
        </p:nvSpPr>
        <p:spPr>
          <a:xfrm>
            <a:off x="411480" y="1691640"/>
            <a:ext cx="2636520" cy="320040"/>
          </a:xfrm>
          <a:prstGeom prst="rect">
            <a:avLst/>
          </a:prstGeom>
          <a:noFill/>
        </p:spPr>
        <p:txBody>
          <a:bodyPr wrap="square" anchor="t" lIns="45720" rIns="45720" tIns="27432" bIns="27432">
            <a:spAutoFit/>
          </a:bodyPr>
          <a:lstStyle/>
          <a:p>
            <a:pPr algn="ctr"/>
            <a:r>
              <a:rPr sz="1500" b="1" i="0">
                <a:solidFill>
                  <a:srgbClr val="C55A11"/>
                </a:solidFill>
                <a:latin typeface="Times New Roman"/>
                <a:ea typeface="Times New Roman"/>
                <a:cs typeface="Times New Roman"/>
              </a:rPr>
              <a:t>Data Lake</a:t>
            </a:r>
          </a:p>
        </p:txBody>
      </p:sp>
      <p:sp>
        <p:nvSpPr>
          <p:cNvPr id="121" name="TextBox 120"/>
          <p:cNvSpPr txBox="1"/>
          <p:nvPr/>
        </p:nvSpPr>
        <p:spPr>
          <a:xfrm>
            <a:off x="411480" y="2011680"/>
            <a:ext cx="2636520" cy="320040"/>
          </a:xfrm>
          <a:prstGeom prst="rect">
            <a:avLst/>
          </a:prstGeom>
          <a:noFill/>
        </p:spPr>
        <p:txBody>
          <a:bodyPr wrap="square" anchor="t" lIns="45720" rIns="45720" tIns="27432" bIns="27432">
            <a:spAutoFit/>
          </a:bodyPr>
          <a:lstStyle/>
          <a:p>
            <a:pPr algn="ctr"/>
            <a:r>
              <a:rPr sz="1100" b="0" i="0">
                <a:solidFill>
                  <a:srgbClr val="595959"/>
                </a:solidFill>
                <a:latin typeface="Courier New"/>
                <a:ea typeface="Courier New"/>
                <a:cs typeface="Courier New"/>
              </a:rPr>
              <a:t>01_bronze_data_lake.py</a:t>
            </a:r>
          </a:p>
        </p:txBody>
      </p:sp>
      <p:sp>
        <p:nvSpPr>
          <p:cNvPr id="122" name="TextBox 121"/>
          <p:cNvSpPr txBox="1"/>
          <p:nvPr/>
        </p:nvSpPr>
        <p:spPr>
          <a:xfrm>
            <a:off x="502920" y="2377440"/>
            <a:ext cx="2453640" cy="219456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Tải 2 tháng dữ liệu NYC TLC (2 × 48 MB)</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Đọc footer Parquet</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Tái hiện 4 lỗi data swamp</a:t>
            </a:r>
          </a:p>
        </p:txBody>
      </p:sp>
      <p:sp>
        <p:nvSpPr>
          <p:cNvPr id="123" name="TextBox 122"/>
          <p:cNvSpPr txBox="1"/>
          <p:nvPr/>
        </p:nvSpPr>
        <p:spPr>
          <a:xfrm>
            <a:off x="411480" y="4572000"/>
            <a:ext cx="2636520" cy="320040"/>
          </a:xfrm>
          <a:prstGeom prst="rect">
            <a:avLst/>
          </a:prstGeom>
          <a:noFill/>
        </p:spPr>
        <p:txBody>
          <a:bodyPr wrap="square" anchor="t" lIns="45720" rIns="45720" tIns="27432" bIns="27432">
            <a:spAutoFit/>
          </a:bodyPr>
          <a:lstStyle/>
          <a:p>
            <a:pPr algn="ctr"/>
            <a:r>
              <a:rPr sz="1200" b="1" i="0">
                <a:solidFill>
                  <a:srgbClr val="538135"/>
                </a:solidFill>
                <a:latin typeface="Times New Roman"/>
                <a:ea typeface="Times New Roman"/>
                <a:cs typeface="Times New Roman"/>
              </a:rPr>
              <a:t>~20 giây</a:t>
            </a:r>
          </a:p>
        </p:txBody>
      </p:sp>
      <p:sp>
        <p:nvSpPr>
          <p:cNvPr id="124" name="Rounded Rectangle 123"/>
          <p:cNvSpPr/>
          <p:nvPr/>
        </p:nvSpPr>
        <p:spPr>
          <a:xfrm>
            <a:off x="3322320" y="1051560"/>
            <a:ext cx="2636520" cy="393192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5" name="Picture 124" descr="iceberg.png"/>
          <p:cNvPicPr>
            <a:picLocks noChangeAspect="1"/>
          </p:cNvPicPr>
          <p:nvPr/>
        </p:nvPicPr>
        <p:blipFill>
          <a:blip r:embed="rId4"/>
          <a:stretch>
            <a:fillRect/>
          </a:stretch>
        </p:blipFill>
        <p:spPr>
          <a:xfrm>
            <a:off x="3558062" y="1143000"/>
            <a:ext cx="2165036" cy="502920"/>
          </a:xfrm>
          <a:prstGeom prst="rect">
            <a:avLst/>
          </a:prstGeom>
        </p:spPr>
      </p:pic>
      <p:sp>
        <p:nvSpPr>
          <p:cNvPr id="126" name="TextBox 125"/>
          <p:cNvSpPr txBox="1"/>
          <p:nvPr/>
        </p:nvSpPr>
        <p:spPr>
          <a:xfrm>
            <a:off x="3322320" y="1691640"/>
            <a:ext cx="2636520" cy="320040"/>
          </a:xfrm>
          <a:prstGeom prst="rect">
            <a:avLst/>
          </a:prstGeom>
          <a:noFill/>
        </p:spPr>
        <p:txBody>
          <a:bodyPr wrap="square" anchor="t" lIns="45720" rIns="45720" tIns="27432" bIns="27432">
            <a:spAutoFit/>
          </a:bodyPr>
          <a:lstStyle/>
          <a:p>
            <a:pPr algn="ctr"/>
            <a:r>
              <a:rPr sz="1500" b="1" i="0">
                <a:solidFill>
                  <a:srgbClr val="C55A11"/>
                </a:solidFill>
                <a:latin typeface="Times New Roman"/>
                <a:ea typeface="Times New Roman"/>
                <a:cs typeface="Times New Roman"/>
              </a:rPr>
              <a:t>Data Lakehouse</a:t>
            </a:r>
          </a:p>
        </p:txBody>
      </p:sp>
      <p:sp>
        <p:nvSpPr>
          <p:cNvPr id="127" name="TextBox 126"/>
          <p:cNvSpPr txBox="1"/>
          <p:nvPr/>
        </p:nvSpPr>
        <p:spPr>
          <a:xfrm>
            <a:off x="3322320" y="2011680"/>
            <a:ext cx="2636520" cy="320040"/>
          </a:xfrm>
          <a:prstGeom prst="rect">
            <a:avLst/>
          </a:prstGeom>
          <a:noFill/>
        </p:spPr>
        <p:txBody>
          <a:bodyPr wrap="square" anchor="t" lIns="45720" rIns="45720" tIns="27432" bIns="27432">
            <a:spAutoFit/>
          </a:bodyPr>
          <a:lstStyle/>
          <a:p>
            <a:pPr algn="ctr"/>
            <a:r>
              <a:rPr sz="1100" b="0" i="0">
                <a:solidFill>
                  <a:srgbClr val="595959"/>
                </a:solidFill>
                <a:latin typeface="Courier New"/>
                <a:ea typeface="Courier New"/>
                <a:cs typeface="Courier New"/>
              </a:rPr>
              <a:t>02_silver_lakehouse.py</a:t>
            </a:r>
          </a:p>
        </p:txBody>
      </p:sp>
      <p:sp>
        <p:nvSpPr>
          <p:cNvPr id="128" name="TextBox 127"/>
          <p:cNvSpPr txBox="1"/>
          <p:nvPr/>
        </p:nvSpPr>
        <p:spPr>
          <a:xfrm>
            <a:off x="3413760" y="2377440"/>
            <a:ext cx="2453640" cy="219456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Conform schema, lọc 4 quy tắc chất lượng</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Bảng Iceberg + SQLite catalog</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Schema/partition evolution, DELETE, time travel</a:t>
            </a:r>
          </a:p>
        </p:txBody>
      </p:sp>
      <p:sp>
        <p:nvSpPr>
          <p:cNvPr id="129" name="TextBox 128"/>
          <p:cNvSpPr txBox="1"/>
          <p:nvPr/>
        </p:nvSpPr>
        <p:spPr>
          <a:xfrm>
            <a:off x="3322320" y="4572000"/>
            <a:ext cx="2636520" cy="320040"/>
          </a:xfrm>
          <a:prstGeom prst="rect">
            <a:avLst/>
          </a:prstGeom>
          <a:noFill/>
        </p:spPr>
        <p:txBody>
          <a:bodyPr wrap="square" anchor="t" lIns="45720" rIns="45720" tIns="27432" bIns="27432">
            <a:spAutoFit/>
          </a:bodyPr>
          <a:lstStyle/>
          <a:p>
            <a:pPr algn="ctr"/>
            <a:r>
              <a:rPr sz="1200" b="1" i="0">
                <a:solidFill>
                  <a:srgbClr val="538135"/>
                </a:solidFill>
                <a:latin typeface="Times New Roman"/>
                <a:ea typeface="Times New Roman"/>
                <a:cs typeface="Times New Roman"/>
              </a:rPr>
              <a:t>~5 giây</a:t>
            </a:r>
          </a:p>
        </p:txBody>
      </p:sp>
      <p:sp>
        <p:nvSpPr>
          <p:cNvPr id="130" name="Rounded Rectangle 129"/>
          <p:cNvSpPr/>
          <p:nvPr/>
        </p:nvSpPr>
        <p:spPr>
          <a:xfrm>
            <a:off x="6233160" y="1051560"/>
            <a:ext cx="2636520" cy="393192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1" name="Picture 130" descr="duckdb.png"/>
          <p:cNvPicPr>
            <a:picLocks noChangeAspect="1"/>
          </p:cNvPicPr>
          <p:nvPr/>
        </p:nvPicPr>
        <p:blipFill>
          <a:blip r:embed="rId3"/>
          <a:stretch>
            <a:fillRect/>
          </a:stretch>
        </p:blipFill>
        <p:spPr>
          <a:xfrm>
            <a:off x="7224760" y="1143000"/>
            <a:ext cx="653319" cy="502920"/>
          </a:xfrm>
          <a:prstGeom prst="rect">
            <a:avLst/>
          </a:prstGeom>
        </p:spPr>
      </p:pic>
      <p:sp>
        <p:nvSpPr>
          <p:cNvPr id="132" name="TextBox 131"/>
          <p:cNvSpPr txBox="1"/>
          <p:nvPr/>
        </p:nvSpPr>
        <p:spPr>
          <a:xfrm>
            <a:off x="6233160" y="1691640"/>
            <a:ext cx="2636520" cy="320040"/>
          </a:xfrm>
          <a:prstGeom prst="rect">
            <a:avLst/>
          </a:prstGeom>
          <a:noFill/>
        </p:spPr>
        <p:txBody>
          <a:bodyPr wrap="square" anchor="t" lIns="45720" rIns="45720" tIns="27432" bIns="27432">
            <a:spAutoFit/>
          </a:bodyPr>
          <a:lstStyle/>
          <a:p>
            <a:pPr algn="ctr"/>
            <a:r>
              <a:rPr sz="1500" b="1" i="0">
                <a:solidFill>
                  <a:srgbClr val="C55A11"/>
                </a:solidFill>
                <a:latin typeface="Times New Roman"/>
                <a:ea typeface="Times New Roman"/>
                <a:cs typeface="Times New Roman"/>
              </a:rPr>
              <a:t>Data Warehouse</a:t>
            </a:r>
          </a:p>
        </p:txBody>
      </p:sp>
      <p:sp>
        <p:nvSpPr>
          <p:cNvPr id="133" name="TextBox 132"/>
          <p:cNvSpPr txBox="1"/>
          <p:nvPr/>
        </p:nvSpPr>
        <p:spPr>
          <a:xfrm>
            <a:off x="6233160" y="2011680"/>
            <a:ext cx="2636520" cy="320040"/>
          </a:xfrm>
          <a:prstGeom prst="rect">
            <a:avLst/>
          </a:prstGeom>
          <a:noFill/>
        </p:spPr>
        <p:txBody>
          <a:bodyPr wrap="square" anchor="t" lIns="45720" rIns="45720" tIns="27432" bIns="27432">
            <a:spAutoFit/>
          </a:bodyPr>
          <a:lstStyle/>
          <a:p>
            <a:pPr algn="ctr"/>
            <a:r>
              <a:rPr sz="1100" b="0" i="0">
                <a:solidFill>
                  <a:srgbClr val="595959"/>
                </a:solidFill>
                <a:latin typeface="Courier New"/>
                <a:ea typeface="Courier New"/>
                <a:cs typeface="Courier New"/>
              </a:rPr>
              <a:t>03_gold_warehouse.py</a:t>
            </a:r>
          </a:p>
        </p:txBody>
      </p:sp>
      <p:sp>
        <p:nvSpPr>
          <p:cNvPr id="134" name="TextBox 133"/>
          <p:cNvSpPr txBox="1"/>
          <p:nvPr/>
        </p:nvSpPr>
        <p:spPr>
          <a:xfrm>
            <a:off x="6324600" y="2377440"/>
            <a:ext cx="2453640" cy="219456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iceberg_scan đọc đúng snapshot hiện hành</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Star schema: 3 dim + fact_trips 5,8 triệu dòng</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5 data test PASS, data mart theo ngày</a:t>
            </a:r>
          </a:p>
        </p:txBody>
      </p:sp>
      <p:sp>
        <p:nvSpPr>
          <p:cNvPr id="135" name="TextBox 134"/>
          <p:cNvSpPr txBox="1"/>
          <p:nvPr/>
        </p:nvSpPr>
        <p:spPr>
          <a:xfrm>
            <a:off x="6233160" y="4572000"/>
            <a:ext cx="2636520" cy="320040"/>
          </a:xfrm>
          <a:prstGeom prst="rect">
            <a:avLst/>
          </a:prstGeom>
          <a:noFill/>
        </p:spPr>
        <p:txBody>
          <a:bodyPr wrap="square" anchor="t" lIns="45720" rIns="45720" tIns="27432" bIns="27432">
            <a:spAutoFit/>
          </a:bodyPr>
          <a:lstStyle/>
          <a:p>
            <a:pPr algn="ctr"/>
            <a:r>
              <a:rPr sz="1200" b="1" i="0">
                <a:solidFill>
                  <a:srgbClr val="538135"/>
                </a:solidFill>
                <a:latin typeface="Times New Roman"/>
                <a:ea typeface="Times New Roman"/>
                <a:cs typeface="Times New Roman"/>
              </a:rPr>
              <a:t>~5 giây</a:t>
            </a:r>
          </a:p>
        </p:txBody>
      </p:sp>
      <p:sp>
        <p:nvSpPr>
          <p:cNvPr id="136" name="Rounded Rectangle 135"/>
          <p:cNvSpPr/>
          <p:nvPr/>
        </p:nvSpPr>
        <p:spPr>
          <a:xfrm>
            <a:off x="9144000" y="1051560"/>
            <a:ext cx="2636520" cy="3931920"/>
          </a:xfrm>
          <a:prstGeom prst="roundRect">
            <a:avLst>
              <a:gd name="adj" fmla="val 8000"/>
            </a:avLst>
          </a:prstGeom>
          <a:solidFill>
            <a:srgbClr val="FBE4D4"/>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7" name="Picture 136" descr="iceberg.png"/>
          <p:cNvPicPr>
            <a:picLocks noChangeAspect="1"/>
          </p:cNvPicPr>
          <p:nvPr/>
        </p:nvPicPr>
        <p:blipFill>
          <a:blip r:embed="rId4"/>
          <a:stretch>
            <a:fillRect/>
          </a:stretch>
        </p:blipFill>
        <p:spPr>
          <a:xfrm>
            <a:off x="9379742" y="1143000"/>
            <a:ext cx="2165036" cy="502920"/>
          </a:xfrm>
          <a:prstGeom prst="rect">
            <a:avLst/>
          </a:prstGeom>
        </p:spPr>
      </p:pic>
      <p:sp>
        <p:nvSpPr>
          <p:cNvPr id="138" name="TextBox 137"/>
          <p:cNvSpPr txBox="1"/>
          <p:nvPr/>
        </p:nvSpPr>
        <p:spPr>
          <a:xfrm>
            <a:off x="9144000" y="1691640"/>
            <a:ext cx="2636520" cy="320040"/>
          </a:xfrm>
          <a:prstGeom prst="rect">
            <a:avLst/>
          </a:prstGeom>
          <a:noFill/>
        </p:spPr>
        <p:txBody>
          <a:bodyPr wrap="square" anchor="t" lIns="45720" rIns="45720" tIns="27432" bIns="27432">
            <a:spAutoFit/>
          </a:bodyPr>
          <a:lstStyle/>
          <a:p>
            <a:pPr algn="ctr"/>
            <a:r>
              <a:rPr sz="1500" b="1" i="0">
                <a:solidFill>
                  <a:srgbClr val="C55A11"/>
                </a:solidFill>
                <a:latin typeface="Times New Roman"/>
                <a:ea typeface="Times New Roman"/>
                <a:cs typeface="Times New Roman"/>
              </a:rPr>
              <a:t>Bảo trì bảng</a:t>
            </a:r>
          </a:p>
        </p:txBody>
      </p:sp>
      <p:sp>
        <p:nvSpPr>
          <p:cNvPr id="139" name="TextBox 138"/>
          <p:cNvSpPr txBox="1"/>
          <p:nvPr/>
        </p:nvSpPr>
        <p:spPr>
          <a:xfrm>
            <a:off x="9144000" y="2011680"/>
            <a:ext cx="2636520" cy="320040"/>
          </a:xfrm>
          <a:prstGeom prst="rect">
            <a:avLst/>
          </a:prstGeom>
          <a:noFill/>
        </p:spPr>
        <p:txBody>
          <a:bodyPr wrap="square" anchor="t" lIns="45720" rIns="45720" tIns="27432" bIns="27432">
            <a:spAutoFit/>
          </a:bodyPr>
          <a:lstStyle/>
          <a:p>
            <a:pPr algn="ctr"/>
            <a:r>
              <a:rPr sz="1100" b="0" i="0">
                <a:solidFill>
                  <a:srgbClr val="595959"/>
                </a:solidFill>
                <a:latin typeface="Courier New"/>
                <a:ea typeface="Courier New"/>
                <a:cs typeface="Courier New"/>
              </a:rPr>
              <a:t>04_table_maintenance.py</a:t>
            </a:r>
          </a:p>
        </p:txBody>
      </p:sp>
      <p:sp>
        <p:nvSpPr>
          <p:cNvPr id="140" name="TextBox 139"/>
          <p:cNvSpPr txBox="1"/>
          <p:nvPr/>
        </p:nvSpPr>
        <p:spPr>
          <a:xfrm>
            <a:off x="9235440" y="2377440"/>
            <a:ext cx="2453640" cy="2194560"/>
          </a:xfrm>
          <a:prstGeom prst="rect">
            <a:avLst/>
          </a:prstGeom>
          <a:noFill/>
        </p:spPr>
        <p:txBody>
          <a:bodyPr wrap="square" anchor="t" lIns="45720" rIns="45720" tIns="27432" bIns="27432">
            <a:spAutoFit/>
          </a:bodyPr>
          <a:lstStyle/>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300 micro-batch → small files</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Compaction, expire snapshots</a:t>
            </a:r>
          </a:p>
          <a:p>
            <a:pPr marL="571500" indent="-228600">
              <a:spcAft>
                <a:spcPts val="300"/>
              </a:spcAft>
              <a:buClr>
                <a:srgbClr val="595959"/>
              </a:buClr>
              <a:buFont typeface="Arial"/>
              <a:buChar char="•"/>
            </a:pPr>
            <a:r>
              <a:rPr sz="1300" b="0" i="0">
                <a:solidFill>
                  <a:srgbClr val="1F1F1F"/>
                </a:solidFill>
                <a:latin typeface="Times New Roman"/>
                <a:ea typeface="Times New Roman"/>
                <a:cs typeface="Times New Roman"/>
              </a:rPr>
              <a:t>Dọn orphan file, gọn metadata</a:t>
            </a:r>
          </a:p>
        </p:txBody>
      </p:sp>
      <p:sp>
        <p:nvSpPr>
          <p:cNvPr id="141" name="TextBox 140"/>
          <p:cNvSpPr txBox="1"/>
          <p:nvPr/>
        </p:nvSpPr>
        <p:spPr>
          <a:xfrm>
            <a:off x="9144000" y="4572000"/>
            <a:ext cx="2636520" cy="320040"/>
          </a:xfrm>
          <a:prstGeom prst="rect">
            <a:avLst/>
          </a:prstGeom>
          <a:noFill/>
        </p:spPr>
        <p:txBody>
          <a:bodyPr wrap="square" anchor="t" lIns="45720" rIns="45720" tIns="27432" bIns="27432">
            <a:spAutoFit/>
          </a:bodyPr>
          <a:lstStyle/>
          <a:p>
            <a:pPr algn="ctr"/>
            <a:r>
              <a:rPr sz="1200" b="1" i="0">
                <a:solidFill>
                  <a:srgbClr val="538135"/>
                </a:solidFill>
                <a:latin typeface="Times New Roman"/>
                <a:ea typeface="Times New Roman"/>
                <a:cs typeface="Times New Roman"/>
              </a:rPr>
              <a:t>~40 giây</a:t>
            </a:r>
          </a:p>
        </p:txBody>
      </p:sp>
      <p:sp>
        <p:nvSpPr>
          <p:cNvPr id="142" name="Rectangle 141"/>
          <p:cNvSpPr/>
          <p:nvPr/>
        </p:nvSpPr>
        <p:spPr>
          <a:xfrm>
            <a:off x="411480" y="5166360"/>
            <a:ext cx="11369040" cy="777240"/>
          </a:xfrm>
          <a:prstGeom prst="rect">
            <a:avLst/>
          </a:prstGeom>
          <a:solidFill>
            <a:srgbClr val="F4F4F4"/>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r>
              <a:rPr sz="1200" b="0" i="0">
                <a:solidFill>
                  <a:srgbClr val="1F1F1F"/>
                </a:solidFill>
                <a:latin typeface="Courier New"/>
                <a:ea typeface="Courier New"/>
                <a:cs typeface="Courier New"/>
              </a:rPr>
              <a:t>pip install -r requirements.txt          # pyiceberg 0.12, pyarrow, duckdb 1.5, pandas</a:t>
            </a:r>
          </a:p>
          <a:p>
            <a:pPr algn="l"/>
            <a:r>
              <a:rPr sz="1200" b="0" i="0">
                <a:solidFill>
                  <a:srgbClr val="1F1F1F"/>
                </a:solidFill>
                <a:latin typeface="Courier New"/>
                <a:ea typeface="Courier New"/>
                <a:cs typeface="Courier New"/>
              </a:rPr>
              <a:t>python 01_bronze_data_lake.py &amp;&amp; python 02_silver_lakehouse.py &amp;&amp; python 03_gold_warehouse.py</a:t>
            </a:r>
          </a:p>
        </p:txBody>
      </p:sp>
      <p:sp>
        <p:nvSpPr>
          <p:cNvPr id="143" name="TextBox 142"/>
          <p:cNvSpPr txBox="1"/>
          <p:nvPr/>
        </p:nvSpPr>
        <p:spPr>
          <a:xfrm>
            <a:off x="411480" y="5989320"/>
            <a:ext cx="11369040" cy="457200"/>
          </a:xfrm>
          <a:prstGeom prst="rect">
            <a:avLst/>
          </a:prstGeom>
          <a:noFill/>
        </p:spPr>
        <p:txBody>
          <a:bodyPr wrap="square" anchor="t" lIns="45720" rIns="45720" tIns="27432" bIns="27432">
            <a:spAutoFit/>
          </a:bodyPr>
          <a:lstStyle/>
          <a:p>
            <a:pPr algn="l"/>
            <a:r>
              <a:rPr sz="1400" b="0" i="1">
                <a:solidFill>
                  <a:srgbClr val="595959"/>
                </a:solidFill>
                <a:latin typeface="Times New Roman"/>
                <a:ea typeface="Times New Roman"/>
                <a:cs typeface="Times New Roman"/>
              </a:rPr>
              <a:t>Không cần Docker hay tài khoản cloud. Toàn bộ dữ liệu sinh ra nằm trong solution/code/lakehouse_lab/.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Khi nào chọn kiến trúc nào?</a:t>
            </a:r>
            <a:endParaRPr b="1" i="0" sz="3400" u="none" cap="none" strike="noStrike">
              <a:solidFill>
                <a:srgbClr val="C55A11"/>
              </a:solidFill>
              <a:latin typeface="Times New Roman"/>
              <a:ea typeface="Times New Roman"/>
              <a:cs typeface="Times New Roman"/>
              <a:sym typeface="Times New Roman"/>
            </a:endParaRPr>
          </a:p>
        </p:txBody>
      </p:sp>
      <p:sp>
        <p:nvSpPr>
          <p:cNvPr id="117" name="Rounded Rectangle 116"/>
          <p:cNvSpPr/>
          <p:nvPr/>
        </p:nvSpPr>
        <p:spPr>
          <a:xfrm>
            <a:off x="411480" y="1051560"/>
            <a:ext cx="5501640" cy="2194560"/>
          </a:xfrm>
          <a:prstGeom prst="roundRect">
            <a:avLst>
              <a:gd name="adj" fmla="val 8000"/>
            </a:avLst>
          </a:prstGeom>
          <a:solidFill>
            <a:srgbClr val="EEF4E8"/>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TextBox 117"/>
          <p:cNvSpPr txBox="1"/>
          <p:nvPr/>
        </p:nvSpPr>
        <p:spPr>
          <a:xfrm>
            <a:off x="502920" y="1124712"/>
            <a:ext cx="5318760" cy="365760"/>
          </a:xfrm>
          <a:prstGeom prst="rect">
            <a:avLst/>
          </a:prstGeom>
          <a:noFill/>
        </p:spPr>
        <p:txBody>
          <a:bodyPr wrap="square" anchor="t" lIns="45720" rIns="45720" tIns="27432" bIns="27432">
            <a:spAutoFit/>
          </a:bodyPr>
          <a:lstStyle/>
          <a:p>
            <a:pPr algn="l"/>
            <a:r>
              <a:rPr sz="1600" b="1" i="0">
                <a:solidFill>
                  <a:srgbClr val="538135"/>
                </a:solidFill>
                <a:latin typeface="Times New Roman"/>
                <a:ea typeface="Times New Roman"/>
                <a:cs typeface="Times New Roman"/>
              </a:rPr>
              <a:t>Chỉ cần Data Warehouse khi</a:t>
            </a:r>
          </a:p>
        </p:txBody>
      </p:sp>
      <p:sp>
        <p:nvSpPr>
          <p:cNvPr id="119" name="TextBox 118"/>
          <p:cNvSpPr txBox="1"/>
          <p:nvPr/>
        </p:nvSpPr>
        <p:spPr>
          <a:xfrm>
            <a:off x="502920" y="1508760"/>
            <a:ext cx="5318760" cy="1691640"/>
          </a:xfrm>
          <a:prstGeom prst="rect">
            <a:avLst/>
          </a:prstGeom>
          <a:noFill/>
        </p:spPr>
        <p:txBody>
          <a:bodyPr wrap="square" anchor="t" lIns="45720" rIns="45720" tIns="27432" bIns="27432">
            <a:spAutoFit/>
          </a:bodyPr>
          <a:lstStyle/>
          <a:p>
            <a:pPr>
              <a:spcAft>
                <a:spcPts val="300"/>
              </a:spcAft>
            </a:pPr>
            <a:r>
              <a:rPr sz="1400" b="0" i="0">
                <a:solidFill>
                  <a:srgbClr val="1F1F1F"/>
                </a:solidFill>
                <a:latin typeface="Times New Roman"/>
                <a:ea typeface="Times New Roman"/>
                <a:cs typeface="Times New Roman"/>
              </a:rPr>
              <a:t>Người dùng chủ yếu là nhà phân tích SQL và dashboard BI</a:t>
            </a:r>
          </a:p>
          <a:p>
            <a:pPr>
              <a:spcAft>
                <a:spcPts val="300"/>
              </a:spcAft>
            </a:pPr>
            <a:r>
              <a:rPr sz="1400" b="0" i="0">
                <a:solidFill>
                  <a:srgbClr val="1F1F1F"/>
                </a:solidFill>
                <a:latin typeface="Times New Roman"/>
                <a:ea typeface="Times New Roman"/>
                <a:cs typeface="Times New Roman"/>
              </a:rPr>
              <a:t>Dữ liệu có cấu trúc, khối lượng vừa phải</a:t>
            </a:r>
          </a:p>
          <a:p>
            <a:pPr>
              <a:spcAft>
                <a:spcPts val="300"/>
              </a:spcAft>
            </a:pPr>
            <a:r>
              <a:rPr sz="1400" b="0" i="0">
                <a:solidFill>
                  <a:srgbClr val="1F1F1F"/>
                </a:solidFill>
                <a:latin typeface="Times New Roman"/>
                <a:ea typeface="Times New Roman"/>
                <a:cs typeface="Times New Roman"/>
              </a:rPr>
              <a:t>Đội ngũ nhỏ, muốn ít việc vận hành</a:t>
            </a:r>
          </a:p>
        </p:txBody>
      </p:sp>
      <p:sp>
        <p:nvSpPr>
          <p:cNvPr id="120" name="Rounded Rectangle 119"/>
          <p:cNvSpPr/>
          <p:nvPr/>
        </p:nvSpPr>
        <p:spPr>
          <a:xfrm>
            <a:off x="6278880" y="1051560"/>
            <a:ext cx="5501640" cy="2194560"/>
          </a:xfrm>
          <a:prstGeom prst="roundRect">
            <a:avLst>
              <a:gd name="adj" fmla="val 8000"/>
            </a:avLst>
          </a:prstGeom>
          <a:solidFill>
            <a:srgbClr val="EEF4E8"/>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TextBox 120"/>
          <p:cNvSpPr txBox="1"/>
          <p:nvPr/>
        </p:nvSpPr>
        <p:spPr>
          <a:xfrm>
            <a:off x="6370320" y="1124712"/>
            <a:ext cx="5318760" cy="365760"/>
          </a:xfrm>
          <a:prstGeom prst="rect">
            <a:avLst/>
          </a:prstGeom>
          <a:noFill/>
        </p:spPr>
        <p:txBody>
          <a:bodyPr wrap="square" anchor="t" lIns="45720" rIns="45720" tIns="27432" bIns="27432">
            <a:spAutoFit/>
          </a:bodyPr>
          <a:lstStyle/>
          <a:p>
            <a:pPr algn="l"/>
            <a:r>
              <a:rPr sz="1600" b="1" i="0">
                <a:solidFill>
                  <a:srgbClr val="538135"/>
                </a:solidFill>
                <a:latin typeface="Times New Roman"/>
                <a:ea typeface="Times New Roman"/>
                <a:cs typeface="Times New Roman"/>
              </a:rPr>
              <a:t>Luôn giữ một vùng Data Lake để</a:t>
            </a:r>
          </a:p>
        </p:txBody>
      </p:sp>
      <p:sp>
        <p:nvSpPr>
          <p:cNvPr id="122" name="TextBox 121"/>
          <p:cNvSpPr txBox="1"/>
          <p:nvPr/>
        </p:nvSpPr>
        <p:spPr>
          <a:xfrm>
            <a:off x="6370320" y="1508760"/>
            <a:ext cx="5318760" cy="1691640"/>
          </a:xfrm>
          <a:prstGeom prst="rect">
            <a:avLst/>
          </a:prstGeom>
          <a:noFill/>
        </p:spPr>
        <p:txBody>
          <a:bodyPr wrap="square" anchor="t" lIns="45720" rIns="45720" tIns="27432" bIns="27432">
            <a:spAutoFit/>
          </a:bodyPr>
          <a:lstStyle/>
          <a:p>
            <a:pPr>
              <a:spcAft>
                <a:spcPts val="300"/>
              </a:spcAft>
            </a:pPr>
            <a:r>
              <a:rPr sz="1400" b="0" i="0">
                <a:solidFill>
                  <a:srgbClr val="1F1F1F"/>
                </a:solidFill>
                <a:latin typeface="Times New Roman"/>
                <a:ea typeface="Times New Roman"/>
                <a:cs typeface="Times New Roman"/>
              </a:rPr>
              <a:t>Lưu dữ liệu thô, đa dạng, đến nhanh trước khi xử lý</a:t>
            </a:r>
          </a:p>
          <a:p>
            <a:pPr>
              <a:spcAft>
                <a:spcPts val="300"/>
              </a:spcAft>
            </a:pPr>
            <a:r>
              <a:rPr sz="1400" b="0" i="0">
                <a:solidFill>
                  <a:srgbClr val="1F1F1F"/>
                </a:solidFill>
                <a:latin typeface="Times New Roman"/>
                <a:ea typeface="Times New Roman"/>
                <a:cs typeface="Times New Roman"/>
              </a:rPr>
              <a:t>Có kho gốc để chạy lại pipeline khi logic phía sau có lỗi</a:t>
            </a:r>
          </a:p>
        </p:txBody>
      </p:sp>
      <p:sp>
        <p:nvSpPr>
          <p:cNvPr id="123" name="Rounded Rectangle 122"/>
          <p:cNvSpPr/>
          <p:nvPr/>
        </p:nvSpPr>
        <p:spPr>
          <a:xfrm>
            <a:off x="411480" y="3429000"/>
            <a:ext cx="5501640" cy="2194560"/>
          </a:xfrm>
          <a:prstGeom prst="roundRect">
            <a:avLst>
              <a:gd name="adj" fmla="val 8000"/>
            </a:avLst>
          </a:prstGeom>
          <a:solidFill>
            <a:srgbClr val="EEF4E8"/>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TextBox 123"/>
          <p:cNvSpPr txBox="1"/>
          <p:nvPr/>
        </p:nvSpPr>
        <p:spPr>
          <a:xfrm>
            <a:off x="502920" y="3502152"/>
            <a:ext cx="5318760" cy="365760"/>
          </a:xfrm>
          <a:prstGeom prst="rect">
            <a:avLst/>
          </a:prstGeom>
          <a:noFill/>
        </p:spPr>
        <p:txBody>
          <a:bodyPr wrap="square" anchor="t" lIns="45720" rIns="45720" tIns="27432" bIns="27432">
            <a:spAutoFit/>
          </a:bodyPr>
          <a:lstStyle/>
          <a:p>
            <a:pPr algn="l"/>
            <a:r>
              <a:rPr sz="1600" b="1" i="0">
                <a:solidFill>
                  <a:srgbClr val="538135"/>
                </a:solidFill>
                <a:latin typeface="Times New Roman"/>
                <a:ea typeface="Times New Roman"/>
                <a:cs typeface="Times New Roman"/>
              </a:rPr>
              <a:t>Dùng Data Lakehouse khi</a:t>
            </a:r>
          </a:p>
        </p:txBody>
      </p:sp>
      <p:sp>
        <p:nvSpPr>
          <p:cNvPr id="125" name="TextBox 124"/>
          <p:cNvSpPr txBox="1"/>
          <p:nvPr/>
        </p:nvSpPr>
        <p:spPr>
          <a:xfrm>
            <a:off x="502920" y="3886200"/>
            <a:ext cx="5318760" cy="1691640"/>
          </a:xfrm>
          <a:prstGeom prst="rect">
            <a:avLst/>
          </a:prstGeom>
          <a:noFill/>
        </p:spPr>
        <p:txBody>
          <a:bodyPr wrap="square" anchor="t" lIns="45720" rIns="45720" tIns="27432" bIns="27432">
            <a:spAutoFit/>
          </a:bodyPr>
          <a:lstStyle/>
          <a:p>
            <a:pPr>
              <a:spcAft>
                <a:spcPts val="300"/>
              </a:spcAft>
            </a:pPr>
            <a:r>
              <a:rPr sz="1400" b="0" i="0">
                <a:solidFill>
                  <a:srgbClr val="1F1F1F"/>
                </a:solidFill>
                <a:latin typeface="Times New Roman"/>
                <a:ea typeface="Times New Roman"/>
                <a:cs typeface="Times New Roman"/>
              </a:rPr>
              <a:t>Phải phục vụ cùng lúc ETL theo lô, streaming, SQL ad-hoc và ML</a:t>
            </a:r>
          </a:p>
          <a:p>
            <a:pPr>
              <a:spcAft>
                <a:spcPts val="300"/>
              </a:spcAft>
            </a:pPr>
            <a:r>
              <a:rPr sz="1400" b="0" i="0">
                <a:solidFill>
                  <a:srgbClr val="1F1F1F"/>
                </a:solidFill>
                <a:latin typeface="Times New Roman"/>
                <a:ea typeface="Times New Roman"/>
                <a:cs typeface="Times New Roman"/>
              </a:rPr>
              <a:t>Trên một bản dữ liệu duy nhất, có ACID</a:t>
            </a:r>
          </a:p>
          <a:p>
            <a:pPr>
              <a:spcAft>
                <a:spcPts val="300"/>
              </a:spcAft>
            </a:pPr>
            <a:r>
              <a:rPr sz="1400" b="0" i="0">
                <a:solidFill>
                  <a:srgbClr val="1F1F1F"/>
                </a:solidFill>
                <a:latin typeface="Times New Roman"/>
                <a:ea typeface="Times New Roman"/>
                <a:cs typeface="Times New Roman"/>
              </a:rPr>
              <a:t>Không muốn trả giá cho kiến trúc hai tầng</a:t>
            </a:r>
          </a:p>
        </p:txBody>
      </p:sp>
      <p:sp>
        <p:nvSpPr>
          <p:cNvPr id="126" name="Rounded Rectangle 125"/>
          <p:cNvSpPr/>
          <p:nvPr/>
        </p:nvSpPr>
        <p:spPr>
          <a:xfrm>
            <a:off x="6278880" y="3429000"/>
            <a:ext cx="5501640" cy="2194560"/>
          </a:xfrm>
          <a:prstGeom prst="roundRect">
            <a:avLst>
              <a:gd name="adj" fmla="val 8000"/>
            </a:avLst>
          </a:prstGeom>
          <a:solidFill>
            <a:srgbClr val="EEF4E8"/>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TextBox 126"/>
          <p:cNvSpPr txBox="1"/>
          <p:nvPr/>
        </p:nvSpPr>
        <p:spPr>
          <a:xfrm>
            <a:off x="6370320" y="3502152"/>
            <a:ext cx="5318760" cy="365760"/>
          </a:xfrm>
          <a:prstGeom prst="rect">
            <a:avLst/>
          </a:prstGeom>
          <a:noFill/>
        </p:spPr>
        <p:txBody>
          <a:bodyPr wrap="square" anchor="t" lIns="45720" rIns="45720" tIns="27432" bIns="27432">
            <a:spAutoFit/>
          </a:bodyPr>
          <a:lstStyle/>
          <a:p>
            <a:pPr algn="l"/>
            <a:r>
              <a:rPr sz="1600" b="1" i="0">
                <a:solidFill>
                  <a:srgbClr val="538135"/>
                </a:solidFill>
                <a:latin typeface="Times New Roman"/>
                <a:ea typeface="Times New Roman"/>
                <a:cs typeface="Times New Roman"/>
              </a:rPr>
              <a:t>Chọn table format theo hệ sinh thái</a:t>
            </a:r>
          </a:p>
        </p:txBody>
      </p:sp>
      <p:sp>
        <p:nvSpPr>
          <p:cNvPr id="128" name="TextBox 127"/>
          <p:cNvSpPr txBox="1"/>
          <p:nvPr/>
        </p:nvSpPr>
        <p:spPr>
          <a:xfrm>
            <a:off x="6370320" y="3886200"/>
            <a:ext cx="5318760" cy="1691640"/>
          </a:xfrm>
          <a:prstGeom prst="rect">
            <a:avLst/>
          </a:prstGeom>
          <a:noFill/>
        </p:spPr>
        <p:txBody>
          <a:bodyPr wrap="square" anchor="t" lIns="45720" rIns="45720" tIns="27432" bIns="27432">
            <a:spAutoFit/>
          </a:bodyPr>
          <a:lstStyle/>
          <a:p>
            <a:pPr>
              <a:spcAft>
                <a:spcPts val="300"/>
              </a:spcAft>
            </a:pPr>
            <a:r>
              <a:rPr sz="1400" b="0" i="0">
                <a:solidFill>
                  <a:srgbClr val="1F1F1F"/>
                </a:solidFill>
                <a:latin typeface="Times New Roman"/>
                <a:ea typeface="Times New Roman"/>
                <a:cs typeface="Times New Roman"/>
              </a:rPr>
              <a:t>Đã gắn với Databricks: Delta Lake (UniForm khi cần Iceberg đọc)</a:t>
            </a:r>
          </a:p>
          <a:p>
            <a:pPr>
              <a:spcAft>
                <a:spcPts val="300"/>
              </a:spcAft>
            </a:pPr>
            <a:r>
              <a:rPr sz="1400" b="0" i="0">
                <a:solidFill>
                  <a:srgbClr val="1F1F1F"/>
                </a:solidFill>
                <a:latin typeface="Times New Roman"/>
                <a:ea typeface="Times New Roman"/>
                <a:cs typeface="Times New Roman"/>
              </a:rPr>
              <a:t>Cần nhiều engine (Spark, Trino, Flink, DuckDB) hoặc SDK ngoài JVM: Iceberg + REST catalog mở (Polaris, Lakekeeper)</a:t>
            </a:r>
          </a:p>
        </p:txBody>
      </p:sp>
      <p:pic>
        <p:nvPicPr>
          <p:cNvPr id="129" name="Picture 128" descr="databricks.png"/>
          <p:cNvPicPr>
            <a:picLocks noChangeAspect="1"/>
          </p:cNvPicPr>
          <p:nvPr/>
        </p:nvPicPr>
        <p:blipFill>
          <a:blip r:embed="rId2"/>
          <a:stretch>
            <a:fillRect/>
          </a:stretch>
        </p:blipFill>
        <p:spPr>
          <a:xfrm>
            <a:off x="621555" y="5760720"/>
            <a:ext cx="1203998" cy="502920"/>
          </a:xfrm>
          <a:prstGeom prst="rect">
            <a:avLst/>
          </a:prstGeom>
        </p:spPr>
      </p:pic>
      <p:pic>
        <p:nvPicPr>
          <p:cNvPr id="130" name="Picture 129" descr="delta.png"/>
          <p:cNvPicPr>
            <a:picLocks noChangeAspect="1"/>
          </p:cNvPicPr>
          <p:nvPr/>
        </p:nvPicPr>
        <p:blipFill>
          <a:blip r:embed="rId3"/>
          <a:stretch>
            <a:fillRect/>
          </a:stretch>
        </p:blipFill>
        <p:spPr>
          <a:xfrm>
            <a:off x="2589353" y="5760720"/>
            <a:ext cx="516698" cy="502920"/>
          </a:xfrm>
          <a:prstGeom prst="rect">
            <a:avLst/>
          </a:prstGeom>
        </p:spPr>
      </p:pic>
      <p:pic>
        <p:nvPicPr>
          <p:cNvPr id="131" name="Picture 130" descr="iceberg.png"/>
          <p:cNvPicPr>
            <a:picLocks noChangeAspect="1"/>
          </p:cNvPicPr>
          <p:nvPr/>
        </p:nvPicPr>
        <p:blipFill>
          <a:blip r:embed="rId4"/>
          <a:stretch>
            <a:fillRect/>
          </a:stretch>
        </p:blipFill>
        <p:spPr>
          <a:xfrm>
            <a:off x="3751216" y="5844783"/>
            <a:ext cx="1441268" cy="334794"/>
          </a:xfrm>
          <a:prstGeom prst="rect">
            <a:avLst/>
          </a:prstGeom>
        </p:spPr>
      </p:pic>
      <p:pic>
        <p:nvPicPr>
          <p:cNvPr id="132" name="Picture 131" descr="polaris.png"/>
          <p:cNvPicPr>
            <a:picLocks noChangeAspect="1"/>
          </p:cNvPicPr>
          <p:nvPr/>
        </p:nvPicPr>
        <p:blipFill>
          <a:blip r:embed="rId5"/>
          <a:stretch>
            <a:fillRect/>
          </a:stretch>
        </p:blipFill>
        <p:spPr>
          <a:xfrm>
            <a:off x="5844538" y="5760720"/>
            <a:ext cx="502920" cy="502920"/>
          </a:xfrm>
          <a:prstGeom prst="rect">
            <a:avLst/>
          </a:prstGeom>
        </p:spPr>
      </p:pic>
      <p:pic>
        <p:nvPicPr>
          <p:cNvPr id="133" name="Picture 132" descr="spark.png"/>
          <p:cNvPicPr>
            <a:picLocks noChangeAspect="1"/>
          </p:cNvPicPr>
          <p:nvPr/>
        </p:nvPicPr>
        <p:blipFill>
          <a:blip r:embed="rId6"/>
          <a:stretch>
            <a:fillRect/>
          </a:stretch>
        </p:blipFill>
        <p:spPr>
          <a:xfrm>
            <a:off x="7236375" y="5760720"/>
            <a:ext cx="967541" cy="502920"/>
          </a:xfrm>
          <a:prstGeom prst="rect">
            <a:avLst/>
          </a:prstGeom>
        </p:spPr>
      </p:pic>
      <p:pic>
        <p:nvPicPr>
          <p:cNvPr id="134" name="Picture 133" descr="trino.png"/>
          <p:cNvPicPr>
            <a:picLocks noChangeAspect="1"/>
          </p:cNvPicPr>
          <p:nvPr/>
        </p:nvPicPr>
        <p:blipFill>
          <a:blip r:embed="rId7"/>
          <a:stretch>
            <a:fillRect/>
          </a:stretch>
        </p:blipFill>
        <p:spPr>
          <a:xfrm>
            <a:off x="8810220" y="5760720"/>
            <a:ext cx="1068148" cy="502920"/>
          </a:xfrm>
          <a:prstGeom prst="rect">
            <a:avLst/>
          </a:prstGeom>
        </p:spPr>
      </p:pic>
      <p:pic>
        <p:nvPicPr>
          <p:cNvPr id="135" name="Picture 134" descr="duckdb.png"/>
          <p:cNvPicPr>
            <a:picLocks noChangeAspect="1"/>
          </p:cNvPicPr>
          <p:nvPr/>
        </p:nvPicPr>
        <p:blipFill>
          <a:blip r:embed="rId8"/>
          <a:stretch>
            <a:fillRect/>
          </a:stretch>
        </p:blipFill>
        <p:spPr>
          <a:xfrm>
            <a:off x="10641782" y="5760720"/>
            <a:ext cx="653319" cy="5029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Tổng kết</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7863840" cy="5303520"/>
          </a:xfrm>
          <a:prstGeom prst="rect">
            <a:avLst/>
          </a:prstGeom>
          <a:noFill/>
        </p:spPr>
        <p:txBody>
          <a:bodyPr wrap="square" anchor="t" lIns="45720" rIns="45720" tIns="27432" bIns="27432">
            <a:spAutoFit/>
          </a:bodyPr>
          <a:lstStyle/>
          <a:p>
            <a:pPr marL="285750" indent="-285750">
              <a:spcAft>
                <a:spcPts val="800"/>
              </a:spcAft>
              <a:buClr>
                <a:srgbClr val="0070C0"/>
              </a:buClr>
              <a:buSzPts val="1600"/>
              <a:buFont typeface="Noto Sans Symbols"/>
              <a:buChar char="❖"/>
            </a:pPr>
            <a:r>
              <a:rPr sz="1600" b="0" i="0">
                <a:solidFill>
                  <a:srgbClr val="1F1F1F"/>
                </a:solidFill>
                <a:latin typeface="Times New Roman"/>
                <a:ea typeface="Times New Roman"/>
                <a:cs typeface="Times New Roman"/>
              </a:rPr>
              <a:t>Ba kiến trúc khác nhau ở chỗ </a:t>
            </a:r>
            <a:r>
              <a:rPr sz="1600" b="1" i="0">
                <a:solidFill>
                  <a:srgbClr val="1F1F1F"/>
                </a:solidFill>
                <a:latin typeface="Times New Roman"/>
                <a:ea typeface="Times New Roman"/>
                <a:cs typeface="Times New Roman"/>
              </a:rPr>
              <a:t>ai sở hữu khái niệm "bảng"</a:t>
            </a:r>
            <a:r>
              <a:rPr sz="1600" b="0" i="0">
                <a:solidFill>
                  <a:srgbClr val="1F1F1F"/>
                </a:solidFill>
                <a:latin typeface="Times New Roman"/>
                <a:ea typeface="Times New Roman"/>
                <a:cs typeface="Times New Roman"/>
              </a:rPr>
              <a:t>: vendor, không ai, hay table format mở cùng catalog</a:t>
            </a:r>
          </a:p>
          <a:p>
            <a:pPr marL="285750" indent="-285750">
              <a:spcAft>
                <a:spcPts val="800"/>
              </a:spcAft>
              <a:buClr>
                <a:srgbClr val="0070C0"/>
              </a:buClr>
              <a:buSzPts val="1600"/>
              <a:buFont typeface="Noto Sans Symbols"/>
              <a:buChar char="❖"/>
            </a:pPr>
            <a:r>
              <a:rPr sz="1600" b="1" i="0">
                <a:solidFill>
                  <a:srgbClr val="1F1F1F"/>
                </a:solidFill>
                <a:latin typeface="Times New Roman"/>
                <a:ea typeface="Times New Roman"/>
                <a:cs typeface="Times New Roman"/>
              </a:rPr>
              <a:t>Data Warehouse</a:t>
            </a:r>
            <a:r>
              <a:rPr sz="1600" b="0" i="0">
                <a:solidFill>
                  <a:srgbClr val="1F1F1F"/>
                </a:solidFill>
                <a:latin typeface="Times New Roman"/>
                <a:ea typeface="Times New Roman"/>
                <a:cs typeface="Times New Roman"/>
              </a:rPr>
              <a:t>: SQL nhanh, ACID, vận hành tự động; đổi lại chi phí cao và dữ liệu bị khóa</a:t>
            </a:r>
          </a:p>
          <a:p>
            <a:pPr marL="285750" indent="-285750">
              <a:spcAft>
                <a:spcPts val="800"/>
              </a:spcAft>
              <a:buClr>
                <a:srgbClr val="0070C0"/>
              </a:buClr>
              <a:buSzPts val="1600"/>
              <a:buFont typeface="Noto Sans Symbols"/>
              <a:buChar char="❖"/>
            </a:pPr>
            <a:r>
              <a:rPr sz="1600" b="1" i="0">
                <a:solidFill>
                  <a:srgbClr val="1F1F1F"/>
                </a:solidFill>
                <a:latin typeface="Times New Roman"/>
                <a:ea typeface="Times New Roman"/>
                <a:cs typeface="Times New Roman"/>
              </a:rPr>
              <a:t>Data Lake</a:t>
            </a:r>
            <a:r>
              <a:rPr sz="1600" b="0" i="0">
                <a:solidFill>
                  <a:srgbClr val="1F1F1F"/>
                </a:solidFill>
                <a:latin typeface="Times New Roman"/>
                <a:ea typeface="Times New Roman"/>
                <a:cs typeface="Times New Roman"/>
              </a:rPr>
              <a:t>: rẻ, linh hoạt; thiếu schema enforcement, commit nguyên tử và DELETE nên dễ thành data swamp. Ngay dữ liệu NYC TLC cũng đổi schema giữa hai tháng</a:t>
            </a:r>
          </a:p>
          <a:p>
            <a:pPr marL="285750" indent="-285750">
              <a:spcAft>
                <a:spcPts val="800"/>
              </a:spcAft>
              <a:buClr>
                <a:srgbClr val="0070C0"/>
              </a:buClr>
              <a:buSzPts val="1600"/>
              <a:buFont typeface="Noto Sans Symbols"/>
              <a:buChar char="❖"/>
            </a:pPr>
            <a:r>
              <a:rPr sz="1600" b="1" i="0">
                <a:solidFill>
                  <a:srgbClr val="1F1F1F"/>
                </a:solidFill>
                <a:latin typeface="Times New Roman"/>
                <a:ea typeface="Times New Roman"/>
                <a:cs typeface="Times New Roman"/>
              </a:rPr>
              <a:t>Lakehouse</a:t>
            </a:r>
            <a:r>
              <a:rPr sz="1600" b="0" i="0">
                <a:solidFill>
                  <a:srgbClr val="1F1F1F"/>
                </a:solidFill>
                <a:latin typeface="Times New Roman"/>
                <a:ea typeface="Times New Roman"/>
                <a:cs typeface="Times New Roman"/>
              </a:rPr>
              <a:t>: file Parquet trên object storage + cây metadata + commit bằng CAS → ACID, schema evolution, partition evolution, time travel</a:t>
            </a:r>
          </a:p>
          <a:p>
            <a:pPr marL="285750" indent="-285750">
              <a:spcAft>
                <a:spcPts val="800"/>
              </a:spcAft>
              <a:buClr>
                <a:srgbClr val="0070C0"/>
              </a:buClr>
              <a:buSzPts val="1600"/>
              <a:buFont typeface="Noto Sans Symbols"/>
              <a:buChar char="❖"/>
            </a:pPr>
            <a:r>
              <a:rPr sz="1600" b="1" i="0">
                <a:solidFill>
                  <a:srgbClr val="1F1F1F"/>
                </a:solidFill>
                <a:latin typeface="Times New Roman"/>
                <a:ea typeface="Times New Roman"/>
                <a:cs typeface="Times New Roman"/>
              </a:rPr>
              <a:t>Catalog</a:t>
            </a:r>
            <a:r>
              <a:rPr sz="1600" b="0" i="0">
                <a:solidFill>
                  <a:srgbClr val="1F1F1F"/>
                </a:solidFill>
                <a:latin typeface="Times New Roman"/>
                <a:ea typeface="Times New Roman"/>
                <a:cs typeface="Times New Roman"/>
              </a:rPr>
              <a:t> là lớp điều khiển; </a:t>
            </a:r>
            <a:r>
              <a:rPr sz="1600" b="1" i="0">
                <a:solidFill>
                  <a:srgbClr val="1F1F1F"/>
                </a:solidFill>
                <a:latin typeface="Times New Roman"/>
                <a:ea typeface="Times New Roman"/>
                <a:cs typeface="Times New Roman"/>
              </a:rPr>
              <a:t>bảo trì bảng</a:t>
            </a:r>
            <a:r>
              <a:rPr sz="1600" b="0" i="0">
                <a:solidFill>
                  <a:srgbClr val="1F1F1F"/>
                </a:solidFill>
                <a:latin typeface="Times New Roman"/>
                <a:ea typeface="Times New Roman"/>
                <a:cs typeface="Times New Roman"/>
              </a:rPr>
              <a:t> (compaction, expire snapshots, orphan file) là trách nhiệm của đội dữ liệu</a:t>
            </a:r>
          </a:p>
          <a:p>
            <a:pPr marL="285750" indent="-285750">
              <a:spcAft>
                <a:spcPts val="800"/>
              </a:spcAft>
              <a:buClr>
                <a:srgbClr val="0070C0"/>
              </a:buClr>
              <a:buSzPts val="1600"/>
              <a:buFont typeface="Noto Sans Symbols"/>
              <a:buChar char="❖"/>
            </a:pPr>
            <a:r>
              <a:rPr sz="1600" b="0" i="0">
                <a:solidFill>
                  <a:srgbClr val="1F1F1F"/>
                </a:solidFill>
                <a:latin typeface="Times New Roman"/>
                <a:ea typeface="Times New Roman"/>
                <a:cs typeface="Times New Roman"/>
              </a:rPr>
              <a:t>Nền tảng thực tế </a:t>
            </a:r>
            <a:r>
              <a:rPr sz="1600" b="1" i="0">
                <a:solidFill>
                  <a:srgbClr val="1F1F1F"/>
                </a:solidFill>
                <a:latin typeface="Times New Roman"/>
                <a:ea typeface="Times New Roman"/>
                <a:cs typeface="Times New Roman"/>
              </a:rPr>
              <a:t>kết hợp cả ba</a:t>
            </a:r>
            <a:r>
              <a:rPr sz="1600" b="0" i="0">
                <a:solidFill>
                  <a:srgbClr val="1F1F1F"/>
                </a:solidFill>
                <a:latin typeface="Times New Roman"/>
                <a:ea typeface="Times New Roman"/>
                <a:cs typeface="Times New Roman"/>
              </a:rPr>
              <a:t> theo Medallion: Lake cho Bronze, Lakehouse cho Silver, Warehouse cho Gold</a:t>
            </a:r>
          </a:p>
        </p:txBody>
      </p:sp>
      <p:pic>
        <p:nvPicPr>
          <p:cNvPr id="118" name="Picture 117" descr="fig2.png"/>
          <p:cNvPicPr>
            <a:picLocks noChangeAspect="1"/>
          </p:cNvPicPr>
          <p:nvPr/>
        </p:nvPicPr>
        <p:blipFill>
          <a:blip r:embed="rId2"/>
          <a:stretch>
            <a:fillRect/>
          </a:stretch>
        </p:blipFill>
        <p:spPr>
          <a:xfrm>
            <a:off x="8412480" y="1844441"/>
            <a:ext cx="3383280" cy="1157437"/>
          </a:xfrm>
          <a:prstGeom prst="rect">
            <a:avLst/>
          </a:prstGeom>
        </p:spPr>
      </p:pic>
      <p:pic>
        <p:nvPicPr>
          <p:cNvPr id="119" name="Picture 118" descr="taxi.jpg"/>
          <p:cNvPicPr>
            <a:picLocks noChangeAspect="1"/>
          </p:cNvPicPr>
          <p:nvPr/>
        </p:nvPicPr>
        <p:blipFill>
          <a:blip r:embed="rId3"/>
          <a:stretch>
            <a:fillRect/>
          </a:stretch>
        </p:blipFill>
        <p:spPr>
          <a:xfrm>
            <a:off x="8702040" y="3657600"/>
            <a:ext cx="2804160" cy="210312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6" name="Google Shape;116;p3"/>
          <p:cNvSpPr txBox="1"/>
          <p:nvPr/>
        </p:nvSpPr>
        <p:spPr>
          <a:xfrm>
            <a:off x="2103120" y="106175"/>
            <a:ext cx="9723120" cy="61555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200" u="none" cap="none" strike="noStrike">
                <a:solidFill>
                  <a:srgbClr val="C55A11"/>
                </a:solidFill>
                <a:latin typeface="Times New Roman"/>
                <a:ea typeface="Times New Roman"/>
                <a:cs typeface="Times New Roman"/>
                <a:sym typeface="Times New Roman"/>
              </a:rPr>
              <a:t>Tài liệu tham khảo và nguồn hình</a:t>
            </a:r>
            <a:endParaRPr b="1" i="0" sz="3400" u="none" cap="none" strike="noStrike">
              <a:solidFill>
                <a:srgbClr val="C55A11"/>
              </a:solidFill>
              <a:latin typeface="Times New Roman"/>
              <a:ea typeface="Times New Roman"/>
              <a:cs typeface="Times New Roman"/>
              <a:sym typeface="Times New Roman"/>
            </a:endParaRPr>
          </a:p>
        </p:txBody>
      </p:sp>
      <p:sp>
        <p:nvSpPr>
          <p:cNvPr id="117" name="TextBox 116"/>
          <p:cNvSpPr txBox="1"/>
          <p:nvPr/>
        </p:nvSpPr>
        <p:spPr>
          <a:xfrm>
            <a:off x="411480" y="1051560"/>
            <a:ext cx="11369040" cy="3931920"/>
          </a:xfrm>
          <a:prstGeom prst="rect">
            <a:avLst/>
          </a:prstGeom>
          <a:noFill/>
        </p:spPr>
        <p:txBody>
          <a:bodyPr wrap="square" anchor="t" lIns="45720" rIns="45720" tIns="27432" bIns="27432">
            <a:spAutoFit/>
          </a:bodyPr>
          <a:lstStyle/>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Armbrust, Ghodsi, Xin, Zaharia. Lakehouse: A New Generation of Open Platforms that Unify Data Warehousing and Advanced Analytics. CIDR 2021</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Armbrust và cộng sự. Delta Lake: High-Performance ACID Table Storage over Cloud Object Stores. VLDB 2020</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Kimball, Ross. The Data Warehouse Toolkit, 3rd ed. Wiley 2013. Inmon. Building the Data Warehouse, 4th ed. Wiley 2005</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Apache Iceberg Table Spec và REST Catalog spec: iceberg.apache.org/spec. PyIceberg: py.iceberg.apache.org</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Delta Transaction Log Protocol: github.com/delta-io/delta/blob/master/PROTOCOL.md</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DuckDB Iceberg extension: duckdb.org/docs/current/core_extensions/iceberg</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NYC TLC Trip Record Data và Data Dictionary (2025): nyc.gov/site/tlc/about/tlc-trip-record-data.page</a:t>
            </a:r>
          </a:p>
          <a:p>
            <a:pPr marL="285750" indent="-285750">
              <a:spcAft>
                <a:spcPts val="400"/>
              </a:spcAft>
              <a:buClr>
                <a:srgbClr val="0070C0"/>
              </a:buClr>
              <a:buSzPts val="1600"/>
              <a:buFont typeface="Noto Sans Symbols"/>
              <a:buChar char="❖"/>
            </a:pPr>
            <a:r>
              <a:rPr sz="1400" b="0" i="0">
                <a:solidFill>
                  <a:srgbClr val="1F1F1F"/>
                </a:solidFill>
                <a:latin typeface="Times New Roman"/>
                <a:ea typeface="Times New Roman"/>
                <a:cs typeface="Times New Roman"/>
              </a:rPr>
              <a:t>Danh mục đầy đủ 26 tài liệu: mục XI của bài đọc. Bài đọc, quiz, lời giải và code: </a:t>
            </a:r>
            <a:r>
              <a:rPr sz="1400" b="1" i="0">
                <a:solidFill>
                  <a:srgbClr val="1F1F1F"/>
                </a:solidFill>
                <a:latin typeface="Times New Roman"/>
                <a:ea typeface="Times New Roman"/>
                <a:cs typeface="Times New Roman"/>
              </a:rPr>
              <a:t>github.com/YouttyLe-DSAI/AIO-Module-Data</a:t>
            </a:r>
          </a:p>
        </p:txBody>
      </p:sp>
      <p:sp>
        <p:nvSpPr>
          <p:cNvPr id="118" name="TextBox 117"/>
          <p:cNvSpPr txBox="1"/>
          <p:nvPr/>
        </p:nvSpPr>
        <p:spPr>
          <a:xfrm>
            <a:off x="411480" y="5120640"/>
            <a:ext cx="11369040" cy="1188720"/>
          </a:xfrm>
          <a:prstGeom prst="rect">
            <a:avLst/>
          </a:prstGeom>
          <a:noFill/>
        </p:spPr>
        <p:txBody>
          <a:bodyPr wrap="square" anchor="t" lIns="45720" rIns="45720" tIns="27432" bIns="27432">
            <a:spAutoFit/>
          </a:bodyPr>
          <a:lstStyle/>
          <a:p>
            <a:pPr algn="l"/>
            <a:r>
              <a:rPr sz="1200" b="0" i="1">
                <a:solidFill>
                  <a:srgbClr val="595959"/>
                </a:solidFill>
                <a:latin typeface="Times New Roman"/>
                <a:ea typeface="Times New Roman"/>
                <a:cs typeface="Times New Roman"/>
              </a:rPr>
              <a:t>Sơ đồ (Hình 1–7) lấy từ bài đọc của nhóm. Ảnh thật từ Wikimedia Commons: Jason Lawrence (CC BY 2.0), Shixart1985 (CC BY 2.0), Don Ramey Logan (CC BY-SA 4.0), U.S. Fish and Wildlife Service (public domain), Carl Lender (CC BY 2.0). Logo là nhãn hiệu của các dự án và công ty tương ứng, dùng để nhận diện công cụ được nhắc tới.</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2020-03-12T03:20:56Z</dcterms:created>
  <dc:creator>Dinh Vinh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2023-04-25T11:39:23Z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0d5f3e43-23a8-4a49-ae94-00ca286a0b61</vt:lpwstr>
  </property>
  <property fmtid="{D5CDD505-2E9C-101B-9397-08002B2CF9AE}" pid="7" name="MSIP_Label_defa4170-0d19-0005-0004-bc88714345d2_ActionId">
    <vt:lpwstr>136951cf-fc08-4d56-bcb4-8eb818cc7f75</vt:lpwstr>
  </property>
  <property fmtid="{D5CDD505-2E9C-101B-9397-08002B2CF9AE}" pid="8" name="MSIP_Label_defa4170-0d19-0005-0004-bc88714345d2_ContentBits">
    <vt:lpwstr>0</vt:lpwstr>
  </property>
</Properties>
</file>